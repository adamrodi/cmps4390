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handoutMasterIdLst>
    <p:handoutMasterId r:id="rId47"/>
  </p:handoutMasterIdLst>
  <p:sldIdLst>
    <p:sldId id="256" r:id="rId2"/>
    <p:sldId id="257" r:id="rId3"/>
    <p:sldId id="258" r:id="rId4"/>
    <p:sldId id="259" r:id="rId5"/>
    <p:sldId id="260" r:id="rId6"/>
    <p:sldId id="306" r:id="rId7"/>
    <p:sldId id="288" r:id="rId8"/>
    <p:sldId id="289" r:id="rId9"/>
    <p:sldId id="290" r:id="rId10"/>
    <p:sldId id="261" r:id="rId11"/>
    <p:sldId id="291" r:id="rId12"/>
    <p:sldId id="292" r:id="rId13"/>
    <p:sldId id="293" r:id="rId14"/>
    <p:sldId id="294" r:id="rId15"/>
    <p:sldId id="266" r:id="rId16"/>
    <p:sldId id="295" r:id="rId17"/>
    <p:sldId id="296" r:id="rId18"/>
    <p:sldId id="275" r:id="rId19"/>
    <p:sldId id="276" r:id="rId20"/>
    <p:sldId id="277" r:id="rId21"/>
    <p:sldId id="278" r:id="rId22"/>
    <p:sldId id="279" r:id="rId23"/>
    <p:sldId id="280" r:id="rId24"/>
    <p:sldId id="297" r:id="rId25"/>
    <p:sldId id="282" r:id="rId26"/>
    <p:sldId id="298" r:id="rId27"/>
    <p:sldId id="299" r:id="rId28"/>
    <p:sldId id="300" r:id="rId29"/>
    <p:sldId id="301" r:id="rId30"/>
    <p:sldId id="302" r:id="rId31"/>
    <p:sldId id="303" r:id="rId32"/>
    <p:sldId id="304" r:id="rId33"/>
    <p:sldId id="305" r:id="rId34"/>
    <p:sldId id="268" r:id="rId35"/>
    <p:sldId id="281" r:id="rId36"/>
    <p:sldId id="272" r:id="rId37"/>
    <p:sldId id="283" r:id="rId38"/>
    <p:sldId id="262" r:id="rId39"/>
    <p:sldId id="264" r:id="rId40"/>
    <p:sldId id="284" r:id="rId41"/>
    <p:sldId id="286" r:id="rId42"/>
    <p:sldId id="285" r:id="rId43"/>
    <p:sldId id="287" r:id="rId44"/>
    <p:sldId id="267" r:id="rId45"/>
  </p:sldIdLst>
  <p:sldSz cx="12192000" cy="6858000"/>
  <p:notesSz cx="9309100" cy="70532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87" autoAdjust="0"/>
    <p:restoredTop sz="94660"/>
  </p:normalViewPr>
  <p:slideViewPr>
    <p:cSldViewPr snapToGrid="0">
      <p:cViewPr varScale="1">
        <p:scale>
          <a:sx n="161" d="100"/>
          <a:sy n="161" d="100"/>
        </p:scale>
        <p:origin x="57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33943" cy="353888"/>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sz="quarter" idx="1"/>
          </p:nvPr>
        </p:nvSpPr>
        <p:spPr>
          <a:xfrm>
            <a:off x="5273003" y="1"/>
            <a:ext cx="4033943" cy="353888"/>
          </a:xfrm>
          <a:prstGeom prst="rect">
            <a:avLst/>
          </a:prstGeom>
        </p:spPr>
        <p:txBody>
          <a:bodyPr vert="horz" lIns="93497" tIns="46749" rIns="93497" bIns="46749" rtlCol="0"/>
          <a:lstStyle>
            <a:lvl1pPr algn="r">
              <a:defRPr sz="1200"/>
            </a:lvl1pPr>
          </a:lstStyle>
          <a:p>
            <a:fld id="{CF77E6F9-4FD8-4927-98EF-38FF527379DE}" type="datetimeFigureOut">
              <a:rPr lang="en-US" smtClean="0"/>
              <a:t>5/6/26</a:t>
            </a:fld>
            <a:endParaRPr lang="en-US"/>
          </a:p>
        </p:txBody>
      </p:sp>
      <p:sp>
        <p:nvSpPr>
          <p:cNvPr id="4" name="Footer Placeholder 3"/>
          <p:cNvSpPr>
            <a:spLocks noGrp="1"/>
          </p:cNvSpPr>
          <p:nvPr>
            <p:ph type="ftr" sz="quarter" idx="2"/>
          </p:nvPr>
        </p:nvSpPr>
        <p:spPr>
          <a:xfrm>
            <a:off x="0" y="6699376"/>
            <a:ext cx="4033943" cy="353887"/>
          </a:xfrm>
          <a:prstGeom prst="rect">
            <a:avLst/>
          </a:prstGeom>
        </p:spPr>
        <p:txBody>
          <a:bodyPr vert="horz" lIns="93497" tIns="46749" rIns="93497" bIns="46749" rtlCol="0" anchor="b"/>
          <a:lstStyle>
            <a:lvl1pPr algn="l">
              <a:defRPr sz="1200"/>
            </a:lvl1pPr>
          </a:lstStyle>
          <a:p>
            <a:endParaRPr lang="en-US"/>
          </a:p>
        </p:txBody>
      </p:sp>
      <p:sp>
        <p:nvSpPr>
          <p:cNvPr id="5" name="Slide Number Placeholder 4"/>
          <p:cNvSpPr>
            <a:spLocks noGrp="1"/>
          </p:cNvSpPr>
          <p:nvPr>
            <p:ph type="sldNum" sz="quarter" idx="3"/>
          </p:nvPr>
        </p:nvSpPr>
        <p:spPr>
          <a:xfrm>
            <a:off x="5273003" y="6699376"/>
            <a:ext cx="4033943" cy="353887"/>
          </a:xfrm>
          <a:prstGeom prst="rect">
            <a:avLst/>
          </a:prstGeom>
        </p:spPr>
        <p:txBody>
          <a:bodyPr vert="horz" lIns="93497" tIns="46749" rIns="93497" bIns="46749" rtlCol="0" anchor="b"/>
          <a:lstStyle>
            <a:lvl1pPr algn="r">
              <a:defRPr sz="1200"/>
            </a:lvl1pPr>
          </a:lstStyle>
          <a:p>
            <a:fld id="{5D5FC95D-345F-4C61-B4C9-883A0E4008DA}" type="slidenum">
              <a:rPr lang="en-US" smtClean="0"/>
              <a:t>‹#›</a:t>
            </a:fld>
            <a:endParaRPr lang="en-US"/>
          </a:p>
        </p:txBody>
      </p:sp>
    </p:spTree>
    <p:extLst>
      <p:ext uri="{BB962C8B-B14F-4D97-AF65-F5344CB8AC3E}">
        <p14:creationId xmlns:p14="http://schemas.microsoft.com/office/powerpoint/2010/main" val="41120868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33838" cy="354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73675" y="0"/>
            <a:ext cx="4033838" cy="354013"/>
          </a:xfrm>
          <a:prstGeom prst="rect">
            <a:avLst/>
          </a:prstGeom>
        </p:spPr>
        <p:txBody>
          <a:bodyPr vert="horz" lIns="91440" tIns="45720" rIns="91440" bIns="45720" rtlCol="0"/>
          <a:lstStyle>
            <a:lvl1pPr algn="r">
              <a:defRPr sz="1200"/>
            </a:lvl1pPr>
          </a:lstStyle>
          <a:p>
            <a:fld id="{B4C25A76-6891-4E44-86B5-ADC1976C1B86}" type="datetimeFigureOut">
              <a:rPr lang="en-US" smtClean="0"/>
              <a:t>5/6/26</a:t>
            </a:fld>
            <a:endParaRPr lang="en-US"/>
          </a:p>
        </p:txBody>
      </p:sp>
      <p:sp>
        <p:nvSpPr>
          <p:cNvPr id="4" name="Slide Image Placeholder 3"/>
          <p:cNvSpPr>
            <a:spLocks noGrp="1" noRot="1" noChangeAspect="1"/>
          </p:cNvSpPr>
          <p:nvPr>
            <p:ph type="sldImg" idx="2"/>
          </p:nvPr>
        </p:nvSpPr>
        <p:spPr>
          <a:xfrm>
            <a:off x="2538413" y="881063"/>
            <a:ext cx="4232275" cy="23812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30275" y="3394075"/>
            <a:ext cx="7448550" cy="27781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99250"/>
            <a:ext cx="4033838" cy="35401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73675" y="6699250"/>
            <a:ext cx="4033838" cy="354013"/>
          </a:xfrm>
          <a:prstGeom prst="rect">
            <a:avLst/>
          </a:prstGeom>
        </p:spPr>
        <p:txBody>
          <a:bodyPr vert="horz" lIns="91440" tIns="45720" rIns="91440" bIns="45720" rtlCol="0" anchor="b"/>
          <a:lstStyle>
            <a:lvl1pPr algn="r">
              <a:defRPr sz="1200"/>
            </a:lvl1pPr>
          </a:lstStyle>
          <a:p>
            <a:fld id="{BC5A67E9-AF86-E640-BEA9-A4ED4E3C24BC}" type="slidenum">
              <a:rPr lang="en-US" smtClean="0"/>
              <a:t>‹#›</a:t>
            </a:fld>
            <a:endParaRPr lang="en-US"/>
          </a:p>
        </p:txBody>
      </p:sp>
    </p:spTree>
    <p:extLst>
      <p:ext uri="{BB962C8B-B14F-4D97-AF65-F5344CB8AC3E}">
        <p14:creationId xmlns:p14="http://schemas.microsoft.com/office/powerpoint/2010/main" val="955086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930900" y="3350275"/>
            <a:ext cx="7447275" cy="3173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551825" y="528975"/>
            <a:ext cx="6206375" cy="26449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930900" y="3350275"/>
            <a:ext cx="7447275" cy="3173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3:notes"/>
          <p:cNvSpPr>
            <a:spLocks noGrp="1" noRot="1" noChangeAspect="1"/>
          </p:cNvSpPr>
          <p:nvPr>
            <p:ph type="sldImg" idx="2"/>
          </p:nvPr>
        </p:nvSpPr>
        <p:spPr>
          <a:xfrm>
            <a:off x="2305050" y="528638"/>
            <a:ext cx="4700588" cy="26447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d356e2efa7_0_11:notes"/>
          <p:cNvSpPr txBox="1">
            <a:spLocks noGrp="1"/>
          </p:cNvSpPr>
          <p:nvPr>
            <p:ph type="body" idx="1"/>
          </p:nvPr>
        </p:nvSpPr>
        <p:spPr>
          <a:xfrm>
            <a:off x="930900" y="3350275"/>
            <a:ext cx="7447200" cy="317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3d356e2efa7_0_11:notes"/>
          <p:cNvSpPr>
            <a:spLocks noGrp="1" noRot="1" noChangeAspect="1"/>
          </p:cNvSpPr>
          <p:nvPr>
            <p:ph type="sldImg" idx="2"/>
          </p:nvPr>
        </p:nvSpPr>
        <p:spPr>
          <a:xfrm>
            <a:off x="2305050" y="528638"/>
            <a:ext cx="4700588" cy="26447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d356e2efa7_0_33:notes"/>
          <p:cNvSpPr txBox="1">
            <a:spLocks noGrp="1"/>
          </p:cNvSpPr>
          <p:nvPr>
            <p:ph type="body" idx="1"/>
          </p:nvPr>
        </p:nvSpPr>
        <p:spPr>
          <a:xfrm>
            <a:off x="930900" y="3350275"/>
            <a:ext cx="7447200" cy="317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g3d356e2efa7_0_33:notes"/>
          <p:cNvSpPr>
            <a:spLocks noGrp="1" noRot="1" noChangeAspect="1"/>
          </p:cNvSpPr>
          <p:nvPr>
            <p:ph type="sldImg" idx="2"/>
          </p:nvPr>
        </p:nvSpPr>
        <p:spPr>
          <a:xfrm>
            <a:off x="2305050" y="528638"/>
            <a:ext cx="4700588" cy="26447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d356e2efa7_0_49:notes"/>
          <p:cNvSpPr txBox="1">
            <a:spLocks noGrp="1"/>
          </p:cNvSpPr>
          <p:nvPr>
            <p:ph type="body" idx="1"/>
          </p:nvPr>
        </p:nvSpPr>
        <p:spPr>
          <a:xfrm>
            <a:off x="930900" y="3350275"/>
            <a:ext cx="7447200" cy="317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g3d356e2efa7_0_49:notes"/>
          <p:cNvSpPr>
            <a:spLocks noGrp="1" noRot="1" noChangeAspect="1"/>
          </p:cNvSpPr>
          <p:nvPr>
            <p:ph type="sldImg" idx="2"/>
          </p:nvPr>
        </p:nvSpPr>
        <p:spPr>
          <a:xfrm>
            <a:off x="2305050" y="528638"/>
            <a:ext cx="4700588" cy="26447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d356e2efa7_0_59:notes"/>
          <p:cNvSpPr txBox="1">
            <a:spLocks noGrp="1"/>
          </p:cNvSpPr>
          <p:nvPr>
            <p:ph type="body" idx="1"/>
          </p:nvPr>
        </p:nvSpPr>
        <p:spPr>
          <a:xfrm>
            <a:off x="930900" y="3350275"/>
            <a:ext cx="7447200" cy="317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g3d356e2efa7_0_59:notes"/>
          <p:cNvSpPr>
            <a:spLocks noGrp="1" noRot="1" noChangeAspect="1"/>
          </p:cNvSpPr>
          <p:nvPr>
            <p:ph type="sldImg" idx="2"/>
          </p:nvPr>
        </p:nvSpPr>
        <p:spPr>
          <a:xfrm>
            <a:off x="2305050" y="528638"/>
            <a:ext cx="4700588" cy="26447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d356e2efa7_0_77:notes"/>
          <p:cNvSpPr txBox="1">
            <a:spLocks noGrp="1"/>
          </p:cNvSpPr>
          <p:nvPr>
            <p:ph type="body" idx="1"/>
          </p:nvPr>
        </p:nvSpPr>
        <p:spPr>
          <a:xfrm>
            <a:off x="930900" y="3350275"/>
            <a:ext cx="7447200" cy="317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g3d356e2efa7_0_77:notes"/>
          <p:cNvSpPr>
            <a:spLocks noGrp="1" noRot="1" noChangeAspect="1"/>
          </p:cNvSpPr>
          <p:nvPr>
            <p:ph type="sldImg" idx="2"/>
          </p:nvPr>
        </p:nvSpPr>
        <p:spPr>
          <a:xfrm>
            <a:off x="2305050" y="528638"/>
            <a:ext cx="4700588" cy="26447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notes"/>
          <p:cNvSpPr txBox="1">
            <a:spLocks noGrp="1"/>
          </p:cNvSpPr>
          <p:nvPr>
            <p:ph type="body" idx="1"/>
          </p:nvPr>
        </p:nvSpPr>
        <p:spPr>
          <a:xfrm>
            <a:off x="930900" y="3350275"/>
            <a:ext cx="7447275" cy="3173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4:notes"/>
          <p:cNvSpPr>
            <a:spLocks noGrp="1" noRot="1" noChangeAspect="1"/>
          </p:cNvSpPr>
          <p:nvPr>
            <p:ph type="sldImg" idx="2"/>
          </p:nvPr>
        </p:nvSpPr>
        <p:spPr>
          <a:xfrm>
            <a:off x="1551825" y="528975"/>
            <a:ext cx="6206375" cy="26449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5:notes"/>
          <p:cNvSpPr txBox="1">
            <a:spLocks noGrp="1"/>
          </p:cNvSpPr>
          <p:nvPr>
            <p:ph type="body" idx="1"/>
          </p:nvPr>
        </p:nvSpPr>
        <p:spPr>
          <a:xfrm>
            <a:off x="930900" y="3350275"/>
            <a:ext cx="7447275" cy="3173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5:notes"/>
          <p:cNvSpPr>
            <a:spLocks noGrp="1" noRot="1" noChangeAspect="1"/>
          </p:cNvSpPr>
          <p:nvPr>
            <p:ph type="sldImg" idx="2"/>
          </p:nvPr>
        </p:nvSpPr>
        <p:spPr>
          <a:xfrm>
            <a:off x="2305050" y="528638"/>
            <a:ext cx="4700588" cy="26447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d356e2efa7_0_103:notes"/>
          <p:cNvSpPr txBox="1">
            <a:spLocks noGrp="1"/>
          </p:cNvSpPr>
          <p:nvPr>
            <p:ph type="body" idx="1"/>
          </p:nvPr>
        </p:nvSpPr>
        <p:spPr>
          <a:xfrm>
            <a:off x="930900" y="3350275"/>
            <a:ext cx="7447200" cy="317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g3d356e2efa7_0_103:notes"/>
          <p:cNvSpPr>
            <a:spLocks noGrp="1" noRot="1" noChangeAspect="1"/>
          </p:cNvSpPr>
          <p:nvPr>
            <p:ph type="sldImg" idx="2"/>
          </p:nvPr>
        </p:nvSpPr>
        <p:spPr>
          <a:xfrm>
            <a:off x="2305050" y="528638"/>
            <a:ext cx="4700588" cy="26447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d356e2efa7_0_117:notes"/>
          <p:cNvSpPr txBox="1">
            <a:spLocks noGrp="1"/>
          </p:cNvSpPr>
          <p:nvPr>
            <p:ph type="body" idx="1"/>
          </p:nvPr>
        </p:nvSpPr>
        <p:spPr>
          <a:xfrm>
            <a:off x="930900" y="3350275"/>
            <a:ext cx="7447200" cy="317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g3d356e2efa7_0_117:notes"/>
          <p:cNvSpPr>
            <a:spLocks noGrp="1" noRot="1" noChangeAspect="1"/>
          </p:cNvSpPr>
          <p:nvPr>
            <p:ph type="sldImg" idx="2"/>
          </p:nvPr>
        </p:nvSpPr>
        <p:spPr>
          <a:xfrm>
            <a:off x="2305050" y="528638"/>
            <a:ext cx="4700588" cy="26447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5050" y="528638"/>
            <a:ext cx="4700588" cy="264477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63843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EF72338-4246-47CB-95B5-D03CAD77A9D7}"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589F45-737F-4CC9-B152-71CC699BA60A}" type="slidenum">
              <a:rPr lang="en-US" smtClean="0"/>
              <a:t>‹#›</a:t>
            </a:fld>
            <a:endParaRPr lang="en-US"/>
          </a:p>
        </p:txBody>
      </p:sp>
    </p:spTree>
    <p:extLst>
      <p:ext uri="{BB962C8B-B14F-4D97-AF65-F5344CB8AC3E}">
        <p14:creationId xmlns:p14="http://schemas.microsoft.com/office/powerpoint/2010/main" val="268292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F72338-4246-47CB-95B5-D03CAD77A9D7}"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589F45-737F-4CC9-B152-71CC699BA60A}" type="slidenum">
              <a:rPr lang="en-US" smtClean="0"/>
              <a:t>‹#›</a:t>
            </a:fld>
            <a:endParaRPr lang="en-US"/>
          </a:p>
        </p:txBody>
      </p:sp>
    </p:spTree>
    <p:extLst>
      <p:ext uri="{BB962C8B-B14F-4D97-AF65-F5344CB8AC3E}">
        <p14:creationId xmlns:p14="http://schemas.microsoft.com/office/powerpoint/2010/main" val="476333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EF72338-4246-47CB-95B5-D03CAD77A9D7}"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589F45-737F-4CC9-B152-71CC699BA60A}" type="slidenum">
              <a:rPr lang="en-US" smtClean="0"/>
              <a:t>‹#›</a:t>
            </a:fld>
            <a:endParaRPr lang="en-US"/>
          </a:p>
        </p:txBody>
      </p:sp>
    </p:spTree>
    <p:extLst>
      <p:ext uri="{BB962C8B-B14F-4D97-AF65-F5344CB8AC3E}">
        <p14:creationId xmlns:p14="http://schemas.microsoft.com/office/powerpoint/2010/main" val="4146648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EF72338-4246-47CB-95B5-D03CAD77A9D7}"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589F45-737F-4CC9-B152-71CC699BA60A}" type="slidenum">
              <a:rPr lang="en-US" smtClean="0"/>
              <a:t>‹#›</a:t>
            </a:fld>
            <a:endParaRPr lang="en-US"/>
          </a:p>
        </p:txBody>
      </p:sp>
    </p:spTree>
    <p:extLst>
      <p:ext uri="{BB962C8B-B14F-4D97-AF65-F5344CB8AC3E}">
        <p14:creationId xmlns:p14="http://schemas.microsoft.com/office/powerpoint/2010/main" val="1660868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EF72338-4246-47CB-95B5-D03CAD77A9D7}" type="datetimeFigureOut">
              <a:rPr lang="en-US" smtClean="0"/>
              <a:t>5/6/26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589F45-737F-4CC9-B152-71CC699BA60A}" type="slidenum">
              <a:rPr lang="en-US" smtClean="0"/>
              <a:t>‹#›</a:t>
            </a:fld>
            <a:endParaRPr lang="en-US"/>
          </a:p>
        </p:txBody>
      </p:sp>
    </p:spTree>
    <p:extLst>
      <p:ext uri="{BB962C8B-B14F-4D97-AF65-F5344CB8AC3E}">
        <p14:creationId xmlns:p14="http://schemas.microsoft.com/office/powerpoint/2010/main" val="3405476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EF72338-4246-47CB-95B5-D03CAD77A9D7}" type="datetimeFigureOut">
              <a:rPr lang="en-US" smtClean="0"/>
              <a:t>5/6/26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589F45-737F-4CC9-B152-71CC699BA60A}" type="slidenum">
              <a:rPr lang="en-US" smtClean="0"/>
              <a:t>‹#›</a:t>
            </a:fld>
            <a:endParaRPr lang="en-US"/>
          </a:p>
        </p:txBody>
      </p:sp>
    </p:spTree>
    <p:extLst>
      <p:ext uri="{BB962C8B-B14F-4D97-AF65-F5344CB8AC3E}">
        <p14:creationId xmlns:p14="http://schemas.microsoft.com/office/powerpoint/2010/main" val="3363152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72338-4246-47CB-95B5-D03CAD77A9D7}" type="datetimeFigureOut">
              <a:rPr lang="en-US" smtClean="0"/>
              <a:t>5/6/26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589F45-737F-4CC9-B152-71CC699BA60A}" type="slidenum">
              <a:rPr lang="en-US" smtClean="0"/>
              <a:t>‹#›</a:t>
            </a:fld>
            <a:endParaRPr lang="en-US"/>
          </a:p>
        </p:txBody>
      </p:sp>
    </p:spTree>
    <p:extLst>
      <p:ext uri="{BB962C8B-B14F-4D97-AF65-F5344CB8AC3E}">
        <p14:creationId xmlns:p14="http://schemas.microsoft.com/office/powerpoint/2010/main" val="499706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EF72338-4246-47CB-95B5-D03CAD77A9D7}"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589F45-737F-4CC9-B152-71CC699BA60A}" type="slidenum">
              <a:rPr lang="en-US" smtClean="0"/>
              <a:t>‹#›</a:t>
            </a:fld>
            <a:endParaRPr lang="en-US"/>
          </a:p>
        </p:txBody>
      </p:sp>
    </p:spTree>
    <p:extLst>
      <p:ext uri="{BB962C8B-B14F-4D97-AF65-F5344CB8AC3E}">
        <p14:creationId xmlns:p14="http://schemas.microsoft.com/office/powerpoint/2010/main" val="3192908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EF72338-4246-47CB-95B5-D03CAD77A9D7}" type="datetimeFigureOut">
              <a:rPr lang="en-US" smtClean="0"/>
              <a:t>5/6/26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589F45-737F-4CC9-B152-71CC699BA60A}" type="slidenum">
              <a:rPr lang="en-US" smtClean="0"/>
              <a:t>‹#›</a:t>
            </a:fld>
            <a:endParaRPr lang="en-US"/>
          </a:p>
        </p:txBody>
      </p:sp>
    </p:spTree>
    <p:extLst>
      <p:ext uri="{BB962C8B-B14F-4D97-AF65-F5344CB8AC3E}">
        <p14:creationId xmlns:p14="http://schemas.microsoft.com/office/powerpoint/2010/main" val="4054976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F72338-4246-47CB-95B5-D03CAD77A9D7}"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589F45-737F-4CC9-B152-71CC699BA60A}" type="slidenum">
              <a:rPr lang="en-US" smtClean="0"/>
              <a:t>‹#›</a:t>
            </a:fld>
            <a:endParaRPr lang="en-US"/>
          </a:p>
        </p:txBody>
      </p:sp>
    </p:spTree>
    <p:extLst>
      <p:ext uri="{BB962C8B-B14F-4D97-AF65-F5344CB8AC3E}">
        <p14:creationId xmlns:p14="http://schemas.microsoft.com/office/powerpoint/2010/main" val="2299191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F72338-4246-47CB-95B5-D03CAD77A9D7}" type="datetimeFigureOut">
              <a:rPr lang="en-US" smtClean="0"/>
              <a:t>5/6/26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589F45-737F-4CC9-B152-71CC699BA60A}" type="slidenum">
              <a:rPr lang="en-US" smtClean="0"/>
              <a:t>‹#›</a:t>
            </a:fld>
            <a:endParaRPr lang="en-US"/>
          </a:p>
        </p:txBody>
      </p:sp>
    </p:spTree>
    <p:extLst>
      <p:ext uri="{BB962C8B-B14F-4D97-AF65-F5344CB8AC3E}">
        <p14:creationId xmlns:p14="http://schemas.microsoft.com/office/powerpoint/2010/main" val="342704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F72338-4246-47CB-95B5-D03CAD77A9D7}" type="datetimeFigureOut">
              <a:rPr lang="en-US" smtClean="0"/>
              <a:t>5/6/26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589F45-737F-4CC9-B152-71CC699BA60A}" type="slidenum">
              <a:rPr lang="en-US" smtClean="0"/>
              <a:t>‹#›</a:t>
            </a:fld>
            <a:endParaRPr lang="en-US"/>
          </a:p>
        </p:txBody>
      </p:sp>
    </p:spTree>
    <p:extLst>
      <p:ext uri="{BB962C8B-B14F-4D97-AF65-F5344CB8AC3E}">
        <p14:creationId xmlns:p14="http://schemas.microsoft.com/office/powerpoint/2010/main" val="22117619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CMPS 4390 PROJECT</a:t>
            </a:r>
          </a:p>
        </p:txBody>
      </p:sp>
      <p:sp>
        <p:nvSpPr>
          <p:cNvPr id="3" name="Subtitle 2"/>
          <p:cNvSpPr>
            <a:spLocks noGrp="1"/>
          </p:cNvSpPr>
          <p:nvPr>
            <p:ph type="subTitle" idx="1"/>
          </p:nvPr>
        </p:nvSpPr>
        <p:spPr/>
        <p:txBody>
          <a:bodyPr/>
          <a:lstStyle/>
          <a:p>
            <a:r>
              <a:rPr lang="en-US" dirty="0"/>
              <a:t>Team Mango</a:t>
            </a:r>
          </a:p>
          <a:p>
            <a:r>
              <a:rPr lang="en-US" dirty="0"/>
              <a:t>Adam Rodi, Samiksha Gnawali, Suyog Karki</a:t>
            </a:r>
          </a:p>
        </p:txBody>
      </p:sp>
      <p:sp>
        <p:nvSpPr>
          <p:cNvPr id="4" name="Rectangle 3"/>
          <p:cNvSpPr/>
          <p:nvPr/>
        </p:nvSpPr>
        <p:spPr>
          <a:xfrm>
            <a:off x="4306784" y="452281"/>
            <a:ext cx="4160323" cy="923330"/>
          </a:xfrm>
          <a:prstGeom prst="rect">
            <a:avLst/>
          </a:prstGeom>
        </p:spPr>
        <p:txBody>
          <a:bodyPr wrap="square">
            <a:spAutoFit/>
          </a:bodyPr>
          <a:lstStyle/>
          <a:p>
            <a:r>
              <a:rPr lang="en-US" b="1" i="1" dirty="0">
                <a:solidFill>
                  <a:srgbClr val="FF0000"/>
                </a:solidFill>
              </a:rPr>
              <a:t>You must </a:t>
            </a:r>
            <a:r>
              <a:rPr lang="en-US" b="1" i="1" dirty="0"/>
              <a:t>exactly follow </a:t>
            </a:r>
            <a:r>
              <a:rPr lang="en-US" b="1" i="1" dirty="0">
                <a:solidFill>
                  <a:srgbClr val="FF0000"/>
                </a:solidFill>
              </a:rPr>
              <a:t>this template.</a:t>
            </a:r>
          </a:p>
          <a:p>
            <a:r>
              <a:rPr lang="en-US" b="1" i="1" dirty="0">
                <a:solidFill>
                  <a:srgbClr val="FF0000"/>
                </a:solidFill>
              </a:rPr>
              <a:t>Do not change the order and the format.</a:t>
            </a:r>
          </a:p>
          <a:p>
            <a:r>
              <a:rPr lang="en-US" b="1" i="1" dirty="0">
                <a:solidFill>
                  <a:srgbClr val="FF0000"/>
                </a:solidFill>
              </a:rPr>
              <a:t>No background coloring or formatting.</a:t>
            </a:r>
            <a:endParaRPr lang="en-US" b="1" dirty="0">
              <a:solidFill>
                <a:srgbClr val="FF0000"/>
              </a:solidFill>
            </a:endParaRPr>
          </a:p>
        </p:txBody>
      </p:sp>
    </p:spTree>
    <p:extLst>
      <p:ext uri="{BB962C8B-B14F-4D97-AF65-F5344CB8AC3E}">
        <p14:creationId xmlns:p14="http://schemas.microsoft.com/office/powerpoint/2010/main" val="2268988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 MEMBERS &amp; ROLES</a:t>
            </a:r>
          </a:p>
        </p:txBody>
      </p:sp>
      <p:sp>
        <p:nvSpPr>
          <p:cNvPr id="3" name="Content Placeholder 2"/>
          <p:cNvSpPr>
            <a:spLocks noGrp="1"/>
          </p:cNvSpPr>
          <p:nvPr>
            <p:ph idx="1"/>
          </p:nvPr>
        </p:nvSpPr>
        <p:spPr>
          <a:xfrm>
            <a:off x="838200" y="1825624"/>
            <a:ext cx="10515600" cy="4853471"/>
          </a:xfrm>
        </p:spPr>
        <p:txBody>
          <a:bodyPr>
            <a:normAutofit fontScale="85000" lnSpcReduction="20000"/>
          </a:bodyPr>
          <a:lstStyle/>
          <a:p>
            <a:pPr marL="0" indent="0">
              <a:buNone/>
            </a:pPr>
            <a:r>
              <a:rPr lang="en-US" dirty="0"/>
              <a:t>Adam Rodi</a:t>
            </a:r>
          </a:p>
          <a:p>
            <a:r>
              <a:rPr lang="en-US" sz="2000" dirty="0"/>
              <a:t>Assist with writing DML and DDL queries and creating PowerPoint submissions</a:t>
            </a:r>
          </a:p>
          <a:p>
            <a:r>
              <a:rPr lang="en-US" sz="2000" dirty="0"/>
              <a:t>Create ERD diagram</a:t>
            </a:r>
          </a:p>
          <a:p>
            <a:r>
              <a:rPr lang="en-US" sz="2000" dirty="0"/>
              <a:t>Normalization analysis</a:t>
            </a:r>
          </a:p>
          <a:p>
            <a:pPr marL="0" indent="0">
              <a:buNone/>
            </a:pPr>
            <a:endParaRPr lang="en-US" sz="2200" dirty="0"/>
          </a:p>
          <a:p>
            <a:pPr marL="0" indent="0">
              <a:buNone/>
            </a:pPr>
            <a:r>
              <a:rPr lang="en-US" dirty="0"/>
              <a:t>Samiksha </a:t>
            </a:r>
            <a:r>
              <a:rPr lang="en-US" dirty="0" err="1"/>
              <a:t>Gnawali</a:t>
            </a:r>
            <a:endParaRPr lang="en-US" dirty="0"/>
          </a:p>
          <a:p>
            <a:r>
              <a:rPr lang="en-US" sz="2000" dirty="0"/>
              <a:t>Capture screenshots of query outputs for PowerPoints</a:t>
            </a:r>
          </a:p>
          <a:p>
            <a:r>
              <a:rPr lang="en-US" sz="2000" dirty="0"/>
              <a:t>Assist with query writing for DDL and DML</a:t>
            </a:r>
          </a:p>
          <a:p>
            <a:r>
              <a:rPr lang="en-US" sz="2000" dirty="0"/>
              <a:t>SQL review and testing</a:t>
            </a:r>
          </a:p>
          <a:p>
            <a:pPr marL="0" indent="0">
              <a:buNone/>
            </a:pPr>
            <a:endParaRPr lang="en-US" sz="2200" dirty="0"/>
          </a:p>
          <a:p>
            <a:pPr marL="0" indent="0">
              <a:buNone/>
            </a:pPr>
            <a:r>
              <a:rPr lang="en-US" dirty="0"/>
              <a:t>Suyog Karki</a:t>
            </a:r>
          </a:p>
          <a:p>
            <a:r>
              <a:rPr lang="en-US" sz="2400" dirty="0"/>
              <a:t>Define FK relations and constraints</a:t>
            </a:r>
          </a:p>
          <a:p>
            <a:r>
              <a:rPr lang="en-US" sz="2400" dirty="0"/>
              <a:t>Assist with query writing for DDL and DML</a:t>
            </a:r>
          </a:p>
          <a:p>
            <a:r>
              <a:rPr lang="en-US" sz="2400" dirty="0"/>
              <a:t>Python data generation scripts</a:t>
            </a:r>
          </a:p>
          <a:p>
            <a:endParaRPr lang="en-US" sz="2400" dirty="0"/>
          </a:p>
          <a:p>
            <a:endParaRPr lang="en-US" sz="2400" dirty="0"/>
          </a:p>
        </p:txBody>
      </p:sp>
    </p:spTree>
    <p:extLst>
      <p:ext uri="{BB962C8B-B14F-4D97-AF65-F5344CB8AC3E}">
        <p14:creationId xmlns:p14="http://schemas.microsoft.com/office/powerpoint/2010/main" val="1188225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DESCRIPTION OF BUSINESS</a:t>
            </a:r>
          </a:p>
        </p:txBody>
      </p:sp>
      <p:sp>
        <p:nvSpPr>
          <p:cNvPr id="3" name="Content Placeholder 2"/>
          <p:cNvSpPr>
            <a:spLocks noGrp="1"/>
          </p:cNvSpPr>
          <p:nvPr>
            <p:ph idx="1"/>
          </p:nvPr>
        </p:nvSpPr>
        <p:spPr>
          <a:xfrm>
            <a:off x="838200" y="1690688"/>
            <a:ext cx="10515600" cy="4486275"/>
          </a:xfrm>
        </p:spPr>
        <p:txBody>
          <a:bodyPr>
            <a:normAutofit fontScale="62500" lnSpcReduction="20000"/>
          </a:bodyPr>
          <a:lstStyle/>
          <a:p>
            <a:pPr lvl="0">
              <a:spcBef>
                <a:spcPts val="0"/>
              </a:spcBef>
              <a:buClr>
                <a:schemeClr val="dk1"/>
              </a:buClr>
              <a:buSzPct val="100000"/>
            </a:pPr>
            <a:r>
              <a:rPr lang="en-US" dirty="0"/>
              <a:t>The business is an online AI Marketplace where external sellers list two types of products: AI-powered web applications that users can access through a browser, and AI API services that developers can integrate into their own software. Buyers subscribe to these products through the platform. The platform manages user accounts, product listings, subscriptions, payments, and commission calculations. The actual AI services are provided externally and the platform only handles listing and billing.</a:t>
            </a:r>
          </a:p>
          <a:p>
            <a:pPr lvl="0">
              <a:spcBef>
                <a:spcPts val="0"/>
              </a:spcBef>
              <a:buClr>
                <a:schemeClr val="dk1"/>
              </a:buClr>
              <a:buSzPct val="100000"/>
            </a:pPr>
            <a:endParaRPr lang="en-US" dirty="0"/>
          </a:p>
          <a:p>
            <a:r>
              <a:rPr lang="en-US" dirty="0"/>
              <a:t>Business operations:</a:t>
            </a:r>
          </a:p>
          <a:p>
            <a:pPr marL="971550" lvl="1" indent="-514350">
              <a:buClr>
                <a:schemeClr val="dk1"/>
              </a:buClr>
              <a:buSzPct val="100000"/>
              <a:buFont typeface="Calibri"/>
              <a:buAutoNum type="arabicPeriod"/>
            </a:pPr>
            <a:r>
              <a:rPr lang="en-US" dirty="0"/>
              <a:t>Create, update, and delete user accounts (buyers and sellers) </a:t>
            </a:r>
          </a:p>
          <a:p>
            <a:pPr marL="971550" lvl="1" indent="-514350">
              <a:buClr>
                <a:schemeClr val="dk1"/>
              </a:buClr>
              <a:buSzPct val="100000"/>
              <a:buFont typeface="Calibri"/>
              <a:buAutoNum type="arabicPeriod"/>
            </a:pPr>
            <a:r>
              <a:rPr lang="en-US" dirty="0"/>
              <a:t>Sellers create, update, and remove their AI product listings</a:t>
            </a:r>
          </a:p>
          <a:p>
            <a:pPr marL="971550" lvl="1" indent="-514350">
              <a:buClr>
                <a:schemeClr val="dk1"/>
              </a:buClr>
              <a:buSzPct val="100000"/>
              <a:buFont typeface="Calibri"/>
              <a:buAutoNum type="arabicPeriod"/>
            </a:pPr>
            <a:r>
              <a:rPr lang="en-US" dirty="0"/>
              <a:t>Buyers create and cancel subscriptions to products.</a:t>
            </a:r>
          </a:p>
          <a:p>
            <a:pPr marL="971550" lvl="1" indent="-514350">
              <a:buClr>
                <a:schemeClr val="dk1"/>
              </a:buClr>
              <a:buSzPct val="100000"/>
              <a:buFont typeface="Calibri"/>
              <a:buAutoNum type="arabicPeriod"/>
            </a:pPr>
            <a:r>
              <a:rPr lang="en-US" dirty="0"/>
              <a:t>Calculating the platform’s commission for each payment.</a:t>
            </a:r>
          </a:p>
          <a:p>
            <a:pPr marL="971550" lvl="1" indent="-514350">
              <a:buClr>
                <a:schemeClr val="dk1"/>
              </a:buClr>
              <a:buSzPct val="100000"/>
              <a:buFont typeface="Calibri"/>
              <a:buAutoNum type="arabicPeriod"/>
            </a:pPr>
            <a:r>
              <a:rPr lang="en-US" dirty="0"/>
              <a:t>Buyers submit reviews and ratings for products.</a:t>
            </a:r>
          </a:p>
          <a:p>
            <a:endParaRPr lang="en-US" dirty="0"/>
          </a:p>
          <a:p>
            <a:r>
              <a:rPr lang="en-US" dirty="0"/>
              <a:t>Business requirements:</a:t>
            </a:r>
          </a:p>
          <a:p>
            <a:pPr marL="971550" lvl="1" indent="-514350">
              <a:buClr>
                <a:schemeClr val="dk1"/>
              </a:buClr>
              <a:buSzPct val="100000"/>
              <a:buFont typeface="Calibri"/>
              <a:buAutoNum type="arabicPeriod"/>
            </a:pPr>
            <a:r>
              <a:rPr lang="en-US" dirty="0"/>
              <a:t> Each product must be owned by exactly one seller.</a:t>
            </a:r>
          </a:p>
          <a:p>
            <a:pPr marL="971550" lvl="1" indent="-514350">
              <a:buClr>
                <a:schemeClr val="dk1"/>
              </a:buClr>
              <a:buSzPct val="100000"/>
              <a:buFont typeface="Calibri"/>
              <a:buAutoNum type="arabicPeriod"/>
            </a:pPr>
            <a:r>
              <a:rPr lang="en-US" dirty="0"/>
              <a:t> Each subscription must link one buyer to one product.</a:t>
            </a:r>
          </a:p>
          <a:p>
            <a:pPr marL="971550" lvl="1" indent="-514350">
              <a:buClr>
                <a:schemeClr val="dk1"/>
              </a:buClr>
              <a:buSzPct val="100000"/>
              <a:buFont typeface="Calibri"/>
              <a:buAutoNum type="arabicPeriod"/>
            </a:pPr>
            <a:r>
              <a:rPr lang="en-US" dirty="0"/>
              <a:t> Platform commission must be calculated as 20% of each recorded payment.</a:t>
            </a:r>
          </a:p>
          <a:p>
            <a:pPr marL="971550" lvl="1" indent="-514350">
              <a:buClr>
                <a:schemeClr val="dk1"/>
              </a:buClr>
              <a:buSzPct val="100000"/>
              <a:buFont typeface="Calibri"/>
              <a:buAutoNum type="arabicPeriod"/>
            </a:pPr>
            <a:r>
              <a:rPr lang="en-US" dirty="0"/>
              <a:t> A buyer may not have more than one active subscription to the same product at any given time.</a:t>
            </a:r>
          </a:p>
          <a:p>
            <a:pPr marL="971550" lvl="1" indent="-514350">
              <a:buClr>
                <a:schemeClr val="dk1"/>
              </a:buClr>
              <a:buSzPct val="100000"/>
              <a:buFont typeface="Calibri"/>
              <a:buAutoNum type="arabicPeriod"/>
            </a:pPr>
            <a:r>
              <a:rPr lang="en-US" dirty="0"/>
              <a:t> Each payment must correspond to exactly one subscription. </a:t>
            </a:r>
          </a:p>
          <a:p>
            <a:pPr marL="0" indent="0">
              <a:buNone/>
            </a:pPr>
            <a:endParaRPr lang="en-US" dirty="0"/>
          </a:p>
          <a:p>
            <a:endParaRPr lang="en-US" dirty="0"/>
          </a:p>
          <a:p>
            <a:pPr marL="457200" lvl="1" indent="0">
              <a:buNone/>
            </a:pPr>
            <a:endParaRPr lang="en-US" dirty="0"/>
          </a:p>
          <a:p>
            <a:pPr marL="914400" lvl="1" indent="-457200">
              <a:buFont typeface="+mj-lt"/>
              <a:buAutoNum type="arabicPeriod"/>
            </a:pPr>
            <a:endParaRPr lang="en-US" dirty="0"/>
          </a:p>
        </p:txBody>
      </p:sp>
    </p:spTree>
    <p:extLst>
      <p:ext uri="{BB962C8B-B14F-4D97-AF65-F5344CB8AC3E}">
        <p14:creationId xmlns:p14="http://schemas.microsoft.com/office/powerpoint/2010/main" val="2655528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 REFERENTIAL-RELATIONS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38799437"/>
              </p:ext>
            </p:extLst>
          </p:nvPr>
        </p:nvGraphicFramePr>
        <p:xfrm>
          <a:off x="838200" y="1825625"/>
          <a:ext cx="10515599" cy="4348480"/>
        </p:xfrm>
        <a:graphic>
          <a:graphicData uri="http://schemas.openxmlformats.org/drawingml/2006/table">
            <a:tbl>
              <a:tblPr firstRow="1" bandRow="1">
                <a:tableStyleId>{5C22544A-7EE6-4342-B048-85BDC9FD1C3A}</a:tableStyleId>
              </a:tblPr>
              <a:tblGrid>
                <a:gridCol w="2446176">
                  <a:extLst>
                    <a:ext uri="{9D8B030D-6E8A-4147-A177-3AD203B41FA5}">
                      <a16:colId xmlns:a16="http://schemas.microsoft.com/office/drawing/2014/main" val="360958841"/>
                    </a:ext>
                  </a:extLst>
                </a:gridCol>
                <a:gridCol w="1642187">
                  <a:extLst>
                    <a:ext uri="{9D8B030D-6E8A-4147-A177-3AD203B41FA5}">
                      <a16:colId xmlns:a16="http://schemas.microsoft.com/office/drawing/2014/main" val="4249672180"/>
                    </a:ext>
                  </a:extLst>
                </a:gridCol>
                <a:gridCol w="3048000">
                  <a:extLst>
                    <a:ext uri="{9D8B030D-6E8A-4147-A177-3AD203B41FA5}">
                      <a16:colId xmlns:a16="http://schemas.microsoft.com/office/drawing/2014/main" val="612497051"/>
                    </a:ext>
                  </a:extLst>
                </a:gridCol>
                <a:gridCol w="3379236">
                  <a:extLst>
                    <a:ext uri="{9D8B030D-6E8A-4147-A177-3AD203B41FA5}">
                      <a16:colId xmlns:a16="http://schemas.microsoft.com/office/drawing/2014/main" val="565864386"/>
                    </a:ext>
                  </a:extLst>
                </a:gridCol>
              </a:tblGrid>
              <a:tr h="370840">
                <a:tc>
                  <a:txBody>
                    <a:bodyPr/>
                    <a:lstStyle/>
                    <a:p>
                      <a:pPr algn="ctr"/>
                      <a:r>
                        <a:rPr lang="en-US" dirty="0"/>
                        <a:t>FOREIGN</a:t>
                      </a:r>
                      <a:r>
                        <a:rPr lang="en-US" baseline="0" dirty="0"/>
                        <a:t> TABLE (REFERENCING TABLE)</a:t>
                      </a:r>
                      <a:endParaRPr lang="tr-TR" dirty="0"/>
                    </a:p>
                  </a:txBody>
                  <a:tcPr anchor="ctr"/>
                </a:tc>
                <a:tc>
                  <a:txBody>
                    <a:bodyPr/>
                    <a:lstStyle/>
                    <a:p>
                      <a:pPr algn="ctr"/>
                      <a:r>
                        <a:rPr lang="en-US" dirty="0"/>
                        <a:t>FOREIGN KEY</a:t>
                      </a:r>
                      <a:endParaRPr lang="tr-TR" dirty="0"/>
                    </a:p>
                  </a:txBody>
                  <a:tcPr anchor="ctr"/>
                </a:tc>
                <a:tc>
                  <a:txBody>
                    <a:bodyPr/>
                    <a:lstStyle/>
                    <a:p>
                      <a:pPr algn="ctr"/>
                      <a:r>
                        <a:rPr lang="en-US" dirty="0"/>
                        <a:t>REFERENCED TABLE</a:t>
                      </a:r>
                      <a:endParaRPr lang="tr-TR" dirty="0"/>
                    </a:p>
                  </a:txBody>
                  <a:tcPr anchor="ctr"/>
                </a:tc>
                <a:tc>
                  <a:txBody>
                    <a:bodyPr/>
                    <a:lstStyle/>
                    <a:p>
                      <a:pPr algn="ctr"/>
                      <a:r>
                        <a:rPr lang="en-US" dirty="0"/>
                        <a:t>PRIMARY KEY</a:t>
                      </a:r>
                      <a:endParaRPr lang="tr-TR" dirty="0"/>
                    </a:p>
                  </a:txBody>
                  <a:tcPr anchor="ctr"/>
                </a:tc>
                <a:extLst>
                  <a:ext uri="{0D108BD9-81ED-4DB2-BD59-A6C34878D82A}">
                    <a16:rowId xmlns:a16="http://schemas.microsoft.com/office/drawing/2014/main" val="2860043781"/>
                  </a:ext>
                </a:extLst>
              </a:tr>
              <a:tr h="370840">
                <a:tc>
                  <a:txBody>
                    <a:bodyPr/>
                    <a:lstStyle/>
                    <a:p>
                      <a:r>
                        <a:rPr lang="tr-TR" dirty="0" err="1"/>
                        <a:t>Products</a:t>
                      </a:r>
                      <a:endParaRPr lang="tr-TR" dirty="0"/>
                    </a:p>
                  </a:txBody>
                  <a:tcPr/>
                </a:tc>
                <a:tc>
                  <a:txBody>
                    <a:bodyPr/>
                    <a:lstStyle/>
                    <a:p>
                      <a:r>
                        <a:rPr lang="tr-TR" dirty="0" err="1"/>
                        <a:t>seller_id</a:t>
                      </a:r>
                      <a:endParaRPr lang="tr-TR" dirty="0"/>
                    </a:p>
                  </a:txBody>
                  <a:tcPr/>
                </a:tc>
                <a:tc>
                  <a:txBody>
                    <a:bodyPr/>
                    <a:lstStyle/>
                    <a:p>
                      <a:r>
                        <a:rPr lang="tr-TR" dirty="0" err="1"/>
                        <a:t>Users</a:t>
                      </a:r>
                      <a:endParaRPr lang="tr-TR" dirty="0"/>
                    </a:p>
                  </a:txBody>
                  <a:tcPr/>
                </a:tc>
                <a:tc>
                  <a:txBody>
                    <a:bodyPr/>
                    <a:lstStyle/>
                    <a:p>
                      <a:r>
                        <a:rPr lang="tr-TR" dirty="0" err="1"/>
                        <a:t>user_id</a:t>
                      </a:r>
                      <a:endParaRPr lang="tr-TR" dirty="0"/>
                    </a:p>
                  </a:txBody>
                  <a:tcPr/>
                </a:tc>
                <a:extLst>
                  <a:ext uri="{0D108BD9-81ED-4DB2-BD59-A6C34878D82A}">
                    <a16:rowId xmlns:a16="http://schemas.microsoft.com/office/drawing/2014/main" val="3727518354"/>
                  </a:ext>
                </a:extLst>
              </a:tr>
              <a:tr h="370840">
                <a:tc>
                  <a:txBody>
                    <a:bodyPr/>
                    <a:lstStyle/>
                    <a:p>
                      <a:r>
                        <a:rPr lang="tr-TR" dirty="0" err="1"/>
                        <a:t>Products</a:t>
                      </a:r>
                      <a:endParaRPr lang="tr-TR" dirty="0"/>
                    </a:p>
                  </a:txBody>
                  <a:tcPr/>
                </a:tc>
                <a:tc>
                  <a:txBody>
                    <a:bodyPr/>
                    <a:lstStyle/>
                    <a:p>
                      <a:r>
                        <a:rPr lang="tr-TR" dirty="0" err="1"/>
                        <a:t>category_id</a:t>
                      </a:r>
                      <a:endParaRPr lang="tr-TR" dirty="0"/>
                    </a:p>
                  </a:txBody>
                  <a:tcPr/>
                </a:tc>
                <a:tc>
                  <a:txBody>
                    <a:bodyPr/>
                    <a:lstStyle/>
                    <a:p>
                      <a:r>
                        <a:rPr lang="tr-TR" dirty="0" err="1"/>
                        <a:t>Categories</a:t>
                      </a:r>
                      <a:endParaRPr lang="tr-TR" dirty="0"/>
                    </a:p>
                  </a:txBody>
                  <a:tcPr/>
                </a:tc>
                <a:tc>
                  <a:txBody>
                    <a:bodyPr/>
                    <a:lstStyle/>
                    <a:p>
                      <a:r>
                        <a:rPr lang="tr-TR" dirty="0" err="1"/>
                        <a:t>category_id</a:t>
                      </a:r>
                      <a:endParaRPr lang="tr-TR" dirty="0"/>
                    </a:p>
                  </a:txBody>
                  <a:tcPr/>
                </a:tc>
                <a:extLst>
                  <a:ext uri="{0D108BD9-81ED-4DB2-BD59-A6C34878D82A}">
                    <a16:rowId xmlns:a16="http://schemas.microsoft.com/office/drawing/2014/main" val="3547680632"/>
                  </a:ext>
                </a:extLst>
              </a:tr>
              <a:tr h="370840">
                <a:tc>
                  <a:txBody>
                    <a:bodyPr/>
                    <a:lstStyle/>
                    <a:p>
                      <a:r>
                        <a:rPr lang="tr-TR" dirty="0" err="1"/>
                        <a:t>Product_Tags</a:t>
                      </a:r>
                      <a:endParaRPr lang="tr-TR" dirty="0"/>
                    </a:p>
                  </a:txBody>
                  <a:tcPr/>
                </a:tc>
                <a:tc>
                  <a:txBody>
                    <a:bodyPr/>
                    <a:lstStyle/>
                    <a:p>
                      <a:r>
                        <a:rPr lang="tr-TR" dirty="0" err="1"/>
                        <a:t>product_id</a:t>
                      </a:r>
                      <a:endParaRPr lang="tr-TR" dirty="0"/>
                    </a:p>
                  </a:txBody>
                  <a:tcPr/>
                </a:tc>
                <a:tc>
                  <a:txBody>
                    <a:bodyPr/>
                    <a:lstStyle/>
                    <a:p>
                      <a:r>
                        <a:rPr lang="tr-TR" dirty="0" err="1"/>
                        <a:t>Products</a:t>
                      </a:r>
                      <a:endParaRPr lang="tr-TR" dirty="0"/>
                    </a:p>
                  </a:txBody>
                  <a:tcPr/>
                </a:tc>
                <a:tc>
                  <a:txBody>
                    <a:bodyPr/>
                    <a:lstStyle/>
                    <a:p>
                      <a:r>
                        <a:rPr lang="tr-TR" dirty="0" err="1"/>
                        <a:t>product_id</a:t>
                      </a:r>
                      <a:endParaRPr lang="tr-TR" dirty="0"/>
                    </a:p>
                  </a:txBody>
                  <a:tcPr/>
                </a:tc>
                <a:extLst>
                  <a:ext uri="{0D108BD9-81ED-4DB2-BD59-A6C34878D82A}">
                    <a16:rowId xmlns:a16="http://schemas.microsoft.com/office/drawing/2014/main" val="1986499521"/>
                  </a:ext>
                </a:extLst>
              </a:tr>
              <a:tr h="370840">
                <a:tc>
                  <a:txBody>
                    <a:bodyPr/>
                    <a:lstStyle/>
                    <a:p>
                      <a:r>
                        <a:rPr lang="tr-TR" dirty="0" err="1"/>
                        <a:t>Product_Tags</a:t>
                      </a:r>
                      <a:endParaRPr lang="tr-TR" dirty="0"/>
                    </a:p>
                  </a:txBody>
                  <a:tcPr/>
                </a:tc>
                <a:tc>
                  <a:txBody>
                    <a:bodyPr/>
                    <a:lstStyle/>
                    <a:p>
                      <a:r>
                        <a:rPr lang="tr-TR" dirty="0" err="1"/>
                        <a:t>tag_id</a:t>
                      </a:r>
                      <a:endParaRPr lang="tr-TR" dirty="0"/>
                    </a:p>
                  </a:txBody>
                  <a:tcPr/>
                </a:tc>
                <a:tc>
                  <a:txBody>
                    <a:bodyPr/>
                    <a:lstStyle/>
                    <a:p>
                      <a:r>
                        <a:rPr lang="tr-TR" dirty="0" err="1"/>
                        <a:t>Tags</a:t>
                      </a:r>
                      <a:endParaRPr lang="tr-TR" dirty="0"/>
                    </a:p>
                  </a:txBody>
                  <a:tcPr/>
                </a:tc>
                <a:tc>
                  <a:txBody>
                    <a:bodyPr/>
                    <a:lstStyle/>
                    <a:p>
                      <a:r>
                        <a:rPr lang="tr-TR" dirty="0" err="1"/>
                        <a:t>tag_id</a:t>
                      </a:r>
                      <a:endParaRPr lang="tr-TR" dirty="0"/>
                    </a:p>
                  </a:txBody>
                  <a:tcPr/>
                </a:tc>
                <a:extLst>
                  <a:ext uri="{0D108BD9-81ED-4DB2-BD59-A6C34878D82A}">
                    <a16:rowId xmlns:a16="http://schemas.microsoft.com/office/drawing/2014/main" val="667864953"/>
                  </a:ext>
                </a:extLst>
              </a:tr>
              <a:tr h="370840">
                <a:tc>
                  <a:txBody>
                    <a:bodyPr/>
                    <a:lstStyle/>
                    <a:p>
                      <a:r>
                        <a:rPr lang="tr-TR" dirty="0" err="1"/>
                        <a:t>Subscriptions</a:t>
                      </a:r>
                      <a:endParaRPr lang="tr-TR" dirty="0"/>
                    </a:p>
                  </a:txBody>
                  <a:tcPr/>
                </a:tc>
                <a:tc>
                  <a:txBody>
                    <a:bodyPr/>
                    <a:lstStyle/>
                    <a:p>
                      <a:r>
                        <a:rPr lang="tr-TR" dirty="0" err="1"/>
                        <a:t>buyer_id</a:t>
                      </a:r>
                      <a:endParaRPr lang="tr-TR" dirty="0"/>
                    </a:p>
                  </a:txBody>
                  <a:tcPr/>
                </a:tc>
                <a:tc>
                  <a:txBody>
                    <a:bodyPr/>
                    <a:lstStyle/>
                    <a:p>
                      <a:r>
                        <a:rPr lang="tr-TR" dirty="0" err="1"/>
                        <a:t>Users</a:t>
                      </a:r>
                      <a:endParaRPr lang="tr-TR" dirty="0"/>
                    </a:p>
                  </a:txBody>
                  <a:tcPr/>
                </a:tc>
                <a:tc>
                  <a:txBody>
                    <a:bodyPr/>
                    <a:lstStyle/>
                    <a:p>
                      <a:r>
                        <a:rPr lang="tr-TR" dirty="0" err="1"/>
                        <a:t>user_id</a:t>
                      </a:r>
                      <a:endParaRPr lang="tr-TR" dirty="0"/>
                    </a:p>
                  </a:txBody>
                  <a:tcPr/>
                </a:tc>
                <a:extLst>
                  <a:ext uri="{0D108BD9-81ED-4DB2-BD59-A6C34878D82A}">
                    <a16:rowId xmlns:a16="http://schemas.microsoft.com/office/drawing/2014/main" val="1970907634"/>
                  </a:ext>
                </a:extLst>
              </a:tr>
              <a:tr h="370840">
                <a:tc>
                  <a:txBody>
                    <a:bodyPr/>
                    <a:lstStyle/>
                    <a:p>
                      <a:r>
                        <a:rPr lang="tr-TR" dirty="0" err="1"/>
                        <a:t>Subscriptions</a:t>
                      </a:r>
                      <a:endParaRPr lang="tr-TR" dirty="0"/>
                    </a:p>
                  </a:txBody>
                  <a:tcPr/>
                </a:tc>
                <a:tc>
                  <a:txBody>
                    <a:bodyPr/>
                    <a:lstStyle/>
                    <a:p>
                      <a:r>
                        <a:rPr lang="tr-TR" dirty="0" err="1"/>
                        <a:t>product_id</a:t>
                      </a:r>
                      <a:endParaRPr lang="tr-TR" dirty="0"/>
                    </a:p>
                  </a:txBody>
                  <a:tcPr/>
                </a:tc>
                <a:tc>
                  <a:txBody>
                    <a:bodyPr/>
                    <a:lstStyle/>
                    <a:p>
                      <a:r>
                        <a:rPr lang="tr-TR" dirty="0" err="1"/>
                        <a:t>Products</a:t>
                      </a:r>
                      <a:endParaRPr lang="tr-TR" dirty="0"/>
                    </a:p>
                  </a:txBody>
                  <a:tcPr/>
                </a:tc>
                <a:tc>
                  <a:txBody>
                    <a:bodyPr/>
                    <a:lstStyle/>
                    <a:p>
                      <a:r>
                        <a:rPr lang="tr-TR" dirty="0" err="1"/>
                        <a:t>product_id</a:t>
                      </a:r>
                      <a:endParaRPr lang="tr-TR" dirty="0"/>
                    </a:p>
                  </a:txBody>
                  <a:tcPr/>
                </a:tc>
                <a:extLst>
                  <a:ext uri="{0D108BD9-81ED-4DB2-BD59-A6C34878D82A}">
                    <a16:rowId xmlns:a16="http://schemas.microsoft.com/office/drawing/2014/main" val="3128221845"/>
                  </a:ext>
                </a:extLst>
              </a:tr>
              <a:tr h="370840">
                <a:tc>
                  <a:txBody>
                    <a:bodyPr/>
                    <a:lstStyle/>
                    <a:p>
                      <a:r>
                        <a:rPr lang="tr-TR" dirty="0" err="1"/>
                        <a:t>Payments</a:t>
                      </a:r>
                      <a:endParaRPr lang="tr-TR" dirty="0"/>
                    </a:p>
                  </a:txBody>
                  <a:tcPr/>
                </a:tc>
                <a:tc>
                  <a:txBody>
                    <a:bodyPr/>
                    <a:lstStyle/>
                    <a:p>
                      <a:r>
                        <a:rPr lang="tr-TR" dirty="0" err="1"/>
                        <a:t>subscription_id</a:t>
                      </a:r>
                      <a:endParaRPr lang="tr-TR" dirty="0"/>
                    </a:p>
                  </a:txBody>
                  <a:tcPr/>
                </a:tc>
                <a:tc>
                  <a:txBody>
                    <a:bodyPr/>
                    <a:lstStyle/>
                    <a:p>
                      <a:r>
                        <a:rPr lang="tr-TR" dirty="0" err="1"/>
                        <a:t>Subscriptions</a:t>
                      </a:r>
                      <a:endParaRPr lang="tr-TR" dirty="0"/>
                    </a:p>
                  </a:txBody>
                  <a:tcPr/>
                </a:tc>
                <a:tc>
                  <a:txBody>
                    <a:bodyPr/>
                    <a:lstStyle/>
                    <a:p>
                      <a:r>
                        <a:rPr lang="tr-TR" dirty="0" err="1"/>
                        <a:t>subscription_id</a:t>
                      </a:r>
                      <a:endParaRPr lang="tr-TR" dirty="0"/>
                    </a:p>
                  </a:txBody>
                  <a:tcPr/>
                </a:tc>
                <a:extLst>
                  <a:ext uri="{0D108BD9-81ED-4DB2-BD59-A6C34878D82A}">
                    <a16:rowId xmlns:a16="http://schemas.microsoft.com/office/drawing/2014/main" val="1744589537"/>
                  </a:ext>
                </a:extLst>
              </a:tr>
              <a:tr h="370840">
                <a:tc>
                  <a:txBody>
                    <a:bodyPr/>
                    <a:lstStyle/>
                    <a:p>
                      <a:r>
                        <a:rPr lang="tr-TR" dirty="0" err="1"/>
                        <a:t>Reviews</a:t>
                      </a:r>
                      <a:endParaRPr lang="tr-TR" dirty="0"/>
                    </a:p>
                  </a:txBody>
                  <a:tcPr/>
                </a:tc>
                <a:tc>
                  <a:txBody>
                    <a:bodyPr/>
                    <a:lstStyle/>
                    <a:p>
                      <a:r>
                        <a:rPr lang="tr-TR" dirty="0" err="1"/>
                        <a:t>product_id</a:t>
                      </a:r>
                      <a:endParaRPr lang="tr-TR" dirty="0"/>
                    </a:p>
                  </a:txBody>
                  <a:tcPr/>
                </a:tc>
                <a:tc>
                  <a:txBody>
                    <a:bodyPr/>
                    <a:lstStyle/>
                    <a:p>
                      <a:r>
                        <a:rPr lang="tr-TR" dirty="0" err="1"/>
                        <a:t>Products</a:t>
                      </a:r>
                      <a:endParaRPr lang="tr-TR" dirty="0"/>
                    </a:p>
                  </a:txBody>
                  <a:tcPr/>
                </a:tc>
                <a:tc>
                  <a:txBody>
                    <a:bodyPr/>
                    <a:lstStyle/>
                    <a:p>
                      <a:r>
                        <a:rPr lang="tr-TR" dirty="0" err="1"/>
                        <a:t>product_id</a:t>
                      </a:r>
                      <a:endParaRPr lang="tr-TR" dirty="0"/>
                    </a:p>
                  </a:txBody>
                  <a:tcPr/>
                </a:tc>
                <a:extLst>
                  <a:ext uri="{0D108BD9-81ED-4DB2-BD59-A6C34878D82A}">
                    <a16:rowId xmlns:a16="http://schemas.microsoft.com/office/drawing/2014/main" val="3182215368"/>
                  </a:ext>
                </a:extLst>
              </a:tr>
              <a:tr h="370840">
                <a:tc>
                  <a:txBody>
                    <a:bodyPr/>
                    <a:lstStyle/>
                    <a:p>
                      <a:r>
                        <a:rPr lang="tr-TR" dirty="0" err="1"/>
                        <a:t>Reviews</a:t>
                      </a:r>
                      <a:endParaRPr lang="tr-TR" dirty="0"/>
                    </a:p>
                  </a:txBody>
                  <a:tcPr/>
                </a:tc>
                <a:tc>
                  <a:txBody>
                    <a:bodyPr/>
                    <a:lstStyle/>
                    <a:p>
                      <a:r>
                        <a:rPr lang="tr-TR" dirty="0" err="1"/>
                        <a:t>buyer_id</a:t>
                      </a:r>
                      <a:endParaRPr lang="tr-TR" dirty="0"/>
                    </a:p>
                  </a:txBody>
                  <a:tcPr/>
                </a:tc>
                <a:tc>
                  <a:txBody>
                    <a:bodyPr/>
                    <a:lstStyle/>
                    <a:p>
                      <a:r>
                        <a:rPr lang="tr-TR" dirty="0" err="1"/>
                        <a:t>Users</a:t>
                      </a:r>
                      <a:endParaRPr lang="tr-TR" dirty="0"/>
                    </a:p>
                  </a:txBody>
                  <a:tcPr/>
                </a:tc>
                <a:tc>
                  <a:txBody>
                    <a:bodyPr/>
                    <a:lstStyle/>
                    <a:p>
                      <a:r>
                        <a:rPr lang="tr-TR" dirty="0" err="1"/>
                        <a:t>user_id</a:t>
                      </a:r>
                      <a:endParaRPr lang="tr-TR" dirty="0"/>
                    </a:p>
                  </a:txBody>
                  <a:tcPr/>
                </a:tc>
                <a:extLst>
                  <a:ext uri="{0D108BD9-81ED-4DB2-BD59-A6C34878D82A}">
                    <a16:rowId xmlns:a16="http://schemas.microsoft.com/office/drawing/2014/main" val="3187879956"/>
                  </a:ext>
                </a:extLst>
              </a:tr>
              <a:tr h="370840">
                <a:tc>
                  <a:txBody>
                    <a:bodyPr/>
                    <a:lstStyle/>
                    <a:p>
                      <a:r>
                        <a:rPr lang="tr-TR" dirty="0" err="1"/>
                        <a:t>Seller_Payouts</a:t>
                      </a:r>
                      <a:endParaRPr lang="tr-TR" dirty="0"/>
                    </a:p>
                  </a:txBody>
                  <a:tcPr/>
                </a:tc>
                <a:tc>
                  <a:txBody>
                    <a:bodyPr/>
                    <a:lstStyle/>
                    <a:p>
                      <a:r>
                        <a:rPr lang="tr-TR" dirty="0" err="1"/>
                        <a:t>seller_id</a:t>
                      </a:r>
                      <a:endParaRPr lang="tr-TR" dirty="0"/>
                    </a:p>
                  </a:txBody>
                  <a:tcPr/>
                </a:tc>
                <a:tc>
                  <a:txBody>
                    <a:bodyPr/>
                    <a:lstStyle/>
                    <a:p>
                      <a:r>
                        <a:rPr lang="tr-TR" dirty="0" err="1"/>
                        <a:t>Users</a:t>
                      </a:r>
                      <a:endParaRPr lang="tr-TR" dirty="0"/>
                    </a:p>
                  </a:txBody>
                  <a:tcPr/>
                </a:tc>
                <a:tc>
                  <a:txBody>
                    <a:bodyPr/>
                    <a:lstStyle/>
                    <a:p>
                      <a:r>
                        <a:rPr lang="tr-TR" dirty="0" err="1"/>
                        <a:t>user_id</a:t>
                      </a:r>
                      <a:endParaRPr lang="tr-TR" dirty="0"/>
                    </a:p>
                  </a:txBody>
                  <a:tcPr/>
                </a:tc>
                <a:extLst>
                  <a:ext uri="{0D108BD9-81ED-4DB2-BD59-A6C34878D82A}">
                    <a16:rowId xmlns:a16="http://schemas.microsoft.com/office/drawing/2014/main" val="983264352"/>
                  </a:ext>
                </a:extLst>
              </a:tr>
            </a:tbl>
          </a:graphicData>
        </a:graphic>
      </p:graphicFrame>
    </p:spTree>
    <p:extLst>
      <p:ext uri="{BB962C8B-B14F-4D97-AF65-F5344CB8AC3E}">
        <p14:creationId xmlns:p14="http://schemas.microsoft.com/office/powerpoint/2010/main" val="4246297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mage.png">
            <a:extLst>
              <a:ext uri="{FF2B5EF4-FFF2-40B4-BE49-F238E27FC236}">
                <a16:creationId xmlns:a16="http://schemas.microsoft.com/office/drawing/2014/main" id="{1D298892-F6E7-78A2-33A1-1DA8A0673A99}"/>
              </a:ext>
            </a:extLst>
          </p:cNvPr>
          <p:cNvPicPr>
            <a:picLocks noChangeAspect="1"/>
          </p:cNvPicPr>
          <p:nvPr/>
        </p:nvPicPr>
        <p:blipFill>
          <a:blip r:embed="rId2"/>
          <a:stretch>
            <a:fillRect/>
          </a:stretch>
        </p:blipFill>
        <p:spPr>
          <a:xfrm>
            <a:off x="950976" y="438912"/>
            <a:ext cx="10290048" cy="6431280"/>
          </a:xfrm>
          <a:prstGeom prst="rect">
            <a:avLst/>
          </a:prstGeom>
        </p:spPr>
      </p:pic>
      <p:sp>
        <p:nvSpPr>
          <p:cNvPr id="2" name="Title 1"/>
          <p:cNvSpPr>
            <a:spLocks noGrp="1"/>
          </p:cNvSpPr>
          <p:nvPr>
            <p:ph type="title"/>
          </p:nvPr>
        </p:nvSpPr>
        <p:spPr>
          <a:xfrm>
            <a:off x="304004" y="21944"/>
            <a:ext cx="10515600" cy="833935"/>
          </a:xfrm>
        </p:spPr>
        <p:txBody>
          <a:bodyPr/>
          <a:lstStyle/>
          <a:p>
            <a:r>
              <a:rPr lang="en-US" b="1" dirty="0"/>
              <a:t>ER-Diagram</a:t>
            </a:r>
          </a:p>
        </p:txBody>
      </p:sp>
    </p:spTree>
    <p:extLst>
      <p:ext uri="{BB962C8B-B14F-4D97-AF65-F5344CB8AC3E}">
        <p14:creationId xmlns:p14="http://schemas.microsoft.com/office/powerpoint/2010/main" val="3917601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en-US" b="1"/>
              <a:t>DDL QUERIES</a:t>
            </a:r>
            <a:endParaRPr/>
          </a:p>
        </p:txBody>
      </p:sp>
      <p:sp>
        <p:nvSpPr>
          <p:cNvPr id="92" name="Google Shape;92;p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r>
              <a:rPr lang="en-US" b="1"/>
              <a:t>Instructions:</a:t>
            </a:r>
            <a:endParaRPr/>
          </a:p>
          <a:p>
            <a:pPr marL="0" lvl="0" indent="0" algn="l" rtl="0">
              <a:lnSpc>
                <a:spcPct val="90000"/>
              </a:lnSpc>
              <a:spcBef>
                <a:spcPts val="1000"/>
              </a:spcBef>
              <a:spcAft>
                <a:spcPts val="0"/>
              </a:spcAft>
              <a:buClr>
                <a:srgbClr val="888888"/>
              </a:buClr>
              <a:buSzPts val="2400"/>
              <a:buNone/>
            </a:pPr>
            <a:r>
              <a:rPr lang="en-US" i="1"/>
              <a:t>- must include </a:t>
            </a:r>
            <a:r>
              <a:rPr lang="en-US" b="1" i="1">
                <a:solidFill>
                  <a:srgbClr val="FF0000"/>
                </a:solidFill>
              </a:rPr>
              <a:t>ALL</a:t>
            </a:r>
            <a:r>
              <a:rPr lang="en-US" i="1"/>
              <a:t> queries listed in Queries.sql </a:t>
            </a:r>
            <a:endParaRPr/>
          </a:p>
          <a:p>
            <a:pPr marL="0" lvl="0" indent="0" algn="l" rtl="0">
              <a:lnSpc>
                <a:spcPct val="90000"/>
              </a:lnSpc>
              <a:spcBef>
                <a:spcPts val="1000"/>
              </a:spcBef>
              <a:spcAft>
                <a:spcPts val="0"/>
              </a:spcAft>
              <a:buClr>
                <a:srgbClr val="888888"/>
              </a:buClr>
              <a:buSzPts val="2400"/>
              <a:buNone/>
            </a:pPr>
            <a:r>
              <a:rPr lang="en-US" i="1"/>
              <a:t>- must follow the </a:t>
            </a:r>
            <a:r>
              <a:rPr lang="en-US" b="1" i="1"/>
              <a:t>exact</a:t>
            </a:r>
            <a:r>
              <a:rPr lang="en-US" i="1"/>
              <a:t> format provided in the template slide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txBox="1">
            <a:spLocks noGrp="1"/>
          </p:cNvSpPr>
          <p:nvPr>
            <p:ph type="title"/>
          </p:nvPr>
        </p:nvSpPr>
        <p:spPr>
          <a:xfrm>
            <a:off x="176893" y="152854"/>
            <a:ext cx="4455068" cy="443139"/>
          </a:xfrm>
          <a:prstGeom prst="rect">
            <a:avLst/>
          </a:prstGeom>
          <a:noFill/>
          <a:ln>
            <a:noFill/>
          </a:ln>
        </p:spPr>
        <p:txBody>
          <a:bodyPr spcFirstLastPara="1" wrap="square" lIns="91425" tIns="45700" rIns="91425" bIns="45700" anchor="ctr" anchorCtr="0">
            <a:noAutofit/>
          </a:bodyPr>
          <a:lstStyle/>
          <a:p>
            <a:pPr>
              <a:buSzPct val="100000"/>
            </a:pPr>
            <a:r>
              <a:rPr lang="en-US" sz="4000" dirty="0"/>
              <a:t>QD1: CREATE TABLE</a:t>
            </a:r>
            <a:endParaRPr sz="4800" dirty="0"/>
          </a:p>
        </p:txBody>
      </p:sp>
      <p:sp>
        <p:nvSpPr>
          <p:cNvPr id="98" name="Google Shape;98;p3"/>
          <p:cNvSpPr txBox="1">
            <a:spLocks noGrp="1"/>
          </p:cNvSpPr>
          <p:nvPr>
            <p:ph type="body" idx="1"/>
          </p:nvPr>
        </p:nvSpPr>
        <p:spPr>
          <a:xfrm>
            <a:off x="119741" y="2334985"/>
            <a:ext cx="4631873" cy="4318907"/>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solidFill>
                  <a:schemeClr val="dk1"/>
                </a:solidFill>
                <a:latin typeface="Calibri"/>
                <a:ea typeface="Calibri"/>
                <a:cs typeface="Calibri"/>
                <a:sym typeface="Calibri"/>
              </a:rPr>
              <a:t>SQL Query:</a:t>
            </a:r>
            <a:br>
              <a:rPr lang="en-US">
                <a:solidFill>
                  <a:schemeClr val="dk1"/>
                </a:solidFill>
                <a:latin typeface="Calibri"/>
                <a:ea typeface="Calibri"/>
                <a:cs typeface="Calibri"/>
                <a:sym typeface="Calibri"/>
              </a:rPr>
            </a:br>
            <a:br>
              <a:rPr lang="en-US">
                <a:solidFill>
                  <a:schemeClr val="dk1"/>
                </a:solidFill>
                <a:latin typeface="Calibri"/>
                <a:ea typeface="Calibri"/>
                <a:cs typeface="Calibri"/>
                <a:sym typeface="Calibri"/>
              </a:rPr>
            </a:br>
            <a:r>
              <a:rPr lang="en-US" sz="2200">
                <a:solidFill>
                  <a:schemeClr val="dk1"/>
                </a:solidFill>
                <a:latin typeface="Calibri"/>
                <a:ea typeface="Calibri"/>
                <a:cs typeface="Calibri"/>
                <a:sym typeface="Calibri"/>
              </a:rPr>
              <a:t>CREATE DATABASE AIMarketplace;</a:t>
            </a:r>
            <a:endParaRPr sz="2200">
              <a:solidFill>
                <a:schemeClr val="dk1"/>
              </a:solidFill>
              <a:latin typeface="Calibri"/>
              <a:ea typeface="Calibri"/>
              <a:cs typeface="Calibri"/>
              <a:sym typeface="Calibri"/>
            </a:endParaRPr>
          </a:p>
          <a:p>
            <a:pPr marL="228600" lvl="0" indent="0" algn="l" rtl="0">
              <a:spcBef>
                <a:spcPts val="0"/>
              </a:spcBef>
              <a:spcAft>
                <a:spcPts val="0"/>
              </a:spcAft>
              <a:buNone/>
            </a:pPr>
            <a:r>
              <a:rPr lang="en-US" sz="2200">
                <a:solidFill>
                  <a:schemeClr val="dk1"/>
                </a:solidFill>
                <a:latin typeface="Calibri"/>
                <a:ea typeface="Calibri"/>
                <a:cs typeface="Calibri"/>
                <a:sym typeface="Calibri"/>
              </a:rPr>
              <a:t>GO</a:t>
            </a:r>
            <a:endParaRPr sz="2200">
              <a:solidFill>
                <a:schemeClr val="dk1"/>
              </a:solidFill>
              <a:latin typeface="Calibri"/>
              <a:ea typeface="Calibri"/>
              <a:cs typeface="Calibri"/>
              <a:sym typeface="Calibri"/>
            </a:endParaRPr>
          </a:p>
          <a:p>
            <a:pPr marL="228600" lvl="0" indent="0" algn="l" rtl="0">
              <a:spcBef>
                <a:spcPts val="0"/>
              </a:spcBef>
              <a:spcAft>
                <a:spcPts val="0"/>
              </a:spcAft>
              <a:buNone/>
            </a:pPr>
            <a:endParaRPr sz="2200">
              <a:solidFill>
                <a:schemeClr val="dk1"/>
              </a:solidFill>
              <a:latin typeface="Calibri"/>
              <a:ea typeface="Calibri"/>
              <a:cs typeface="Calibri"/>
              <a:sym typeface="Calibri"/>
            </a:endParaRPr>
          </a:p>
          <a:p>
            <a:pPr marL="228600" lvl="0" indent="0" algn="l" rtl="0">
              <a:spcBef>
                <a:spcPts val="0"/>
              </a:spcBef>
              <a:spcAft>
                <a:spcPts val="0"/>
              </a:spcAft>
              <a:buNone/>
            </a:pPr>
            <a:r>
              <a:rPr lang="en-US" sz="2200">
                <a:solidFill>
                  <a:schemeClr val="dk1"/>
                </a:solidFill>
                <a:latin typeface="Calibri"/>
                <a:ea typeface="Calibri"/>
                <a:cs typeface="Calibri"/>
                <a:sym typeface="Calibri"/>
              </a:rPr>
              <a:t>USE AIMarketplace;</a:t>
            </a:r>
            <a:endParaRPr sz="2200">
              <a:solidFill>
                <a:schemeClr val="dk1"/>
              </a:solidFill>
              <a:latin typeface="Calibri"/>
              <a:ea typeface="Calibri"/>
              <a:cs typeface="Calibri"/>
              <a:sym typeface="Calibri"/>
            </a:endParaRPr>
          </a:p>
          <a:p>
            <a:pPr marL="228600" lvl="0" indent="0" algn="l" rtl="0">
              <a:spcBef>
                <a:spcPts val="0"/>
              </a:spcBef>
              <a:spcAft>
                <a:spcPts val="0"/>
              </a:spcAft>
              <a:buNone/>
            </a:pPr>
            <a:r>
              <a:rPr lang="en-US" sz="2200">
                <a:solidFill>
                  <a:schemeClr val="dk1"/>
                </a:solidFill>
                <a:latin typeface="Calibri"/>
                <a:ea typeface="Calibri"/>
                <a:cs typeface="Calibri"/>
                <a:sym typeface="Calibri"/>
              </a:rPr>
              <a:t>GO</a:t>
            </a:r>
            <a:endParaRPr sz="2200">
              <a:solidFill>
                <a:schemeClr val="dk1"/>
              </a:solidFill>
              <a:latin typeface="Calibri"/>
              <a:ea typeface="Calibri"/>
              <a:cs typeface="Calibri"/>
              <a:sym typeface="Calibri"/>
            </a:endParaRPr>
          </a:p>
          <a:p>
            <a:pPr marL="228600" lvl="0" indent="0" algn="l" rtl="0">
              <a:lnSpc>
                <a:spcPct val="90000"/>
              </a:lnSpc>
              <a:spcBef>
                <a:spcPts val="0"/>
              </a:spcBef>
              <a:spcAft>
                <a:spcPts val="0"/>
              </a:spcAft>
              <a:buNone/>
            </a:pPr>
            <a:endParaRPr/>
          </a:p>
        </p:txBody>
      </p:sp>
      <p:sp>
        <p:nvSpPr>
          <p:cNvPr id="99" name="Google Shape;99;p3"/>
          <p:cNvSpPr/>
          <p:nvPr/>
        </p:nvSpPr>
        <p:spPr>
          <a:xfrm>
            <a:off x="4751625" y="912550"/>
            <a:ext cx="7307700" cy="4962000"/>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00" name="Google Shape;100;p3"/>
          <p:cNvSpPr/>
          <p:nvPr/>
        </p:nvSpPr>
        <p:spPr>
          <a:xfrm>
            <a:off x="4955721" y="166953"/>
            <a:ext cx="302037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Snapshot of the query output:</a:t>
            </a:r>
            <a:endParaRPr/>
          </a:p>
        </p:txBody>
      </p:sp>
      <p:sp>
        <p:nvSpPr>
          <p:cNvPr id="101" name="Google Shape;101;p3"/>
          <p:cNvSpPr txBox="1"/>
          <p:nvPr/>
        </p:nvSpPr>
        <p:spPr>
          <a:xfrm>
            <a:off x="119741" y="759278"/>
            <a:ext cx="4631873" cy="1492431"/>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Description: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br>
              <a:rPr lang="en-US" sz="1800" dirty="0">
                <a:solidFill>
                  <a:schemeClr val="dk1"/>
                </a:solidFill>
                <a:latin typeface="Calibri"/>
                <a:ea typeface="Calibri"/>
                <a:cs typeface="Calibri"/>
                <a:sym typeface="Calibri"/>
              </a:rPr>
            </a:br>
            <a:r>
              <a:rPr lang="en-US" sz="1800" dirty="0">
                <a:solidFill>
                  <a:schemeClr val="dk1"/>
                </a:solidFill>
                <a:latin typeface="Calibri"/>
                <a:ea typeface="Calibri"/>
                <a:cs typeface="Calibri"/>
                <a:sym typeface="Calibri"/>
              </a:rPr>
              <a:t>Create and select the database</a:t>
            </a:r>
            <a:endParaRPr dirty="0"/>
          </a:p>
        </p:txBody>
      </p:sp>
      <p:pic>
        <p:nvPicPr>
          <p:cNvPr id="102" name="Google Shape;102;p3"/>
          <p:cNvPicPr preferRelativeResize="0"/>
          <p:nvPr/>
        </p:nvPicPr>
        <p:blipFill>
          <a:blip r:embed="rId3">
            <a:alphaModFix/>
          </a:blip>
          <a:stretch>
            <a:fillRect/>
          </a:stretch>
        </p:blipFill>
        <p:spPr>
          <a:xfrm>
            <a:off x="4751626" y="912550"/>
            <a:ext cx="7307699" cy="5032899"/>
          </a:xfrm>
          <a:prstGeom prst="rect">
            <a:avLst/>
          </a:prstGeom>
          <a:solidFill>
            <a:schemeClr val="lt1"/>
          </a:solidFill>
          <a:ln w="12700" cap="flat" cmpd="sng">
            <a:solidFill>
              <a:schemeClr val="accent4"/>
            </a:solidFill>
            <a:prstDash val="solid"/>
            <a:miter lim="8000"/>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3d356e2efa7_0_11"/>
          <p:cNvSpPr txBox="1">
            <a:spLocks noGrp="1"/>
          </p:cNvSpPr>
          <p:nvPr>
            <p:ph type="title"/>
          </p:nvPr>
        </p:nvSpPr>
        <p:spPr>
          <a:xfrm>
            <a:off x="176892" y="152854"/>
            <a:ext cx="4395107" cy="443100"/>
          </a:xfrm>
          <a:prstGeom prst="rect">
            <a:avLst/>
          </a:prstGeom>
          <a:noFill/>
          <a:ln>
            <a:noFill/>
          </a:ln>
        </p:spPr>
        <p:txBody>
          <a:bodyPr spcFirstLastPara="1" wrap="square" lIns="91425" tIns="45700" rIns="91425" bIns="45700" anchor="ctr" anchorCtr="0">
            <a:noAutofit/>
          </a:bodyPr>
          <a:lstStyle/>
          <a:p>
            <a:pPr>
              <a:buSzPct val="100000"/>
            </a:pPr>
            <a:r>
              <a:rPr lang="en-US" sz="4000" dirty="0"/>
              <a:t>QD1: CREATE TABLE</a:t>
            </a:r>
            <a:endParaRPr sz="4000" dirty="0"/>
          </a:p>
        </p:txBody>
      </p:sp>
      <p:sp>
        <p:nvSpPr>
          <p:cNvPr id="108" name="Google Shape;108;g3d356e2efa7_0_11"/>
          <p:cNvSpPr txBox="1">
            <a:spLocks noGrp="1"/>
          </p:cNvSpPr>
          <p:nvPr>
            <p:ph type="body" idx="1"/>
          </p:nvPr>
        </p:nvSpPr>
        <p:spPr>
          <a:xfrm>
            <a:off x="119741" y="2334985"/>
            <a:ext cx="4632000" cy="4318800"/>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45700" rIns="91425" bIns="45700" anchor="t" anchorCtr="0">
            <a:normAutofit fontScale="55000" lnSpcReduction="20000"/>
          </a:bodyPr>
          <a:lstStyle/>
          <a:p>
            <a:pPr marL="228600" lvl="0" indent="-388620" algn="l" rtl="0">
              <a:lnSpc>
                <a:spcPct val="90000"/>
              </a:lnSpc>
              <a:spcBef>
                <a:spcPts val="0"/>
              </a:spcBef>
              <a:spcAft>
                <a:spcPts val="0"/>
              </a:spcAft>
              <a:buClr>
                <a:schemeClr val="dk1"/>
              </a:buClr>
              <a:buSzPct val="100000"/>
              <a:buChar char="•"/>
            </a:pPr>
            <a:r>
              <a:rPr lang="en-US" sz="6700" dirty="0">
                <a:solidFill>
                  <a:schemeClr val="dk1"/>
                </a:solidFill>
                <a:latin typeface="Calibri"/>
                <a:ea typeface="Calibri"/>
                <a:cs typeface="Calibri"/>
                <a:sym typeface="Calibri"/>
              </a:rPr>
              <a:t>SQL Query:</a:t>
            </a:r>
            <a:endParaRPr sz="6700" dirty="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dirty="0"/>
          </a:p>
          <a:p>
            <a:pPr marL="0" lvl="0" indent="0" algn="l" rtl="0">
              <a:lnSpc>
                <a:spcPct val="90000"/>
              </a:lnSpc>
              <a:spcBef>
                <a:spcPts val="0"/>
              </a:spcBef>
              <a:spcAft>
                <a:spcPts val="0"/>
              </a:spcAft>
              <a:buNone/>
            </a:pPr>
            <a:endParaRPr dirty="0"/>
          </a:p>
          <a:p>
            <a:pPr marL="0" lvl="0" indent="0" algn="l" rtl="0">
              <a:spcBef>
                <a:spcPts val="0"/>
              </a:spcBef>
              <a:spcAft>
                <a:spcPts val="0"/>
              </a:spcAft>
              <a:buClr>
                <a:schemeClr val="dk1"/>
              </a:buClr>
              <a:buSzPct val="31428"/>
              <a:buFont typeface="Arial"/>
              <a:buNone/>
            </a:pPr>
            <a:r>
              <a:rPr lang="en-US" sz="3500" dirty="0"/>
              <a:t>CREATE TABLE Users (</a:t>
            </a:r>
            <a:endParaRPr sz="3500" dirty="0"/>
          </a:p>
          <a:p>
            <a:pPr marL="0" lvl="0" indent="0" algn="l" rtl="0">
              <a:spcBef>
                <a:spcPts val="0"/>
              </a:spcBef>
              <a:spcAft>
                <a:spcPts val="0"/>
              </a:spcAft>
              <a:buClr>
                <a:schemeClr val="dk1"/>
              </a:buClr>
              <a:buSzPct val="31428"/>
              <a:buFont typeface="Arial"/>
              <a:buNone/>
            </a:pPr>
            <a:r>
              <a:rPr lang="en-US" sz="3500" dirty="0"/>
              <a:t>    </a:t>
            </a:r>
            <a:r>
              <a:rPr lang="en-US" sz="3500" dirty="0" err="1"/>
              <a:t>user_id</a:t>
            </a:r>
            <a:r>
              <a:rPr lang="en-US" sz="3500" dirty="0"/>
              <a:t>            INT           PRIMARY KEY,</a:t>
            </a:r>
            <a:endParaRPr sz="3500" dirty="0"/>
          </a:p>
          <a:p>
            <a:pPr marL="0" lvl="0" indent="0" algn="l" rtl="0">
              <a:spcBef>
                <a:spcPts val="0"/>
              </a:spcBef>
              <a:spcAft>
                <a:spcPts val="0"/>
              </a:spcAft>
              <a:buClr>
                <a:schemeClr val="dk1"/>
              </a:buClr>
              <a:buSzPct val="31428"/>
              <a:buFont typeface="Arial"/>
              <a:buNone/>
            </a:pPr>
            <a:r>
              <a:rPr lang="en-US" sz="3500" dirty="0"/>
              <a:t>    </a:t>
            </a:r>
            <a:r>
              <a:rPr lang="en-US" sz="3500" dirty="0" err="1"/>
              <a:t>first_name</a:t>
            </a:r>
            <a:r>
              <a:rPr lang="en-US" sz="3500" dirty="0"/>
              <a:t>     VARCHAR(50)   NOT NULL,</a:t>
            </a:r>
            <a:endParaRPr sz="3500" dirty="0"/>
          </a:p>
          <a:p>
            <a:pPr marL="0" lvl="0" indent="0" algn="l" rtl="0">
              <a:spcBef>
                <a:spcPts val="0"/>
              </a:spcBef>
              <a:spcAft>
                <a:spcPts val="0"/>
              </a:spcAft>
              <a:buClr>
                <a:schemeClr val="dk1"/>
              </a:buClr>
              <a:buSzPct val="31428"/>
              <a:buFont typeface="Arial"/>
              <a:buNone/>
            </a:pPr>
            <a:r>
              <a:rPr lang="en-US" sz="3500" dirty="0"/>
              <a:t>    </a:t>
            </a:r>
            <a:r>
              <a:rPr lang="en-US" sz="3500" dirty="0" err="1"/>
              <a:t>last_name</a:t>
            </a:r>
            <a:r>
              <a:rPr lang="en-US" sz="3500" dirty="0"/>
              <a:t>      VARCHAR(50)   NOT NULL,</a:t>
            </a:r>
            <a:endParaRPr sz="3500" dirty="0"/>
          </a:p>
          <a:p>
            <a:pPr marL="0" lvl="0" indent="0" algn="l" rtl="0">
              <a:spcBef>
                <a:spcPts val="0"/>
              </a:spcBef>
              <a:spcAft>
                <a:spcPts val="0"/>
              </a:spcAft>
              <a:buClr>
                <a:schemeClr val="dk1"/>
              </a:buClr>
              <a:buSzPct val="31428"/>
              <a:buFont typeface="Arial"/>
              <a:buNone/>
            </a:pPr>
            <a:r>
              <a:rPr lang="en-US" sz="3500" dirty="0"/>
              <a:t>    email               VARCHAR(100)  NOT NULL UNIQUE,</a:t>
            </a:r>
            <a:endParaRPr sz="3500" dirty="0"/>
          </a:p>
          <a:p>
            <a:pPr marL="0" lvl="0" indent="0" algn="l" rtl="0">
              <a:spcBef>
                <a:spcPts val="0"/>
              </a:spcBef>
              <a:spcAft>
                <a:spcPts val="0"/>
              </a:spcAft>
              <a:buClr>
                <a:schemeClr val="dk1"/>
              </a:buClr>
              <a:buSzPct val="31428"/>
              <a:buFont typeface="Arial"/>
              <a:buNone/>
            </a:pPr>
            <a:r>
              <a:rPr lang="en-US" sz="3500" dirty="0"/>
              <a:t>    </a:t>
            </a:r>
            <a:r>
              <a:rPr lang="en-US" sz="3500" dirty="0" err="1"/>
              <a:t>password_hash</a:t>
            </a:r>
            <a:r>
              <a:rPr lang="en-US" sz="3500" dirty="0"/>
              <a:t>  VARCHAR(255)  NOT NULL,</a:t>
            </a:r>
            <a:endParaRPr sz="3500" dirty="0"/>
          </a:p>
          <a:p>
            <a:pPr marL="0" lvl="0" indent="0" algn="l" rtl="0">
              <a:spcBef>
                <a:spcPts val="0"/>
              </a:spcBef>
              <a:spcAft>
                <a:spcPts val="0"/>
              </a:spcAft>
              <a:buClr>
                <a:schemeClr val="dk1"/>
              </a:buClr>
              <a:buSzPct val="31428"/>
              <a:buFont typeface="Arial"/>
              <a:buNone/>
            </a:pPr>
            <a:r>
              <a:rPr lang="en-US" sz="3500" dirty="0"/>
              <a:t>    role                   VARCHAR(10)   NOT NULL,</a:t>
            </a:r>
            <a:endParaRPr sz="3500" dirty="0"/>
          </a:p>
          <a:p>
            <a:pPr marL="0" lvl="0" indent="0" algn="l" rtl="0">
              <a:spcBef>
                <a:spcPts val="0"/>
              </a:spcBef>
              <a:spcAft>
                <a:spcPts val="0"/>
              </a:spcAft>
              <a:buClr>
                <a:schemeClr val="dk1"/>
              </a:buClr>
              <a:buSzPct val="31428"/>
              <a:buFont typeface="Arial"/>
              <a:buNone/>
            </a:pPr>
            <a:r>
              <a:rPr lang="en-US" sz="3500" dirty="0"/>
              <a:t>    </a:t>
            </a:r>
            <a:r>
              <a:rPr lang="en-US" sz="3500" dirty="0" err="1"/>
              <a:t>created_at</a:t>
            </a:r>
            <a:r>
              <a:rPr lang="en-US" sz="3500" dirty="0"/>
              <a:t>       DATETIME      DEFAULT GETDATE(),</a:t>
            </a:r>
            <a:endParaRPr sz="3500" dirty="0"/>
          </a:p>
          <a:p>
            <a:pPr marL="0" lvl="0" indent="0" algn="l" rtl="0">
              <a:spcBef>
                <a:spcPts val="0"/>
              </a:spcBef>
              <a:spcAft>
                <a:spcPts val="0"/>
              </a:spcAft>
              <a:buClr>
                <a:schemeClr val="dk1"/>
              </a:buClr>
              <a:buSzPct val="31428"/>
              <a:buFont typeface="Arial"/>
              <a:buNone/>
            </a:pPr>
            <a:r>
              <a:rPr lang="en-US" sz="3500" dirty="0"/>
              <a:t>    </a:t>
            </a:r>
            <a:r>
              <a:rPr lang="en-US" sz="3500" dirty="0" err="1"/>
              <a:t>account_status</a:t>
            </a:r>
            <a:r>
              <a:rPr lang="en-US" sz="3500" dirty="0"/>
              <a:t> VARCHAR(20)   DEFAULT 'active'</a:t>
            </a:r>
            <a:endParaRPr sz="3500" dirty="0"/>
          </a:p>
          <a:p>
            <a:pPr marL="0" lvl="0" indent="0" algn="l" rtl="0">
              <a:spcBef>
                <a:spcPts val="0"/>
              </a:spcBef>
              <a:spcAft>
                <a:spcPts val="0"/>
              </a:spcAft>
              <a:buClr>
                <a:schemeClr val="dk1"/>
              </a:buClr>
              <a:buSzPct val="31428"/>
              <a:buFont typeface="Arial"/>
              <a:buNone/>
            </a:pPr>
            <a:r>
              <a:rPr lang="en-US" sz="3500" dirty="0"/>
              <a:t>);</a:t>
            </a:r>
            <a:endParaRPr sz="3500" dirty="0"/>
          </a:p>
          <a:p>
            <a:pPr marL="0" lvl="0" indent="0" algn="l" rtl="0">
              <a:spcBef>
                <a:spcPts val="0"/>
              </a:spcBef>
              <a:spcAft>
                <a:spcPts val="0"/>
              </a:spcAft>
              <a:buClr>
                <a:schemeClr val="dk1"/>
              </a:buClr>
              <a:buSzPct val="31428"/>
              <a:buFont typeface="Arial"/>
              <a:buNone/>
            </a:pPr>
            <a:r>
              <a:rPr lang="en-US" sz="3500" dirty="0"/>
              <a:t>GO</a:t>
            </a:r>
            <a:endParaRPr sz="3500" dirty="0"/>
          </a:p>
          <a:p>
            <a:pPr marL="0" lvl="0" indent="0" algn="l" rtl="0">
              <a:lnSpc>
                <a:spcPct val="90000"/>
              </a:lnSpc>
              <a:spcBef>
                <a:spcPts val="0"/>
              </a:spcBef>
              <a:spcAft>
                <a:spcPts val="0"/>
              </a:spcAft>
              <a:buNone/>
            </a:pPr>
            <a:br>
              <a:rPr lang="en-US" dirty="0">
                <a:solidFill>
                  <a:schemeClr val="dk1"/>
                </a:solidFill>
                <a:latin typeface="Calibri"/>
                <a:ea typeface="Calibri"/>
                <a:cs typeface="Calibri"/>
                <a:sym typeface="Calibri"/>
              </a:rPr>
            </a:br>
            <a:br>
              <a:rPr lang="en-US" dirty="0">
                <a:solidFill>
                  <a:schemeClr val="dk1"/>
                </a:solidFill>
                <a:latin typeface="Calibri"/>
                <a:ea typeface="Calibri"/>
                <a:cs typeface="Calibri"/>
                <a:sym typeface="Calibri"/>
              </a:rPr>
            </a:br>
            <a:endParaRPr sz="2200" dirty="0">
              <a:solidFill>
                <a:schemeClr val="dk1"/>
              </a:solidFill>
              <a:latin typeface="Calibri"/>
              <a:ea typeface="Calibri"/>
              <a:cs typeface="Calibri"/>
              <a:sym typeface="Calibri"/>
            </a:endParaRPr>
          </a:p>
          <a:p>
            <a:pPr marL="228600" lvl="0" indent="0" algn="l" rtl="0">
              <a:lnSpc>
                <a:spcPct val="90000"/>
              </a:lnSpc>
              <a:spcBef>
                <a:spcPts val="0"/>
              </a:spcBef>
              <a:spcAft>
                <a:spcPts val="0"/>
              </a:spcAft>
              <a:buNone/>
            </a:pPr>
            <a:endParaRPr dirty="0"/>
          </a:p>
        </p:txBody>
      </p:sp>
      <p:sp>
        <p:nvSpPr>
          <p:cNvPr id="109" name="Google Shape;109;g3d356e2efa7_0_11"/>
          <p:cNvSpPr/>
          <p:nvPr/>
        </p:nvSpPr>
        <p:spPr>
          <a:xfrm>
            <a:off x="4751625" y="912550"/>
            <a:ext cx="7307700" cy="4962000"/>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10" name="Google Shape;110;g3d356e2efa7_0_11"/>
          <p:cNvSpPr/>
          <p:nvPr/>
        </p:nvSpPr>
        <p:spPr>
          <a:xfrm>
            <a:off x="4955721" y="166953"/>
            <a:ext cx="30204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Snapshot of the query output:</a:t>
            </a:r>
            <a:endParaRPr/>
          </a:p>
        </p:txBody>
      </p:sp>
      <p:sp>
        <p:nvSpPr>
          <p:cNvPr id="111" name="Google Shape;111;g3d356e2efa7_0_11"/>
          <p:cNvSpPr txBox="1"/>
          <p:nvPr/>
        </p:nvSpPr>
        <p:spPr>
          <a:xfrm>
            <a:off x="119741" y="759278"/>
            <a:ext cx="4632000" cy="1492500"/>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Description: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Create User  for the AI Marketplace Platform.</a:t>
            </a:r>
            <a:br>
              <a:rPr lang="en-US" sz="1800" dirty="0">
                <a:solidFill>
                  <a:schemeClr val="dk1"/>
                </a:solidFill>
                <a:latin typeface="Calibri"/>
                <a:ea typeface="Calibri"/>
                <a:cs typeface="Calibri"/>
                <a:sym typeface="Calibri"/>
              </a:rPr>
            </a:br>
            <a:endParaRPr dirty="0"/>
          </a:p>
        </p:txBody>
      </p:sp>
      <p:pic>
        <p:nvPicPr>
          <p:cNvPr id="112" name="Google Shape;112;g3d356e2efa7_0_11"/>
          <p:cNvPicPr preferRelativeResize="0"/>
          <p:nvPr/>
        </p:nvPicPr>
        <p:blipFill>
          <a:blip r:embed="rId3">
            <a:alphaModFix/>
          </a:blip>
          <a:stretch>
            <a:fillRect/>
          </a:stretch>
        </p:blipFill>
        <p:spPr>
          <a:xfrm>
            <a:off x="4751625" y="958050"/>
            <a:ext cx="7459499" cy="4962000"/>
          </a:xfrm>
          <a:prstGeom prst="rect">
            <a:avLst/>
          </a:prstGeom>
          <a:solidFill>
            <a:schemeClr val="lt1"/>
          </a:solidFill>
          <a:ln w="12700" cap="flat" cmpd="sng">
            <a:solidFill>
              <a:schemeClr val="accent4"/>
            </a:solidFill>
            <a:prstDash val="solid"/>
            <a:miter lim="8000"/>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3d356e2efa7_0_33"/>
          <p:cNvSpPr txBox="1">
            <a:spLocks noGrp="1"/>
          </p:cNvSpPr>
          <p:nvPr>
            <p:ph type="title"/>
          </p:nvPr>
        </p:nvSpPr>
        <p:spPr>
          <a:xfrm>
            <a:off x="176893" y="152854"/>
            <a:ext cx="4313400" cy="443100"/>
          </a:xfrm>
          <a:prstGeom prst="rect">
            <a:avLst/>
          </a:prstGeom>
          <a:noFill/>
          <a:ln>
            <a:noFill/>
          </a:ln>
        </p:spPr>
        <p:txBody>
          <a:bodyPr spcFirstLastPara="1" wrap="square" lIns="91425" tIns="45700" rIns="91425" bIns="45700" anchor="ctr" anchorCtr="0">
            <a:normAutofit fontScale="90000"/>
          </a:bodyPr>
          <a:lstStyle/>
          <a:p>
            <a:r>
              <a:rPr lang="en-US" dirty="0"/>
              <a:t>QD2: ALTER TABLE</a:t>
            </a:r>
          </a:p>
        </p:txBody>
      </p:sp>
      <p:sp>
        <p:nvSpPr>
          <p:cNvPr id="118" name="Google Shape;118;g3d356e2efa7_0_33"/>
          <p:cNvSpPr txBox="1">
            <a:spLocks noGrp="1"/>
          </p:cNvSpPr>
          <p:nvPr>
            <p:ph type="body" idx="1"/>
          </p:nvPr>
        </p:nvSpPr>
        <p:spPr>
          <a:xfrm>
            <a:off x="119741" y="2334985"/>
            <a:ext cx="4632000" cy="4318800"/>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solidFill>
                  <a:schemeClr val="dk1"/>
                </a:solidFill>
                <a:latin typeface="Calibri"/>
                <a:ea typeface="Calibri"/>
                <a:cs typeface="Calibri"/>
                <a:sym typeface="Calibri"/>
              </a:rPr>
              <a:t>SQL Query:</a:t>
            </a:r>
            <a:br>
              <a:rPr lang="en-US">
                <a:solidFill>
                  <a:schemeClr val="dk1"/>
                </a:solidFill>
                <a:latin typeface="Calibri"/>
                <a:ea typeface="Calibri"/>
                <a:cs typeface="Calibri"/>
                <a:sym typeface="Calibri"/>
              </a:rPr>
            </a:br>
            <a:br>
              <a:rPr lang="en-US">
                <a:solidFill>
                  <a:schemeClr val="dk1"/>
                </a:solidFill>
                <a:latin typeface="Calibri"/>
                <a:ea typeface="Calibri"/>
                <a:cs typeface="Calibri"/>
                <a:sym typeface="Calibri"/>
              </a:rPr>
            </a:br>
            <a:endParaRPr sz="2200">
              <a:solidFill>
                <a:schemeClr val="dk1"/>
              </a:solidFill>
              <a:latin typeface="Calibri"/>
              <a:ea typeface="Calibri"/>
              <a:cs typeface="Calibri"/>
              <a:sym typeface="Calibri"/>
            </a:endParaRPr>
          </a:p>
          <a:p>
            <a:pPr marL="228600" lvl="0" indent="0" algn="l" rtl="0">
              <a:spcBef>
                <a:spcPts val="0"/>
              </a:spcBef>
              <a:spcAft>
                <a:spcPts val="0"/>
              </a:spcAft>
              <a:buNone/>
            </a:pPr>
            <a:r>
              <a:rPr lang="en-US" sz="2200"/>
              <a:t>ALTER TABLE Users</a:t>
            </a:r>
            <a:endParaRPr sz="2200"/>
          </a:p>
          <a:p>
            <a:pPr marL="228600" lvl="0" indent="0" algn="l" rtl="0">
              <a:spcBef>
                <a:spcPts val="0"/>
              </a:spcBef>
              <a:spcAft>
                <a:spcPts val="0"/>
              </a:spcAft>
              <a:buNone/>
            </a:pPr>
            <a:r>
              <a:rPr lang="en-US" sz="2200"/>
              <a:t>ADD phone_number VARCHAR(20) DEFAULT 'N/A';</a:t>
            </a:r>
            <a:endParaRPr sz="2200"/>
          </a:p>
          <a:p>
            <a:pPr marL="228600" lvl="0" indent="0" algn="l" rtl="0">
              <a:spcBef>
                <a:spcPts val="0"/>
              </a:spcBef>
              <a:spcAft>
                <a:spcPts val="0"/>
              </a:spcAft>
              <a:buNone/>
            </a:pPr>
            <a:r>
              <a:rPr lang="en-US" sz="2200"/>
              <a:t>GO</a:t>
            </a:r>
            <a:endParaRPr sz="2200"/>
          </a:p>
          <a:p>
            <a:pPr marL="228600" lvl="0" indent="0" algn="l" rtl="0">
              <a:lnSpc>
                <a:spcPct val="90000"/>
              </a:lnSpc>
              <a:spcBef>
                <a:spcPts val="0"/>
              </a:spcBef>
              <a:spcAft>
                <a:spcPts val="0"/>
              </a:spcAft>
              <a:buNone/>
            </a:pPr>
            <a:endParaRPr sz="2200"/>
          </a:p>
        </p:txBody>
      </p:sp>
      <p:sp>
        <p:nvSpPr>
          <p:cNvPr id="119" name="Google Shape;119;g3d356e2efa7_0_33"/>
          <p:cNvSpPr/>
          <p:nvPr/>
        </p:nvSpPr>
        <p:spPr>
          <a:xfrm>
            <a:off x="4751625" y="912550"/>
            <a:ext cx="7307700" cy="4962000"/>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20" name="Google Shape;120;g3d356e2efa7_0_33"/>
          <p:cNvSpPr/>
          <p:nvPr/>
        </p:nvSpPr>
        <p:spPr>
          <a:xfrm>
            <a:off x="4955721" y="166953"/>
            <a:ext cx="30204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Snapshot of the query output:</a:t>
            </a:r>
            <a:endParaRPr/>
          </a:p>
        </p:txBody>
      </p:sp>
      <p:sp>
        <p:nvSpPr>
          <p:cNvPr id="121" name="Google Shape;121;g3d356e2efa7_0_33"/>
          <p:cNvSpPr txBox="1"/>
          <p:nvPr/>
        </p:nvSpPr>
        <p:spPr>
          <a:xfrm>
            <a:off x="119741" y="759278"/>
            <a:ext cx="4632000" cy="1492500"/>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Description: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Alter User table by Adding a phone_number column to store seller contact information on the platform.</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endParaRPr/>
          </a:p>
        </p:txBody>
      </p:sp>
      <p:pic>
        <p:nvPicPr>
          <p:cNvPr id="122" name="Google Shape;122;g3d356e2efa7_0_33"/>
          <p:cNvPicPr preferRelativeResize="0"/>
          <p:nvPr/>
        </p:nvPicPr>
        <p:blipFill>
          <a:blip r:embed="rId3">
            <a:alphaModFix/>
          </a:blip>
          <a:stretch>
            <a:fillRect/>
          </a:stretch>
        </p:blipFill>
        <p:spPr>
          <a:xfrm>
            <a:off x="4817900" y="912550"/>
            <a:ext cx="7307699" cy="4962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3d356e2efa7_0_49"/>
          <p:cNvSpPr txBox="1">
            <a:spLocks noGrp="1"/>
          </p:cNvSpPr>
          <p:nvPr>
            <p:ph type="title"/>
          </p:nvPr>
        </p:nvSpPr>
        <p:spPr>
          <a:xfrm>
            <a:off x="176893" y="152854"/>
            <a:ext cx="5024694" cy="443100"/>
          </a:xfrm>
          <a:prstGeom prst="rect">
            <a:avLst/>
          </a:prstGeom>
          <a:noFill/>
          <a:ln>
            <a:noFill/>
          </a:ln>
        </p:spPr>
        <p:txBody>
          <a:bodyPr spcFirstLastPara="1" wrap="square" lIns="91425" tIns="45700" rIns="91425" bIns="45700" anchor="ctr" anchorCtr="0">
            <a:noAutofit/>
          </a:bodyPr>
          <a:lstStyle/>
          <a:p>
            <a:r>
              <a:rPr lang="en-US" sz="2400" dirty="0"/>
              <a:t>QD3: ADD "CHECK" CONSTRAINT</a:t>
            </a:r>
          </a:p>
        </p:txBody>
      </p:sp>
      <p:sp>
        <p:nvSpPr>
          <p:cNvPr id="128" name="Google Shape;128;g3d356e2efa7_0_49"/>
          <p:cNvSpPr txBox="1">
            <a:spLocks noGrp="1"/>
          </p:cNvSpPr>
          <p:nvPr>
            <p:ph type="body" idx="1"/>
          </p:nvPr>
        </p:nvSpPr>
        <p:spPr>
          <a:xfrm>
            <a:off x="119741" y="2334985"/>
            <a:ext cx="4632000" cy="4318800"/>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solidFill>
                  <a:schemeClr val="dk1"/>
                </a:solidFill>
                <a:latin typeface="Calibri"/>
                <a:ea typeface="Calibri"/>
                <a:cs typeface="Calibri"/>
                <a:sym typeface="Calibri"/>
              </a:rPr>
              <a:t>SQL Query:</a:t>
            </a:r>
            <a:br>
              <a:rPr lang="en-US">
                <a:solidFill>
                  <a:schemeClr val="dk1"/>
                </a:solidFill>
                <a:latin typeface="Calibri"/>
                <a:ea typeface="Calibri"/>
                <a:cs typeface="Calibri"/>
                <a:sym typeface="Calibri"/>
              </a:rPr>
            </a:br>
            <a:endParaRPr>
              <a:solidFill>
                <a:schemeClr val="dk1"/>
              </a:solidFill>
              <a:latin typeface="Calibri"/>
              <a:ea typeface="Calibri"/>
              <a:cs typeface="Calibri"/>
              <a:sym typeface="Calibri"/>
            </a:endParaRPr>
          </a:p>
          <a:p>
            <a:pPr marL="0" lvl="0" indent="0" algn="l" rtl="0">
              <a:spcBef>
                <a:spcPts val="0"/>
              </a:spcBef>
              <a:spcAft>
                <a:spcPts val="0"/>
              </a:spcAft>
              <a:buNone/>
            </a:pPr>
            <a:r>
              <a:rPr lang="en-US" sz="2600"/>
              <a:t>ALTER TABLE Users</a:t>
            </a:r>
            <a:endParaRPr sz="2600"/>
          </a:p>
          <a:p>
            <a:pPr marL="0" lvl="0" indent="0" algn="l" rtl="0">
              <a:spcBef>
                <a:spcPts val="0"/>
              </a:spcBef>
              <a:spcAft>
                <a:spcPts val="0"/>
              </a:spcAft>
              <a:buNone/>
            </a:pPr>
            <a:r>
              <a:rPr lang="en-US" sz="2600"/>
              <a:t>ADD CONSTRAINT chk_user_role </a:t>
            </a:r>
            <a:endParaRPr sz="2600"/>
          </a:p>
          <a:p>
            <a:pPr marL="0" lvl="0" indent="0" algn="l" rtl="0">
              <a:spcBef>
                <a:spcPts val="0"/>
              </a:spcBef>
              <a:spcAft>
                <a:spcPts val="0"/>
              </a:spcAft>
              <a:buNone/>
            </a:pPr>
            <a:r>
              <a:rPr lang="en-US" sz="2600"/>
              <a:t>CHECK (role IN ('buyer', 'seller'));</a:t>
            </a:r>
            <a:endParaRPr sz="2600"/>
          </a:p>
          <a:p>
            <a:pPr marL="0" lvl="0" indent="0" algn="l" rtl="0">
              <a:spcBef>
                <a:spcPts val="0"/>
              </a:spcBef>
              <a:spcAft>
                <a:spcPts val="0"/>
              </a:spcAft>
              <a:buNone/>
            </a:pPr>
            <a:r>
              <a:rPr lang="en-US" sz="2600"/>
              <a:t>GO</a:t>
            </a:r>
            <a:endParaRPr sz="2600"/>
          </a:p>
          <a:p>
            <a:pPr marL="0" lvl="0" indent="0" algn="l" rtl="0">
              <a:lnSpc>
                <a:spcPct val="90000"/>
              </a:lnSpc>
              <a:spcBef>
                <a:spcPts val="0"/>
              </a:spcBef>
              <a:spcAft>
                <a:spcPts val="0"/>
              </a:spcAft>
              <a:buNone/>
            </a:pPr>
            <a:br>
              <a:rPr lang="en-US">
                <a:solidFill>
                  <a:schemeClr val="dk1"/>
                </a:solidFill>
                <a:latin typeface="Calibri"/>
                <a:ea typeface="Calibri"/>
                <a:cs typeface="Calibri"/>
                <a:sym typeface="Calibri"/>
              </a:rPr>
            </a:br>
            <a:endParaRPr sz="2200">
              <a:solidFill>
                <a:schemeClr val="dk1"/>
              </a:solidFill>
              <a:latin typeface="Calibri"/>
              <a:ea typeface="Calibri"/>
              <a:cs typeface="Calibri"/>
              <a:sym typeface="Calibri"/>
            </a:endParaRPr>
          </a:p>
          <a:p>
            <a:pPr marL="228600" lvl="0" indent="0" algn="l" rtl="0">
              <a:lnSpc>
                <a:spcPct val="90000"/>
              </a:lnSpc>
              <a:spcBef>
                <a:spcPts val="0"/>
              </a:spcBef>
              <a:spcAft>
                <a:spcPts val="0"/>
              </a:spcAft>
              <a:buNone/>
            </a:pPr>
            <a:endParaRPr/>
          </a:p>
        </p:txBody>
      </p:sp>
      <p:sp>
        <p:nvSpPr>
          <p:cNvPr id="129" name="Google Shape;129;g3d356e2efa7_0_49"/>
          <p:cNvSpPr/>
          <p:nvPr/>
        </p:nvSpPr>
        <p:spPr>
          <a:xfrm>
            <a:off x="4751625" y="912550"/>
            <a:ext cx="7307700" cy="4962000"/>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30" name="Google Shape;130;g3d356e2efa7_0_49"/>
          <p:cNvSpPr/>
          <p:nvPr/>
        </p:nvSpPr>
        <p:spPr>
          <a:xfrm>
            <a:off x="4955721" y="166953"/>
            <a:ext cx="30204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Snapshot of the query output:</a:t>
            </a:r>
            <a:endParaRPr/>
          </a:p>
        </p:txBody>
      </p:sp>
      <p:sp>
        <p:nvSpPr>
          <p:cNvPr id="131" name="Google Shape;131;g3d356e2efa7_0_49"/>
          <p:cNvSpPr txBox="1"/>
          <p:nvPr/>
        </p:nvSpPr>
        <p:spPr>
          <a:xfrm>
            <a:off x="119741" y="759278"/>
            <a:ext cx="4632000" cy="1492500"/>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Description: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Check constraint by ensuring that a user's role can only be assigned as either 'buyer' or 'seller'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32" name="Google Shape;132;g3d356e2efa7_0_49"/>
          <p:cNvPicPr preferRelativeResize="0"/>
          <p:nvPr/>
        </p:nvPicPr>
        <p:blipFill>
          <a:blip r:embed="rId3">
            <a:alphaModFix/>
          </a:blip>
          <a:stretch>
            <a:fillRect/>
          </a:stretch>
        </p:blipFill>
        <p:spPr>
          <a:xfrm>
            <a:off x="4895775" y="759275"/>
            <a:ext cx="7307699" cy="5124775"/>
          </a:xfrm>
          <a:prstGeom prst="rect">
            <a:avLst/>
          </a:prstGeom>
          <a:solidFill>
            <a:schemeClr val="lt1"/>
          </a:solidFill>
          <a:ln w="12700" cap="flat" cmpd="sng">
            <a:solidFill>
              <a:schemeClr val="accent4"/>
            </a:solidFill>
            <a:prstDash val="solid"/>
            <a:miter lim="8000"/>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3d356e2efa7_0_59"/>
          <p:cNvSpPr txBox="1">
            <a:spLocks noGrp="1"/>
          </p:cNvSpPr>
          <p:nvPr>
            <p:ph type="title"/>
          </p:nvPr>
        </p:nvSpPr>
        <p:spPr>
          <a:xfrm>
            <a:off x="176893" y="152854"/>
            <a:ext cx="4574732" cy="443100"/>
          </a:xfrm>
          <a:prstGeom prst="rect">
            <a:avLst/>
          </a:prstGeom>
          <a:noFill/>
          <a:ln>
            <a:noFill/>
          </a:ln>
        </p:spPr>
        <p:txBody>
          <a:bodyPr spcFirstLastPara="1" wrap="square" lIns="91425" tIns="45700" rIns="91425" bIns="45700" anchor="ctr" anchorCtr="0">
            <a:noAutofit/>
          </a:bodyPr>
          <a:lstStyle/>
          <a:p>
            <a:r>
              <a:rPr lang="en-US" sz="2400" dirty="0"/>
              <a:t>QD4: ADD FK CONSTRAINT(S) TO THE TABLE</a:t>
            </a:r>
          </a:p>
        </p:txBody>
      </p:sp>
      <p:sp>
        <p:nvSpPr>
          <p:cNvPr id="138" name="Google Shape;138;g3d356e2efa7_0_59"/>
          <p:cNvSpPr txBox="1">
            <a:spLocks noGrp="1"/>
          </p:cNvSpPr>
          <p:nvPr>
            <p:ph type="body" idx="1"/>
          </p:nvPr>
        </p:nvSpPr>
        <p:spPr>
          <a:xfrm>
            <a:off x="119741" y="2334985"/>
            <a:ext cx="4632000" cy="4318800"/>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solidFill>
                  <a:schemeClr val="dk1"/>
                </a:solidFill>
                <a:latin typeface="Calibri"/>
                <a:ea typeface="Calibri"/>
                <a:cs typeface="Calibri"/>
                <a:sym typeface="Calibri"/>
              </a:rPr>
              <a:t>SQL Query:</a:t>
            </a:r>
            <a:br>
              <a:rPr lang="en-US">
                <a:solidFill>
                  <a:schemeClr val="dk1"/>
                </a:solidFill>
                <a:latin typeface="Calibri"/>
                <a:ea typeface="Calibri"/>
                <a:cs typeface="Calibri"/>
                <a:sym typeface="Calibri"/>
              </a:rPr>
            </a:br>
            <a:br>
              <a:rPr lang="en-US">
                <a:solidFill>
                  <a:schemeClr val="dk1"/>
                </a:solidFill>
                <a:latin typeface="Calibri"/>
                <a:ea typeface="Calibri"/>
                <a:cs typeface="Calibri"/>
                <a:sym typeface="Calibri"/>
              </a:rPr>
            </a:br>
            <a:r>
              <a:rPr lang="en-US" sz="2200">
                <a:solidFill>
                  <a:schemeClr val="dk1"/>
                </a:solidFill>
                <a:latin typeface="Calibri"/>
                <a:ea typeface="Calibri"/>
                <a:cs typeface="Calibri"/>
                <a:sym typeface="Calibri"/>
              </a:rPr>
              <a:t>ALTER TABLE Products</a:t>
            </a:r>
            <a:endParaRPr sz="2200">
              <a:solidFill>
                <a:schemeClr val="dk1"/>
              </a:solidFill>
              <a:latin typeface="Calibri"/>
              <a:ea typeface="Calibri"/>
              <a:cs typeface="Calibri"/>
              <a:sym typeface="Calibri"/>
            </a:endParaRPr>
          </a:p>
          <a:p>
            <a:pPr marL="228600" lvl="0" indent="0" algn="l" rtl="0">
              <a:spcBef>
                <a:spcPts val="0"/>
              </a:spcBef>
              <a:spcAft>
                <a:spcPts val="0"/>
              </a:spcAft>
              <a:buNone/>
            </a:pPr>
            <a:r>
              <a:rPr lang="en-US" sz="2200">
                <a:solidFill>
                  <a:schemeClr val="dk1"/>
                </a:solidFill>
                <a:latin typeface="Calibri"/>
                <a:ea typeface="Calibri"/>
                <a:cs typeface="Calibri"/>
                <a:sym typeface="Calibri"/>
              </a:rPr>
              <a:t>ADD CONSTRAINT fk_products_seller</a:t>
            </a:r>
            <a:endParaRPr sz="2200">
              <a:solidFill>
                <a:schemeClr val="dk1"/>
              </a:solidFill>
              <a:latin typeface="Calibri"/>
              <a:ea typeface="Calibri"/>
              <a:cs typeface="Calibri"/>
              <a:sym typeface="Calibri"/>
            </a:endParaRPr>
          </a:p>
          <a:p>
            <a:pPr marL="228600" lvl="0" indent="0" algn="l" rtl="0">
              <a:spcBef>
                <a:spcPts val="0"/>
              </a:spcBef>
              <a:spcAft>
                <a:spcPts val="0"/>
              </a:spcAft>
              <a:buNone/>
            </a:pPr>
            <a:r>
              <a:rPr lang="en-US" sz="2200">
                <a:solidFill>
                  <a:schemeClr val="dk1"/>
                </a:solidFill>
                <a:latin typeface="Calibri"/>
                <a:ea typeface="Calibri"/>
                <a:cs typeface="Calibri"/>
                <a:sym typeface="Calibri"/>
              </a:rPr>
              <a:t>    FOREIGN KEY (seller_id) </a:t>
            </a:r>
            <a:endParaRPr sz="2200">
              <a:solidFill>
                <a:schemeClr val="dk1"/>
              </a:solidFill>
              <a:latin typeface="Calibri"/>
              <a:ea typeface="Calibri"/>
              <a:cs typeface="Calibri"/>
              <a:sym typeface="Calibri"/>
            </a:endParaRPr>
          </a:p>
          <a:p>
            <a:pPr marL="228600" lvl="0" indent="0" algn="l" rtl="0">
              <a:spcBef>
                <a:spcPts val="0"/>
              </a:spcBef>
              <a:spcAft>
                <a:spcPts val="0"/>
              </a:spcAft>
              <a:buNone/>
            </a:pPr>
            <a:r>
              <a:rPr lang="en-US" sz="2200">
                <a:solidFill>
                  <a:schemeClr val="dk1"/>
                </a:solidFill>
                <a:latin typeface="Calibri"/>
                <a:ea typeface="Calibri"/>
                <a:cs typeface="Calibri"/>
                <a:sym typeface="Calibri"/>
              </a:rPr>
              <a:t>    REFERENCES Users(user_id)</a:t>
            </a:r>
            <a:endParaRPr sz="2200">
              <a:solidFill>
                <a:schemeClr val="dk1"/>
              </a:solidFill>
              <a:latin typeface="Calibri"/>
              <a:ea typeface="Calibri"/>
              <a:cs typeface="Calibri"/>
              <a:sym typeface="Calibri"/>
            </a:endParaRPr>
          </a:p>
          <a:p>
            <a:pPr marL="228600" lvl="0" indent="0" algn="l" rtl="0">
              <a:spcBef>
                <a:spcPts val="0"/>
              </a:spcBef>
              <a:spcAft>
                <a:spcPts val="0"/>
              </a:spcAft>
              <a:buNone/>
            </a:pPr>
            <a:r>
              <a:rPr lang="en-US" sz="2200">
                <a:solidFill>
                  <a:schemeClr val="dk1"/>
                </a:solidFill>
                <a:latin typeface="Calibri"/>
                <a:ea typeface="Calibri"/>
                <a:cs typeface="Calibri"/>
                <a:sym typeface="Calibri"/>
              </a:rPr>
              <a:t>    ON DELETE CASCADE</a:t>
            </a:r>
            <a:endParaRPr sz="2200">
              <a:solidFill>
                <a:schemeClr val="dk1"/>
              </a:solidFill>
              <a:latin typeface="Calibri"/>
              <a:ea typeface="Calibri"/>
              <a:cs typeface="Calibri"/>
              <a:sym typeface="Calibri"/>
            </a:endParaRPr>
          </a:p>
          <a:p>
            <a:pPr marL="228600" lvl="0" indent="0" algn="l" rtl="0">
              <a:spcBef>
                <a:spcPts val="0"/>
              </a:spcBef>
              <a:spcAft>
                <a:spcPts val="0"/>
              </a:spcAft>
              <a:buNone/>
            </a:pPr>
            <a:r>
              <a:rPr lang="en-US" sz="2200">
                <a:solidFill>
                  <a:schemeClr val="dk1"/>
                </a:solidFill>
                <a:latin typeface="Calibri"/>
                <a:ea typeface="Calibri"/>
                <a:cs typeface="Calibri"/>
                <a:sym typeface="Calibri"/>
              </a:rPr>
              <a:t>    ON UPDATE CASCADE;</a:t>
            </a:r>
            <a:endParaRPr sz="2200">
              <a:solidFill>
                <a:schemeClr val="dk1"/>
              </a:solidFill>
              <a:latin typeface="Calibri"/>
              <a:ea typeface="Calibri"/>
              <a:cs typeface="Calibri"/>
              <a:sym typeface="Calibri"/>
            </a:endParaRPr>
          </a:p>
          <a:p>
            <a:pPr marL="228600" lvl="0" indent="0" algn="l" rtl="0">
              <a:spcBef>
                <a:spcPts val="0"/>
              </a:spcBef>
              <a:spcAft>
                <a:spcPts val="0"/>
              </a:spcAft>
              <a:buNone/>
            </a:pPr>
            <a:r>
              <a:rPr lang="en-US" sz="2200">
                <a:solidFill>
                  <a:schemeClr val="dk1"/>
                </a:solidFill>
                <a:latin typeface="Calibri"/>
                <a:ea typeface="Calibri"/>
                <a:cs typeface="Calibri"/>
                <a:sym typeface="Calibri"/>
              </a:rPr>
              <a:t>GO</a:t>
            </a:r>
            <a:endParaRPr sz="2200">
              <a:solidFill>
                <a:schemeClr val="dk1"/>
              </a:solidFill>
              <a:latin typeface="Calibri"/>
              <a:ea typeface="Calibri"/>
              <a:cs typeface="Calibri"/>
              <a:sym typeface="Calibri"/>
            </a:endParaRPr>
          </a:p>
          <a:p>
            <a:pPr marL="228600" lvl="0" indent="0" algn="l" rtl="0">
              <a:lnSpc>
                <a:spcPct val="90000"/>
              </a:lnSpc>
              <a:spcBef>
                <a:spcPts val="0"/>
              </a:spcBef>
              <a:spcAft>
                <a:spcPts val="0"/>
              </a:spcAft>
              <a:buNone/>
            </a:pPr>
            <a:endParaRPr sz="2200"/>
          </a:p>
          <a:p>
            <a:pPr marL="228600" lvl="0" indent="0" algn="l" rtl="0">
              <a:lnSpc>
                <a:spcPct val="90000"/>
              </a:lnSpc>
              <a:spcBef>
                <a:spcPts val="0"/>
              </a:spcBef>
              <a:spcAft>
                <a:spcPts val="0"/>
              </a:spcAft>
              <a:buNone/>
            </a:pPr>
            <a:endParaRPr/>
          </a:p>
        </p:txBody>
      </p:sp>
      <p:sp>
        <p:nvSpPr>
          <p:cNvPr id="139" name="Google Shape;139;g3d356e2efa7_0_59"/>
          <p:cNvSpPr/>
          <p:nvPr/>
        </p:nvSpPr>
        <p:spPr>
          <a:xfrm>
            <a:off x="4751625" y="912550"/>
            <a:ext cx="7307700" cy="4962000"/>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40" name="Google Shape;140;g3d356e2efa7_0_59"/>
          <p:cNvSpPr/>
          <p:nvPr/>
        </p:nvSpPr>
        <p:spPr>
          <a:xfrm>
            <a:off x="4955721" y="166953"/>
            <a:ext cx="30204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Snapshot of the query output:</a:t>
            </a:r>
            <a:endParaRPr/>
          </a:p>
        </p:txBody>
      </p:sp>
      <p:sp>
        <p:nvSpPr>
          <p:cNvPr id="141" name="Google Shape;141;g3d356e2efa7_0_59"/>
          <p:cNvSpPr txBox="1"/>
          <p:nvPr/>
        </p:nvSpPr>
        <p:spPr>
          <a:xfrm>
            <a:off x="119741" y="759278"/>
            <a:ext cx="4632000" cy="1492500"/>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Description: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Adds a foreign key constraint linking each product to a valid seller in the Users table</a:t>
            </a:r>
            <a:endParaRPr dirty="0"/>
          </a:p>
        </p:txBody>
      </p:sp>
      <p:pic>
        <p:nvPicPr>
          <p:cNvPr id="142" name="Google Shape;142;g3d356e2efa7_0_59"/>
          <p:cNvPicPr preferRelativeResize="0"/>
          <p:nvPr/>
        </p:nvPicPr>
        <p:blipFill>
          <a:blip r:embed="rId3">
            <a:alphaModFix/>
          </a:blip>
          <a:stretch>
            <a:fillRect/>
          </a:stretch>
        </p:blipFill>
        <p:spPr>
          <a:xfrm>
            <a:off x="4876075" y="859275"/>
            <a:ext cx="7183250" cy="5068550"/>
          </a:xfrm>
          <a:prstGeom prst="rect">
            <a:avLst/>
          </a:prstGeom>
          <a:solidFill>
            <a:schemeClr val="lt1"/>
          </a:solidFill>
          <a:ln w="12700" cap="flat" cmpd="sng">
            <a:solidFill>
              <a:schemeClr val="accent4"/>
            </a:solidFill>
            <a:prstDash val="solid"/>
            <a:miter lim="8000"/>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3d356e2efa7_0_77"/>
          <p:cNvSpPr txBox="1">
            <a:spLocks noGrp="1"/>
          </p:cNvSpPr>
          <p:nvPr>
            <p:ph type="title"/>
          </p:nvPr>
        </p:nvSpPr>
        <p:spPr>
          <a:xfrm>
            <a:off x="176893" y="152854"/>
            <a:ext cx="4778828" cy="443100"/>
          </a:xfrm>
          <a:prstGeom prst="rect">
            <a:avLst/>
          </a:prstGeom>
          <a:noFill/>
          <a:ln>
            <a:noFill/>
          </a:ln>
        </p:spPr>
        <p:txBody>
          <a:bodyPr spcFirstLastPara="1" wrap="square" lIns="91425" tIns="45700" rIns="91425" bIns="45700" anchor="ctr" anchorCtr="0">
            <a:noAutofit/>
          </a:bodyPr>
          <a:lstStyle/>
          <a:p>
            <a:r>
              <a:rPr lang="en-US" sz="3600" dirty="0"/>
              <a:t>QD5: Create TRIGGER</a:t>
            </a:r>
          </a:p>
        </p:txBody>
      </p:sp>
      <p:sp>
        <p:nvSpPr>
          <p:cNvPr id="148" name="Google Shape;148;g3d356e2efa7_0_77"/>
          <p:cNvSpPr txBox="1">
            <a:spLocks noGrp="1"/>
          </p:cNvSpPr>
          <p:nvPr>
            <p:ph type="body" idx="1"/>
          </p:nvPr>
        </p:nvSpPr>
        <p:spPr>
          <a:xfrm>
            <a:off x="119741" y="2334985"/>
            <a:ext cx="4632000" cy="4318800"/>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45700" rIns="91425" bIns="45700" anchor="t" anchorCtr="0">
            <a:normAutofit fontScale="85000" lnSpcReduction="20000"/>
          </a:bodyPr>
          <a:lstStyle/>
          <a:p>
            <a:pPr marL="228600" lvl="0" indent="-188595" algn="l" rtl="0">
              <a:lnSpc>
                <a:spcPct val="90000"/>
              </a:lnSpc>
              <a:spcBef>
                <a:spcPts val="0"/>
              </a:spcBef>
              <a:spcAft>
                <a:spcPts val="0"/>
              </a:spcAft>
              <a:buClr>
                <a:schemeClr val="dk1"/>
              </a:buClr>
              <a:buSzPct val="127272"/>
              <a:buChar char="•"/>
            </a:pPr>
            <a:r>
              <a:rPr lang="en-US">
                <a:solidFill>
                  <a:schemeClr val="dk1"/>
                </a:solidFill>
                <a:latin typeface="Calibri"/>
                <a:ea typeface="Calibri"/>
                <a:cs typeface="Calibri"/>
                <a:sym typeface="Calibri"/>
              </a:rPr>
              <a:t>SQL Query:</a:t>
            </a:r>
            <a:br>
              <a:rPr lang="en-US">
                <a:solidFill>
                  <a:schemeClr val="dk1"/>
                </a:solidFill>
                <a:latin typeface="Calibri"/>
                <a:ea typeface="Calibri"/>
                <a:cs typeface="Calibri"/>
                <a:sym typeface="Calibri"/>
              </a:rPr>
            </a:br>
            <a:br>
              <a:rPr lang="en-US">
                <a:solidFill>
                  <a:schemeClr val="dk1"/>
                </a:solidFill>
                <a:latin typeface="Calibri"/>
                <a:ea typeface="Calibri"/>
                <a:cs typeface="Calibri"/>
                <a:sym typeface="Calibri"/>
              </a:rPr>
            </a:br>
            <a:endParaRPr sz="2200">
              <a:solidFill>
                <a:schemeClr val="dk1"/>
              </a:solidFill>
              <a:latin typeface="Calibri"/>
              <a:ea typeface="Calibri"/>
              <a:cs typeface="Calibri"/>
              <a:sym typeface="Calibri"/>
            </a:endParaRPr>
          </a:p>
          <a:p>
            <a:pPr marL="228600" lvl="0" indent="0" algn="l" rtl="0">
              <a:spcBef>
                <a:spcPts val="0"/>
              </a:spcBef>
              <a:spcAft>
                <a:spcPts val="0"/>
              </a:spcAft>
              <a:buNone/>
            </a:pPr>
            <a:r>
              <a:rPr lang="en-US" sz="2200"/>
              <a:t>CREATE TRIGGER trg_calculate_commission</a:t>
            </a:r>
            <a:endParaRPr sz="2200"/>
          </a:p>
          <a:p>
            <a:pPr marL="228600" lvl="0" indent="0" algn="l" rtl="0">
              <a:spcBef>
                <a:spcPts val="0"/>
              </a:spcBef>
              <a:spcAft>
                <a:spcPts val="0"/>
              </a:spcAft>
              <a:buNone/>
            </a:pPr>
            <a:r>
              <a:rPr lang="en-US" sz="2200"/>
              <a:t>ON Payments</a:t>
            </a:r>
            <a:endParaRPr sz="2200"/>
          </a:p>
          <a:p>
            <a:pPr marL="228600" lvl="0" indent="0" algn="l" rtl="0">
              <a:spcBef>
                <a:spcPts val="0"/>
              </a:spcBef>
              <a:spcAft>
                <a:spcPts val="0"/>
              </a:spcAft>
              <a:buNone/>
            </a:pPr>
            <a:r>
              <a:rPr lang="en-US" sz="2200"/>
              <a:t>AFTER INSERT</a:t>
            </a:r>
            <a:endParaRPr sz="2200"/>
          </a:p>
          <a:p>
            <a:pPr marL="228600" lvl="0" indent="0" algn="l" rtl="0">
              <a:spcBef>
                <a:spcPts val="0"/>
              </a:spcBef>
              <a:spcAft>
                <a:spcPts val="0"/>
              </a:spcAft>
              <a:buNone/>
            </a:pPr>
            <a:r>
              <a:rPr lang="en-US" sz="2200"/>
              <a:t>AS</a:t>
            </a:r>
            <a:endParaRPr sz="2200"/>
          </a:p>
          <a:p>
            <a:pPr marL="228600" lvl="0" indent="0" algn="l" rtl="0">
              <a:spcBef>
                <a:spcPts val="0"/>
              </a:spcBef>
              <a:spcAft>
                <a:spcPts val="0"/>
              </a:spcAft>
              <a:buNone/>
            </a:pPr>
            <a:r>
              <a:rPr lang="en-US" sz="2200"/>
              <a:t>BEGIN</a:t>
            </a:r>
            <a:endParaRPr sz="2200"/>
          </a:p>
          <a:p>
            <a:pPr marL="228600" lvl="0" indent="0" algn="l" rtl="0">
              <a:spcBef>
                <a:spcPts val="0"/>
              </a:spcBef>
              <a:spcAft>
                <a:spcPts val="0"/>
              </a:spcAft>
              <a:buNone/>
            </a:pPr>
            <a:r>
              <a:rPr lang="en-US" sz="2200"/>
              <a:t>    UPDATE Payments</a:t>
            </a:r>
            <a:endParaRPr sz="2200"/>
          </a:p>
          <a:p>
            <a:pPr marL="228600" lvl="0" indent="0" algn="l" rtl="0">
              <a:spcBef>
                <a:spcPts val="0"/>
              </a:spcBef>
              <a:spcAft>
                <a:spcPts val="0"/>
              </a:spcAft>
              <a:buNone/>
            </a:pPr>
            <a:r>
              <a:rPr lang="en-US" sz="2200"/>
              <a:t>    SET </a:t>
            </a:r>
            <a:endParaRPr sz="2200"/>
          </a:p>
          <a:p>
            <a:pPr marL="228600" lvl="0" indent="0" algn="l" rtl="0">
              <a:spcBef>
                <a:spcPts val="0"/>
              </a:spcBef>
              <a:spcAft>
                <a:spcPts val="0"/>
              </a:spcAft>
              <a:buNone/>
            </a:pPr>
            <a:r>
              <a:rPr lang="en-US" sz="2200"/>
              <a:t>        platform_commission = ROUND(i.amount * 0.20, 2),</a:t>
            </a:r>
            <a:endParaRPr sz="2200"/>
          </a:p>
          <a:p>
            <a:pPr marL="228600" lvl="0" indent="0" algn="l" rtl="0">
              <a:spcBef>
                <a:spcPts val="0"/>
              </a:spcBef>
              <a:spcAft>
                <a:spcPts val="0"/>
              </a:spcAft>
              <a:buNone/>
            </a:pPr>
            <a:r>
              <a:rPr lang="en-US" sz="2200"/>
              <a:t>        seller_earning      = ROUND(i.amount * 0.80, 2)</a:t>
            </a:r>
            <a:endParaRPr sz="2200"/>
          </a:p>
          <a:p>
            <a:pPr marL="228600" lvl="0" indent="0" algn="l" rtl="0">
              <a:spcBef>
                <a:spcPts val="0"/>
              </a:spcBef>
              <a:spcAft>
                <a:spcPts val="0"/>
              </a:spcAft>
              <a:buNone/>
            </a:pPr>
            <a:r>
              <a:rPr lang="en-US" sz="2200"/>
              <a:t>    FROM Payments p</a:t>
            </a:r>
            <a:endParaRPr sz="2200"/>
          </a:p>
          <a:p>
            <a:pPr marL="228600" lvl="0" indent="0" algn="l" rtl="0">
              <a:spcBef>
                <a:spcPts val="0"/>
              </a:spcBef>
              <a:spcAft>
                <a:spcPts val="0"/>
              </a:spcAft>
              <a:buNone/>
            </a:pPr>
            <a:r>
              <a:rPr lang="en-US" sz="2200"/>
              <a:t>    INNER JOIN inserted i ON p.payment_id = i.payment_id;</a:t>
            </a:r>
            <a:endParaRPr sz="2200"/>
          </a:p>
          <a:p>
            <a:pPr marL="228600" lvl="0" indent="0" algn="l" rtl="0">
              <a:spcBef>
                <a:spcPts val="0"/>
              </a:spcBef>
              <a:spcAft>
                <a:spcPts val="0"/>
              </a:spcAft>
              <a:buNone/>
            </a:pPr>
            <a:r>
              <a:rPr lang="en-US" sz="2200"/>
              <a:t>END;</a:t>
            </a:r>
            <a:endParaRPr sz="2200"/>
          </a:p>
          <a:p>
            <a:pPr marL="228600" lvl="0" indent="0" algn="l" rtl="0">
              <a:spcBef>
                <a:spcPts val="0"/>
              </a:spcBef>
              <a:spcAft>
                <a:spcPts val="0"/>
              </a:spcAft>
              <a:buNone/>
            </a:pPr>
            <a:r>
              <a:rPr lang="en-US" sz="2200"/>
              <a:t>GO</a:t>
            </a:r>
            <a:endParaRPr sz="2200"/>
          </a:p>
          <a:p>
            <a:pPr marL="228600" lvl="0" indent="0" algn="l" rtl="0">
              <a:lnSpc>
                <a:spcPct val="90000"/>
              </a:lnSpc>
              <a:spcBef>
                <a:spcPts val="0"/>
              </a:spcBef>
              <a:spcAft>
                <a:spcPts val="0"/>
              </a:spcAft>
              <a:buNone/>
            </a:pPr>
            <a:endParaRPr sz="2200"/>
          </a:p>
          <a:p>
            <a:pPr marL="228600" lvl="0" indent="0" algn="l" rtl="0">
              <a:lnSpc>
                <a:spcPct val="90000"/>
              </a:lnSpc>
              <a:spcBef>
                <a:spcPts val="0"/>
              </a:spcBef>
              <a:spcAft>
                <a:spcPts val="0"/>
              </a:spcAft>
              <a:buNone/>
            </a:pPr>
            <a:endParaRPr/>
          </a:p>
        </p:txBody>
      </p:sp>
      <p:sp>
        <p:nvSpPr>
          <p:cNvPr id="149" name="Google Shape;149;g3d356e2efa7_0_77"/>
          <p:cNvSpPr/>
          <p:nvPr/>
        </p:nvSpPr>
        <p:spPr>
          <a:xfrm>
            <a:off x="4751625" y="912550"/>
            <a:ext cx="7307700" cy="4962000"/>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0" name="Google Shape;150;g3d356e2efa7_0_77"/>
          <p:cNvSpPr/>
          <p:nvPr/>
        </p:nvSpPr>
        <p:spPr>
          <a:xfrm>
            <a:off x="4955721" y="166953"/>
            <a:ext cx="30204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Snapshot of the query output:</a:t>
            </a:r>
            <a:endParaRPr/>
          </a:p>
        </p:txBody>
      </p:sp>
      <p:sp>
        <p:nvSpPr>
          <p:cNvPr id="151" name="Google Shape;151;g3d356e2efa7_0_77"/>
          <p:cNvSpPr txBox="1"/>
          <p:nvPr/>
        </p:nvSpPr>
        <p:spPr>
          <a:xfrm>
            <a:off x="119741" y="759278"/>
            <a:ext cx="4632000" cy="1492500"/>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Description: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a:t>Create trigger to calculate the platform commission (20%) and seller earning (80%) whenever a new payment is inserted into the Payments table.</a:t>
            </a:r>
            <a:endParaRPr/>
          </a:p>
        </p:txBody>
      </p:sp>
      <p:pic>
        <p:nvPicPr>
          <p:cNvPr id="152" name="Google Shape;152;g3d356e2efa7_0_77"/>
          <p:cNvPicPr preferRelativeResize="0"/>
          <p:nvPr/>
        </p:nvPicPr>
        <p:blipFill>
          <a:blip r:embed="rId3">
            <a:alphaModFix/>
          </a:blip>
          <a:stretch>
            <a:fillRect/>
          </a:stretch>
        </p:blipFill>
        <p:spPr>
          <a:xfrm>
            <a:off x="4751756" y="912550"/>
            <a:ext cx="7393392" cy="4961999"/>
          </a:xfrm>
          <a:prstGeom prst="rect">
            <a:avLst/>
          </a:prstGeom>
          <a:solidFill>
            <a:schemeClr val="lt1"/>
          </a:solidFill>
          <a:ln w="12700" cap="flat" cmpd="sng">
            <a:solidFill>
              <a:schemeClr val="accent4"/>
            </a:solidFill>
            <a:prstDash val="solid"/>
            <a:miter lim="8000"/>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Calibri"/>
              <a:buNone/>
            </a:pPr>
            <a:r>
              <a:rPr lang="en-US"/>
              <a:t>DML QUERIES</a:t>
            </a:r>
            <a:endParaRPr/>
          </a:p>
        </p:txBody>
      </p:sp>
      <p:sp>
        <p:nvSpPr>
          <p:cNvPr id="158" name="Google Shape;158;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r>
              <a:rPr lang="en-US" b="1"/>
              <a:t>Instructions:</a:t>
            </a:r>
            <a:endParaRPr/>
          </a:p>
          <a:p>
            <a:pPr marL="0" lvl="0" indent="0" algn="l" rtl="0">
              <a:lnSpc>
                <a:spcPct val="90000"/>
              </a:lnSpc>
              <a:spcBef>
                <a:spcPts val="1000"/>
              </a:spcBef>
              <a:spcAft>
                <a:spcPts val="0"/>
              </a:spcAft>
              <a:buClr>
                <a:srgbClr val="888888"/>
              </a:buClr>
              <a:buSzPts val="2400"/>
              <a:buNone/>
            </a:pPr>
            <a:r>
              <a:rPr lang="en-US" i="1"/>
              <a:t>- must include </a:t>
            </a:r>
            <a:r>
              <a:rPr lang="en-US" b="1" i="1">
                <a:solidFill>
                  <a:srgbClr val="FF0000"/>
                </a:solidFill>
              </a:rPr>
              <a:t>ALL</a:t>
            </a:r>
            <a:r>
              <a:rPr lang="en-US" i="1"/>
              <a:t> queries listed in Queries.sql </a:t>
            </a:r>
            <a:endParaRPr/>
          </a:p>
          <a:p>
            <a:pPr marL="0" lvl="0" indent="0" algn="l" rtl="0">
              <a:lnSpc>
                <a:spcPct val="90000"/>
              </a:lnSpc>
              <a:spcBef>
                <a:spcPts val="1000"/>
              </a:spcBef>
              <a:spcAft>
                <a:spcPts val="0"/>
              </a:spcAft>
              <a:buClr>
                <a:srgbClr val="888888"/>
              </a:buClr>
              <a:buSzPts val="2400"/>
              <a:buNone/>
            </a:pPr>
            <a:r>
              <a:rPr lang="en-US" i="1"/>
              <a:t>- must follow the </a:t>
            </a:r>
            <a:r>
              <a:rPr lang="en-US" b="1" i="1"/>
              <a:t>exact</a:t>
            </a:r>
            <a:r>
              <a:rPr lang="en-US" i="1"/>
              <a:t> format provided in the template slide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5"/>
          <p:cNvSpPr txBox="1">
            <a:spLocks noGrp="1"/>
          </p:cNvSpPr>
          <p:nvPr>
            <p:ph type="title"/>
          </p:nvPr>
        </p:nvSpPr>
        <p:spPr>
          <a:xfrm>
            <a:off x="176893" y="152854"/>
            <a:ext cx="4313464" cy="443139"/>
          </a:xfrm>
          <a:prstGeom prst="rect">
            <a:avLst/>
          </a:prstGeom>
          <a:noFill/>
          <a:ln>
            <a:noFill/>
          </a:ln>
        </p:spPr>
        <p:txBody>
          <a:bodyPr spcFirstLastPara="1" wrap="square" lIns="91425" tIns="45700" rIns="91425" bIns="45700" anchor="ctr" anchorCtr="0">
            <a:noAutofit/>
          </a:bodyPr>
          <a:lstStyle/>
          <a:p>
            <a:r>
              <a:rPr lang="en-US" sz="2400" dirty="0"/>
              <a:t>QM1.1: A TEST QUERY FOR THE TRIGGER CREATED in QD5</a:t>
            </a:r>
          </a:p>
        </p:txBody>
      </p:sp>
      <p:sp>
        <p:nvSpPr>
          <p:cNvPr id="164" name="Google Shape;164;p5"/>
          <p:cNvSpPr txBox="1">
            <a:spLocks noGrp="1"/>
          </p:cNvSpPr>
          <p:nvPr>
            <p:ph type="body" idx="1"/>
          </p:nvPr>
        </p:nvSpPr>
        <p:spPr>
          <a:xfrm>
            <a:off x="119741" y="2334985"/>
            <a:ext cx="4631873" cy="4318907"/>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solidFill>
                  <a:schemeClr val="dk1"/>
                </a:solidFill>
                <a:latin typeface="Calibri"/>
                <a:ea typeface="Calibri"/>
                <a:cs typeface="Calibri"/>
                <a:sym typeface="Calibri"/>
              </a:rPr>
              <a:t>SQL Query:</a:t>
            </a:r>
            <a:endParaRPr>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US" sz="2200"/>
              <a:t>SELECT payment_id, amount, platform_commission, seller_earning</a:t>
            </a:r>
            <a:endParaRPr sz="2200"/>
          </a:p>
          <a:p>
            <a:pPr marL="0" lvl="0" indent="0" algn="l" rtl="0">
              <a:spcBef>
                <a:spcPts val="0"/>
              </a:spcBef>
              <a:spcAft>
                <a:spcPts val="0"/>
              </a:spcAft>
              <a:buClr>
                <a:schemeClr val="dk1"/>
              </a:buClr>
              <a:buSzPts val="1100"/>
              <a:buFont typeface="Arial"/>
              <a:buNone/>
            </a:pPr>
            <a:r>
              <a:rPr lang="en-US" sz="2200"/>
              <a:t>FROM Payments</a:t>
            </a:r>
            <a:endParaRPr sz="2200"/>
          </a:p>
          <a:p>
            <a:pPr marL="0" lvl="0" indent="0" algn="l" rtl="0">
              <a:spcBef>
                <a:spcPts val="0"/>
              </a:spcBef>
              <a:spcAft>
                <a:spcPts val="0"/>
              </a:spcAft>
              <a:buClr>
                <a:schemeClr val="dk1"/>
              </a:buClr>
              <a:buSzPts val="1100"/>
              <a:buFont typeface="Arial"/>
              <a:buNone/>
            </a:pPr>
            <a:r>
              <a:rPr lang="en-US" sz="2200"/>
              <a:t>WHERE payment_id = 1;</a:t>
            </a:r>
            <a:endParaRPr sz="2200"/>
          </a:p>
          <a:p>
            <a:pPr marL="0" lvl="0" indent="0" algn="l" rtl="0">
              <a:lnSpc>
                <a:spcPct val="90000"/>
              </a:lnSpc>
              <a:spcBef>
                <a:spcPts val="0"/>
              </a:spcBef>
              <a:spcAft>
                <a:spcPts val="0"/>
              </a:spcAft>
              <a:buNone/>
            </a:pPr>
            <a:endParaRPr sz="2200"/>
          </a:p>
        </p:txBody>
      </p:sp>
      <p:sp>
        <p:nvSpPr>
          <p:cNvPr id="165" name="Google Shape;165;p5"/>
          <p:cNvSpPr/>
          <p:nvPr/>
        </p:nvSpPr>
        <p:spPr>
          <a:xfrm>
            <a:off x="5029000" y="1308777"/>
            <a:ext cx="7005000" cy="4746300"/>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66" name="Google Shape;166;p5"/>
          <p:cNvSpPr/>
          <p:nvPr/>
        </p:nvSpPr>
        <p:spPr>
          <a:xfrm>
            <a:off x="4955721" y="166953"/>
            <a:ext cx="302037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Snapshot of the query output:</a:t>
            </a:r>
            <a:endParaRPr/>
          </a:p>
        </p:txBody>
      </p:sp>
      <p:sp>
        <p:nvSpPr>
          <p:cNvPr id="167" name="Google Shape;167;p5"/>
          <p:cNvSpPr txBox="1"/>
          <p:nvPr/>
        </p:nvSpPr>
        <p:spPr>
          <a:xfrm>
            <a:off x="119741" y="759278"/>
            <a:ext cx="4631873" cy="1492431"/>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Description: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test trigger for calculating commission and earnings.</a:t>
            </a:r>
            <a:endParaRPr sz="1800">
              <a:solidFill>
                <a:schemeClr val="dk1"/>
              </a:solidFill>
              <a:latin typeface="Calibri"/>
              <a:ea typeface="Calibri"/>
              <a:cs typeface="Calibri"/>
              <a:sym typeface="Calibri"/>
            </a:endParaRPr>
          </a:p>
        </p:txBody>
      </p:sp>
      <p:pic>
        <p:nvPicPr>
          <p:cNvPr id="168" name="Google Shape;168;p5"/>
          <p:cNvPicPr preferRelativeResize="0"/>
          <p:nvPr/>
        </p:nvPicPr>
        <p:blipFill>
          <a:blip r:embed="rId3">
            <a:alphaModFix/>
          </a:blip>
          <a:stretch>
            <a:fillRect/>
          </a:stretch>
        </p:blipFill>
        <p:spPr>
          <a:xfrm>
            <a:off x="5029000" y="1168788"/>
            <a:ext cx="7005000" cy="5026274"/>
          </a:xfrm>
          <a:prstGeom prst="rect">
            <a:avLst/>
          </a:prstGeom>
          <a:solidFill>
            <a:schemeClr val="lt1"/>
          </a:solidFill>
          <a:ln w="12700" cap="flat" cmpd="sng">
            <a:solidFill>
              <a:schemeClr val="accent4"/>
            </a:solidFill>
            <a:prstDash val="solid"/>
            <a:miter lim="8000"/>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d356e2efa7_0_103"/>
          <p:cNvSpPr txBox="1">
            <a:spLocks noGrp="1"/>
          </p:cNvSpPr>
          <p:nvPr>
            <p:ph type="title"/>
          </p:nvPr>
        </p:nvSpPr>
        <p:spPr>
          <a:xfrm>
            <a:off x="176893" y="152854"/>
            <a:ext cx="4313400" cy="443100"/>
          </a:xfrm>
          <a:prstGeom prst="rect">
            <a:avLst/>
          </a:prstGeom>
          <a:noFill/>
          <a:ln>
            <a:noFill/>
          </a:ln>
        </p:spPr>
        <p:txBody>
          <a:bodyPr spcFirstLastPara="1" wrap="square" lIns="91425" tIns="45700" rIns="91425" bIns="45700" anchor="ctr" anchorCtr="0">
            <a:noAutofit/>
          </a:bodyPr>
          <a:lstStyle/>
          <a:p>
            <a:r>
              <a:rPr lang="en-US" sz="2000" dirty="0"/>
              <a:t>QM1.2: A TEST QUERY FOR THE "CHECK" CONSTRAINT DEFINED in QD3</a:t>
            </a:r>
          </a:p>
        </p:txBody>
      </p:sp>
      <p:sp>
        <p:nvSpPr>
          <p:cNvPr id="174" name="Google Shape;174;g3d356e2efa7_0_103"/>
          <p:cNvSpPr txBox="1">
            <a:spLocks noGrp="1"/>
          </p:cNvSpPr>
          <p:nvPr>
            <p:ph type="body" idx="1"/>
          </p:nvPr>
        </p:nvSpPr>
        <p:spPr>
          <a:xfrm>
            <a:off x="119741" y="2334985"/>
            <a:ext cx="4632000" cy="4318800"/>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solidFill>
                  <a:schemeClr val="dk1"/>
                </a:solidFill>
                <a:latin typeface="Calibri"/>
                <a:ea typeface="Calibri"/>
                <a:cs typeface="Calibri"/>
                <a:sym typeface="Calibri"/>
              </a:rPr>
              <a:t>SQL Query:</a:t>
            </a:r>
            <a:endParaRPr>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a:p>
          <a:p>
            <a:pPr marL="0" lvl="0" indent="0" algn="l" rtl="0">
              <a:spcBef>
                <a:spcPts val="0"/>
              </a:spcBef>
              <a:spcAft>
                <a:spcPts val="0"/>
              </a:spcAft>
              <a:buNone/>
            </a:pPr>
            <a:r>
              <a:rPr lang="en-US" sz="2200"/>
              <a:t>INSERT INTO Users (user_id, first_name, last_name, email, password_hash, role)</a:t>
            </a:r>
            <a:endParaRPr sz="2200"/>
          </a:p>
          <a:p>
            <a:pPr marL="0" lvl="0" indent="0" algn="l" rtl="0">
              <a:spcBef>
                <a:spcPts val="0"/>
              </a:spcBef>
              <a:spcAft>
                <a:spcPts val="0"/>
              </a:spcAft>
              <a:buNone/>
            </a:pPr>
            <a:r>
              <a:rPr lang="en-US" sz="2200"/>
              <a:t>VALUES (3, 'Test', 'Admin', 'admin@test.com', 'hashedpw789', 'admin');</a:t>
            </a:r>
            <a:endParaRPr sz="2200"/>
          </a:p>
          <a:p>
            <a:pPr marL="0" lvl="0" indent="0" algn="l" rtl="0">
              <a:spcBef>
                <a:spcPts val="0"/>
              </a:spcBef>
              <a:spcAft>
                <a:spcPts val="0"/>
              </a:spcAft>
              <a:buNone/>
            </a:pPr>
            <a:endParaRPr sz="2200"/>
          </a:p>
          <a:p>
            <a:pPr marL="0" lvl="0" indent="0" algn="l" rtl="0">
              <a:lnSpc>
                <a:spcPct val="90000"/>
              </a:lnSpc>
              <a:spcBef>
                <a:spcPts val="0"/>
              </a:spcBef>
              <a:spcAft>
                <a:spcPts val="0"/>
              </a:spcAft>
              <a:buNone/>
            </a:pPr>
            <a:endParaRPr sz="2200"/>
          </a:p>
        </p:txBody>
      </p:sp>
      <p:sp>
        <p:nvSpPr>
          <p:cNvPr id="175" name="Google Shape;175;g3d356e2efa7_0_103"/>
          <p:cNvSpPr/>
          <p:nvPr/>
        </p:nvSpPr>
        <p:spPr>
          <a:xfrm>
            <a:off x="5029000" y="1308777"/>
            <a:ext cx="7005000" cy="4746300"/>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76" name="Google Shape;176;g3d356e2efa7_0_103"/>
          <p:cNvSpPr/>
          <p:nvPr/>
        </p:nvSpPr>
        <p:spPr>
          <a:xfrm>
            <a:off x="4955721" y="166953"/>
            <a:ext cx="30204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Snapshot of the query output:</a:t>
            </a:r>
            <a:endParaRPr/>
          </a:p>
        </p:txBody>
      </p:sp>
      <p:sp>
        <p:nvSpPr>
          <p:cNvPr id="177" name="Google Shape;177;g3d356e2efa7_0_103"/>
          <p:cNvSpPr txBox="1"/>
          <p:nvPr/>
        </p:nvSpPr>
        <p:spPr>
          <a:xfrm>
            <a:off x="119741" y="759278"/>
            <a:ext cx="4632000" cy="1492500"/>
          </a:xfrm>
          <a:prstGeom prst="rect">
            <a:avLst/>
          </a:prstGeom>
          <a:solidFill>
            <a:schemeClr val="lt1"/>
          </a:solidFill>
          <a:ln w="12700" cap="flat" cmpd="sng">
            <a:solidFill>
              <a:srgbClr val="CC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Description: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Tests constraint by attempting to insert a user with an invalid role, which should be </a:t>
            </a:r>
            <a:r>
              <a:rPr lang="en-US" sz="1800">
                <a:solidFill>
                  <a:srgbClr val="CC0000"/>
                </a:solidFill>
                <a:latin typeface="Calibri"/>
                <a:ea typeface="Calibri"/>
                <a:cs typeface="Calibri"/>
                <a:sym typeface="Calibri"/>
              </a:rPr>
              <a:t>rejected</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pic>
        <p:nvPicPr>
          <p:cNvPr id="178" name="Google Shape;178;g3d356e2efa7_0_103"/>
          <p:cNvPicPr preferRelativeResize="0"/>
          <p:nvPr/>
        </p:nvPicPr>
        <p:blipFill>
          <a:blip r:embed="rId3">
            <a:alphaModFix/>
          </a:blip>
          <a:stretch>
            <a:fillRect/>
          </a:stretch>
        </p:blipFill>
        <p:spPr>
          <a:xfrm>
            <a:off x="4950000" y="1162125"/>
            <a:ext cx="7162999" cy="4892941"/>
          </a:xfrm>
          <a:prstGeom prst="rect">
            <a:avLst/>
          </a:prstGeom>
          <a:solidFill>
            <a:schemeClr val="lt1"/>
          </a:solidFill>
          <a:ln w="12700" cap="flat" cmpd="sng">
            <a:solidFill>
              <a:schemeClr val="accent4"/>
            </a:solidFill>
            <a:prstDash val="solid"/>
            <a:miter lim="8000"/>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d356e2efa7_0_117"/>
          <p:cNvSpPr txBox="1">
            <a:spLocks noGrp="1"/>
          </p:cNvSpPr>
          <p:nvPr>
            <p:ph type="title"/>
          </p:nvPr>
        </p:nvSpPr>
        <p:spPr>
          <a:xfrm>
            <a:off x="176893" y="152854"/>
            <a:ext cx="4313400" cy="443100"/>
          </a:xfrm>
          <a:prstGeom prst="rect">
            <a:avLst/>
          </a:prstGeom>
          <a:noFill/>
          <a:ln>
            <a:noFill/>
          </a:ln>
        </p:spPr>
        <p:txBody>
          <a:bodyPr spcFirstLastPara="1" wrap="square" lIns="91425" tIns="45700" rIns="91425" bIns="45700" anchor="ctr" anchorCtr="0">
            <a:noAutofit/>
          </a:bodyPr>
          <a:lstStyle/>
          <a:p>
            <a:r>
              <a:rPr lang="en-US" sz="2400" dirty="0"/>
              <a:t>QM1.3: A TEST QUERY FOR THE FK CONSTRAINT DEFINED in QD4</a:t>
            </a:r>
          </a:p>
        </p:txBody>
      </p:sp>
      <p:sp>
        <p:nvSpPr>
          <p:cNvPr id="184" name="Google Shape;184;g3d356e2efa7_0_117"/>
          <p:cNvSpPr txBox="1">
            <a:spLocks noGrp="1"/>
          </p:cNvSpPr>
          <p:nvPr>
            <p:ph type="body" idx="1"/>
          </p:nvPr>
        </p:nvSpPr>
        <p:spPr>
          <a:xfrm>
            <a:off x="119741" y="2334985"/>
            <a:ext cx="4632000" cy="4318800"/>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solidFill>
                  <a:schemeClr val="dk1"/>
                </a:solidFill>
                <a:latin typeface="Calibri"/>
                <a:ea typeface="Calibri"/>
                <a:cs typeface="Calibri"/>
                <a:sym typeface="Calibri"/>
              </a:rPr>
              <a:t>SQL Query:</a:t>
            </a:r>
            <a:endParaRPr>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a:p>
          <a:p>
            <a:pPr marL="0" lvl="0" indent="0" algn="l" rtl="0">
              <a:spcBef>
                <a:spcPts val="0"/>
              </a:spcBef>
              <a:spcAft>
                <a:spcPts val="0"/>
              </a:spcAft>
              <a:buNone/>
            </a:pPr>
            <a:r>
              <a:rPr lang="en-US" sz="2200"/>
              <a:t>INSERT INTO Products (product_id, product_name, product_type, price, seller_id, category_id)</a:t>
            </a:r>
            <a:endParaRPr sz="2200"/>
          </a:p>
          <a:p>
            <a:pPr marL="0" lvl="0" indent="0" algn="l" rtl="0">
              <a:spcBef>
                <a:spcPts val="0"/>
              </a:spcBef>
              <a:spcAft>
                <a:spcPts val="0"/>
              </a:spcAft>
              <a:buNone/>
            </a:pPr>
            <a:r>
              <a:rPr lang="en-US" sz="2200"/>
              <a:t>VALUES (99, 'Fake Product', 'web_app', 50.00, 9999, 1);</a:t>
            </a:r>
            <a:endParaRPr sz="2200"/>
          </a:p>
          <a:p>
            <a:pPr marL="0" lvl="0" indent="0" algn="l" rtl="0">
              <a:spcBef>
                <a:spcPts val="0"/>
              </a:spcBef>
              <a:spcAft>
                <a:spcPts val="0"/>
              </a:spcAft>
              <a:buNone/>
            </a:pPr>
            <a:endParaRPr sz="2200"/>
          </a:p>
          <a:p>
            <a:pPr marL="0" lvl="0" indent="0" algn="l" rtl="0">
              <a:spcBef>
                <a:spcPts val="0"/>
              </a:spcBef>
              <a:spcAft>
                <a:spcPts val="0"/>
              </a:spcAft>
              <a:buNone/>
            </a:pPr>
            <a:endParaRPr sz="2200"/>
          </a:p>
          <a:p>
            <a:pPr marL="0" lvl="0" indent="0" algn="l" rtl="0">
              <a:lnSpc>
                <a:spcPct val="90000"/>
              </a:lnSpc>
              <a:spcBef>
                <a:spcPts val="0"/>
              </a:spcBef>
              <a:spcAft>
                <a:spcPts val="0"/>
              </a:spcAft>
              <a:buNone/>
            </a:pPr>
            <a:endParaRPr sz="2200"/>
          </a:p>
        </p:txBody>
      </p:sp>
      <p:sp>
        <p:nvSpPr>
          <p:cNvPr id="185" name="Google Shape;185;g3d356e2efa7_0_117"/>
          <p:cNvSpPr/>
          <p:nvPr/>
        </p:nvSpPr>
        <p:spPr>
          <a:xfrm>
            <a:off x="5029000" y="1308777"/>
            <a:ext cx="7005000" cy="4746300"/>
          </a:xfrm>
          <a:prstGeom prst="rect">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6" name="Google Shape;186;g3d356e2efa7_0_117"/>
          <p:cNvSpPr/>
          <p:nvPr/>
        </p:nvSpPr>
        <p:spPr>
          <a:xfrm>
            <a:off x="4955721" y="166953"/>
            <a:ext cx="30204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Snapshot of the query output:</a:t>
            </a:r>
            <a:endParaRPr/>
          </a:p>
        </p:txBody>
      </p:sp>
      <p:sp>
        <p:nvSpPr>
          <p:cNvPr id="187" name="Google Shape;187;g3d356e2efa7_0_117"/>
          <p:cNvSpPr txBox="1"/>
          <p:nvPr/>
        </p:nvSpPr>
        <p:spPr>
          <a:xfrm>
            <a:off x="119741" y="759278"/>
            <a:ext cx="4632000" cy="1492500"/>
          </a:xfrm>
          <a:prstGeom prst="rect">
            <a:avLst/>
          </a:prstGeom>
          <a:solidFill>
            <a:schemeClr val="lt1"/>
          </a:solidFill>
          <a:ln w="12700" cap="flat" cmpd="sng">
            <a:solidFill>
              <a:srgbClr val="CC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Description: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Tests constraint by attempting to insert a product with a non-existent seller, which should be  </a:t>
            </a:r>
            <a:r>
              <a:rPr lang="en-US" sz="1800">
                <a:solidFill>
                  <a:srgbClr val="CC0000"/>
                </a:solidFill>
                <a:latin typeface="Calibri"/>
                <a:ea typeface="Calibri"/>
                <a:cs typeface="Calibri"/>
                <a:sym typeface="Calibri"/>
              </a:rPr>
              <a:t>rejected</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pic>
        <p:nvPicPr>
          <p:cNvPr id="188" name="Google Shape;188;g3d356e2efa7_0_117"/>
          <p:cNvPicPr preferRelativeResize="0"/>
          <p:nvPr/>
        </p:nvPicPr>
        <p:blipFill>
          <a:blip r:embed="rId3">
            <a:alphaModFix/>
          </a:blip>
          <a:stretch>
            <a:fillRect/>
          </a:stretch>
        </p:blipFill>
        <p:spPr>
          <a:xfrm>
            <a:off x="5029000" y="1308775"/>
            <a:ext cx="7004999" cy="47463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893" y="152854"/>
            <a:ext cx="4313464" cy="443139"/>
          </a:xfrm>
        </p:spPr>
        <p:txBody>
          <a:bodyPr>
            <a:normAutofit fontScale="90000"/>
          </a:bodyPr>
          <a:lstStyle/>
          <a:p>
            <a:r>
              <a:rPr lang="en-US" dirty="0"/>
              <a:t>QM2: INSERT DATA</a:t>
            </a:r>
          </a:p>
        </p:txBody>
      </p:sp>
      <p:sp>
        <p:nvSpPr>
          <p:cNvPr id="3" name="Content Placeholder 2"/>
          <p:cNvSpPr>
            <a:spLocks noGrp="1"/>
          </p:cNvSpPr>
          <p:nvPr>
            <p:ph idx="1"/>
          </p:nvPr>
        </p:nvSpPr>
        <p:spPr>
          <a:xfrm>
            <a:off x="119741" y="2334985"/>
            <a:ext cx="4631873" cy="4318907"/>
          </a:xfrm>
        </p:spPr>
        <p:style>
          <a:lnRef idx="2">
            <a:schemeClr val="accent6"/>
          </a:lnRef>
          <a:fillRef idx="1">
            <a:schemeClr val="lt1"/>
          </a:fillRef>
          <a:effectRef idx="0">
            <a:schemeClr val="accent6"/>
          </a:effectRef>
          <a:fontRef idx="minor">
            <a:schemeClr val="dk1"/>
          </a:fontRef>
        </p:style>
        <p:txBody>
          <a:bodyPr>
            <a:normAutofit fontScale="70000" lnSpcReduction="20000"/>
          </a:bodyPr>
          <a:lstStyle/>
          <a:p>
            <a:r>
              <a:rPr lang="en-US" dirty="0"/>
              <a:t>SQL Query:</a:t>
            </a:r>
          </a:p>
          <a:p>
            <a:pPr marL="114300" indent="0">
              <a:buNone/>
            </a:pPr>
            <a:r>
              <a:rPr lang="en-US" dirty="0"/>
              <a:t>INSERT INTO Users (</a:t>
            </a:r>
            <a:r>
              <a:rPr lang="en-US" dirty="0" err="1"/>
              <a:t>user_id</a:t>
            </a:r>
            <a:r>
              <a:rPr lang="en-US" dirty="0"/>
              <a:t>, </a:t>
            </a:r>
            <a:r>
              <a:rPr lang="en-US" dirty="0" err="1"/>
              <a:t>first_name</a:t>
            </a:r>
            <a:r>
              <a:rPr lang="en-US" dirty="0"/>
              <a:t>, </a:t>
            </a:r>
            <a:r>
              <a:rPr lang="en-US" dirty="0" err="1"/>
              <a:t>last_name</a:t>
            </a:r>
            <a:r>
              <a:rPr lang="en-US" dirty="0"/>
              <a:t>, email, </a:t>
            </a:r>
            <a:r>
              <a:rPr lang="en-US" dirty="0" err="1"/>
              <a:t>password_hash</a:t>
            </a:r>
            <a:r>
              <a:rPr lang="en-US" dirty="0"/>
              <a:t>, role)</a:t>
            </a:r>
          </a:p>
          <a:p>
            <a:pPr marL="114300" indent="0">
              <a:buNone/>
            </a:pPr>
            <a:r>
              <a:rPr lang="en-US" dirty="0"/>
              <a:t>VALUES</a:t>
            </a:r>
          </a:p>
          <a:p>
            <a:pPr marL="114300" indent="0">
              <a:buNone/>
            </a:pPr>
            <a:r>
              <a:rPr lang="en-US" dirty="0"/>
              <a:t>    (3, 'Alice', 'Chen',  '</a:t>
            </a:r>
            <a:r>
              <a:rPr lang="en-US" dirty="0" err="1"/>
              <a:t>alice@aimarket.com</a:t>
            </a:r>
            <a:r>
              <a:rPr lang="en-US" dirty="0"/>
              <a:t>', '</a:t>
            </a:r>
            <a:r>
              <a:rPr lang="en-US" dirty="0" err="1"/>
              <a:t>hash_alice</a:t>
            </a:r>
            <a:r>
              <a:rPr lang="en-US" dirty="0"/>
              <a:t>', 'seller'),</a:t>
            </a:r>
          </a:p>
          <a:p>
            <a:pPr marL="114300" indent="0">
              <a:buNone/>
            </a:pPr>
            <a:r>
              <a:rPr lang="en-US" dirty="0"/>
              <a:t>    (4, 'Bob',   'Patel', '</a:t>
            </a:r>
            <a:r>
              <a:rPr lang="en-US" dirty="0" err="1"/>
              <a:t>bob@aimarket.com</a:t>
            </a:r>
            <a:r>
              <a:rPr lang="en-US" dirty="0"/>
              <a:t>',   '</a:t>
            </a:r>
            <a:r>
              <a:rPr lang="en-US" dirty="0" err="1"/>
              <a:t>hash_bob</a:t>
            </a:r>
            <a:r>
              <a:rPr lang="en-US" dirty="0"/>
              <a:t>',   'seller'),</a:t>
            </a:r>
          </a:p>
          <a:p>
            <a:pPr marL="114300" indent="0">
              <a:buNone/>
            </a:pPr>
            <a:r>
              <a:rPr lang="en-US" dirty="0"/>
              <a:t>    (5, 'Carol', 'Smith', '</a:t>
            </a:r>
            <a:r>
              <a:rPr lang="en-US" dirty="0" err="1"/>
              <a:t>carol@aimarket.com</a:t>
            </a:r>
            <a:r>
              <a:rPr lang="en-US" dirty="0"/>
              <a:t>', '</a:t>
            </a:r>
            <a:r>
              <a:rPr lang="en-US" dirty="0" err="1"/>
              <a:t>hash_carol</a:t>
            </a:r>
            <a:r>
              <a:rPr lang="en-US" dirty="0"/>
              <a:t>', 'buyer'),</a:t>
            </a:r>
          </a:p>
          <a:p>
            <a:pPr marL="114300" indent="0">
              <a:buNone/>
            </a:pPr>
            <a:r>
              <a:rPr lang="en-US" dirty="0"/>
              <a:t>    (6, 'David', 'Lee',   '</a:t>
            </a:r>
            <a:r>
              <a:rPr lang="en-US" dirty="0" err="1"/>
              <a:t>david@aimarket.com</a:t>
            </a:r>
            <a:r>
              <a:rPr lang="en-US" dirty="0"/>
              <a:t>', '</a:t>
            </a:r>
            <a:r>
              <a:rPr lang="en-US" dirty="0" err="1"/>
              <a:t>hash_david</a:t>
            </a:r>
            <a:r>
              <a:rPr lang="en-US" dirty="0"/>
              <a:t>', 'buyer');</a:t>
            </a:r>
          </a:p>
          <a:p>
            <a:pPr marL="114300" indent="0">
              <a:buNone/>
            </a:pPr>
            <a:endParaRPr lang="en-US" dirty="0"/>
          </a:p>
        </p:txBody>
      </p:sp>
      <p:sp>
        <p:nvSpPr>
          <p:cNvPr id="4" name="Rectangle 3"/>
          <p:cNvSpPr/>
          <p:nvPr/>
        </p:nvSpPr>
        <p:spPr>
          <a:xfrm>
            <a:off x="4955721" y="536285"/>
            <a:ext cx="7004958" cy="610944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 name="Rectangle 4"/>
          <p:cNvSpPr/>
          <p:nvPr/>
        </p:nvSpPr>
        <p:spPr>
          <a:xfrm>
            <a:off x="4955721" y="166953"/>
            <a:ext cx="3020379" cy="369332"/>
          </a:xfrm>
          <a:prstGeom prst="rect">
            <a:avLst/>
          </a:prstGeom>
        </p:spPr>
        <p:txBody>
          <a:bodyPr wrap="none">
            <a:spAutoFit/>
          </a:bodyPr>
          <a:lstStyle/>
          <a:p>
            <a:r>
              <a:rPr lang="en-US" dirty="0"/>
              <a:t>Snapshot of the query output:</a:t>
            </a:r>
          </a:p>
        </p:txBody>
      </p:sp>
      <p:sp>
        <p:nvSpPr>
          <p:cNvPr id="6" name="TextBox 5"/>
          <p:cNvSpPr txBox="1"/>
          <p:nvPr/>
        </p:nvSpPr>
        <p:spPr>
          <a:xfrm>
            <a:off x="119741" y="759278"/>
            <a:ext cx="4631873" cy="149243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dirty="0"/>
              <a:t>Description: </a:t>
            </a:r>
            <a:br>
              <a:rPr lang="en-US" dirty="0"/>
            </a:br>
            <a:r>
              <a:rPr lang="en-US" dirty="0"/>
              <a:t>Populates the marketplace with additional sellers, buyers, categories, AI products, subscriptions, payments, reviews, tags, and seller payouts to represent a realistic set of platform activity.</a:t>
            </a:r>
          </a:p>
        </p:txBody>
      </p:sp>
      <p:pic>
        <p:nvPicPr>
          <p:cNvPr id="7" name="Picture 6">
            <a:extLst>
              <a:ext uri="{FF2B5EF4-FFF2-40B4-BE49-F238E27FC236}">
                <a16:creationId xmlns:a16="http://schemas.microsoft.com/office/drawing/2014/main" id="{EA7205D2-82B3-B893-2D4B-85B9CFD1E036}"/>
              </a:ext>
            </a:extLst>
          </p:cNvPr>
          <p:cNvPicPr>
            <a:picLocks noChangeAspect="1"/>
          </p:cNvPicPr>
          <p:nvPr/>
        </p:nvPicPr>
        <p:blipFill>
          <a:blip r:embed="rId2"/>
          <a:stretch>
            <a:fillRect/>
          </a:stretch>
        </p:blipFill>
        <p:spPr>
          <a:xfrm>
            <a:off x="5137501" y="2389650"/>
            <a:ext cx="6487481" cy="2389266"/>
          </a:xfrm>
          <a:prstGeom prst="rect">
            <a:avLst/>
          </a:prstGeom>
        </p:spPr>
      </p:pic>
    </p:spTree>
    <p:extLst>
      <p:ext uri="{BB962C8B-B14F-4D97-AF65-F5344CB8AC3E}">
        <p14:creationId xmlns:p14="http://schemas.microsoft.com/office/powerpoint/2010/main" val="4246029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892" y="152854"/>
            <a:ext cx="4574721" cy="443139"/>
          </a:xfrm>
        </p:spPr>
        <p:txBody>
          <a:bodyPr>
            <a:normAutofit fontScale="90000"/>
          </a:bodyPr>
          <a:lstStyle/>
          <a:p>
            <a:r>
              <a:rPr lang="en-US" dirty="0"/>
              <a:t>QM3: UPDATE DATA</a:t>
            </a:r>
          </a:p>
        </p:txBody>
      </p:sp>
      <p:sp>
        <p:nvSpPr>
          <p:cNvPr id="3" name="Content Placeholder 2"/>
          <p:cNvSpPr>
            <a:spLocks noGrp="1"/>
          </p:cNvSpPr>
          <p:nvPr>
            <p:ph idx="1"/>
          </p:nvPr>
        </p:nvSpPr>
        <p:spPr>
          <a:xfrm>
            <a:off x="119741" y="2334985"/>
            <a:ext cx="4631873" cy="4318907"/>
          </a:xfrm>
        </p:spPr>
        <p:style>
          <a:lnRef idx="2">
            <a:schemeClr val="accent6"/>
          </a:lnRef>
          <a:fillRef idx="1">
            <a:schemeClr val="lt1"/>
          </a:fillRef>
          <a:effectRef idx="0">
            <a:schemeClr val="accent6"/>
          </a:effectRef>
          <a:fontRef idx="minor">
            <a:schemeClr val="dk1"/>
          </a:fontRef>
        </p:style>
        <p:txBody>
          <a:bodyPr/>
          <a:lstStyle/>
          <a:p>
            <a:r>
              <a:rPr lang="en-US" dirty="0"/>
              <a:t>SQL Query:</a:t>
            </a:r>
          </a:p>
          <a:p>
            <a:pPr marL="114300" indent="0">
              <a:buNone/>
            </a:pPr>
            <a:r>
              <a:rPr lang="en-US" dirty="0"/>
              <a:t>UPDATE </a:t>
            </a:r>
            <a:r>
              <a:rPr lang="en-US" dirty="0" err="1"/>
              <a:t>Seller_Payouts</a:t>
            </a:r>
            <a:endParaRPr lang="en-US" dirty="0"/>
          </a:p>
          <a:p>
            <a:pPr marL="114300" indent="0">
              <a:buNone/>
            </a:pPr>
            <a:r>
              <a:rPr lang="en-US" dirty="0"/>
              <a:t>SET </a:t>
            </a:r>
            <a:r>
              <a:rPr lang="en-US" dirty="0" err="1"/>
              <a:t>payout_status</a:t>
            </a:r>
            <a:r>
              <a:rPr lang="en-US" dirty="0"/>
              <a:t> = 'completed'</a:t>
            </a:r>
          </a:p>
          <a:p>
            <a:pPr marL="114300" indent="0">
              <a:buNone/>
            </a:pPr>
            <a:r>
              <a:rPr lang="en-US" dirty="0"/>
              <a:t>WHERE </a:t>
            </a:r>
            <a:r>
              <a:rPr lang="en-US" dirty="0" err="1"/>
              <a:t>payout_status</a:t>
            </a:r>
            <a:r>
              <a:rPr lang="en-US" dirty="0"/>
              <a:t> = 'pending'</a:t>
            </a:r>
          </a:p>
          <a:p>
            <a:pPr marL="114300" indent="0">
              <a:buNone/>
            </a:pPr>
            <a:r>
              <a:rPr lang="en-US" dirty="0"/>
              <a:t>  AND </a:t>
            </a:r>
            <a:r>
              <a:rPr lang="en-US" dirty="0" err="1"/>
              <a:t>payout_date</a:t>
            </a:r>
            <a:r>
              <a:rPr lang="en-US" dirty="0"/>
              <a:t> &lt;= DATEADD(DAY, -30, GETDATE());</a:t>
            </a:r>
          </a:p>
          <a:p>
            <a:pPr marL="114300" indent="0">
              <a:buNone/>
            </a:pPr>
            <a:endParaRPr lang="en-US" dirty="0"/>
          </a:p>
        </p:txBody>
      </p:sp>
      <p:sp>
        <p:nvSpPr>
          <p:cNvPr id="4" name="Rectangle 3"/>
          <p:cNvSpPr/>
          <p:nvPr/>
        </p:nvSpPr>
        <p:spPr>
          <a:xfrm>
            <a:off x="4955721" y="536285"/>
            <a:ext cx="7004958" cy="610944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 name="Rectangle 4"/>
          <p:cNvSpPr/>
          <p:nvPr/>
        </p:nvSpPr>
        <p:spPr>
          <a:xfrm>
            <a:off x="4955721" y="166953"/>
            <a:ext cx="3020379" cy="369332"/>
          </a:xfrm>
          <a:prstGeom prst="rect">
            <a:avLst/>
          </a:prstGeom>
        </p:spPr>
        <p:txBody>
          <a:bodyPr wrap="none">
            <a:spAutoFit/>
          </a:bodyPr>
          <a:lstStyle/>
          <a:p>
            <a:r>
              <a:rPr lang="en-US" dirty="0"/>
              <a:t>Snapshot of the query output:</a:t>
            </a:r>
          </a:p>
        </p:txBody>
      </p:sp>
      <p:sp>
        <p:nvSpPr>
          <p:cNvPr id="6" name="TextBox 5"/>
          <p:cNvSpPr txBox="1"/>
          <p:nvPr/>
        </p:nvSpPr>
        <p:spPr>
          <a:xfrm>
            <a:off x="119741" y="759278"/>
            <a:ext cx="4631873" cy="149243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dirty="0"/>
              <a:t>Description: </a:t>
            </a:r>
          </a:p>
          <a:p>
            <a:r>
              <a:rPr lang="en-US" dirty="0"/>
              <a:t>Marks all pending seller payouts older than 30 days as completed to reflect disbursements that have been successfully processed by the platform.</a:t>
            </a:r>
          </a:p>
        </p:txBody>
      </p:sp>
      <p:pic>
        <p:nvPicPr>
          <p:cNvPr id="7" name="Picture 6">
            <a:extLst>
              <a:ext uri="{FF2B5EF4-FFF2-40B4-BE49-F238E27FC236}">
                <a16:creationId xmlns:a16="http://schemas.microsoft.com/office/drawing/2014/main" id="{2C4F5727-3A0B-DE04-005B-CD47C480ABA2}"/>
              </a:ext>
            </a:extLst>
          </p:cNvPr>
          <p:cNvPicPr>
            <a:picLocks noChangeAspect="1"/>
          </p:cNvPicPr>
          <p:nvPr/>
        </p:nvPicPr>
        <p:blipFill>
          <a:blip r:embed="rId2"/>
          <a:stretch>
            <a:fillRect/>
          </a:stretch>
        </p:blipFill>
        <p:spPr>
          <a:xfrm>
            <a:off x="5029574" y="722868"/>
            <a:ext cx="6677957" cy="2419688"/>
          </a:xfrm>
          <a:prstGeom prst="rect">
            <a:avLst/>
          </a:prstGeom>
        </p:spPr>
      </p:pic>
      <p:pic>
        <p:nvPicPr>
          <p:cNvPr id="8" name="Picture 7">
            <a:extLst>
              <a:ext uri="{FF2B5EF4-FFF2-40B4-BE49-F238E27FC236}">
                <a16:creationId xmlns:a16="http://schemas.microsoft.com/office/drawing/2014/main" id="{D66F507C-E9FC-5BFA-454E-8643B9616410}"/>
              </a:ext>
            </a:extLst>
          </p:cNvPr>
          <p:cNvPicPr>
            <a:picLocks noChangeAspect="1"/>
          </p:cNvPicPr>
          <p:nvPr/>
        </p:nvPicPr>
        <p:blipFill>
          <a:blip r:embed="rId3"/>
          <a:stretch>
            <a:fillRect/>
          </a:stretch>
        </p:blipFill>
        <p:spPr>
          <a:xfrm>
            <a:off x="5029574" y="3658849"/>
            <a:ext cx="6868484" cy="2162477"/>
          </a:xfrm>
          <a:prstGeom prst="rect">
            <a:avLst/>
          </a:prstGeom>
        </p:spPr>
      </p:pic>
    </p:spTree>
    <p:extLst>
      <p:ext uri="{BB962C8B-B14F-4D97-AF65-F5344CB8AC3E}">
        <p14:creationId xmlns:p14="http://schemas.microsoft.com/office/powerpoint/2010/main" val="3128503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893" y="152854"/>
            <a:ext cx="4313464" cy="443139"/>
          </a:xfrm>
        </p:spPr>
        <p:txBody>
          <a:bodyPr>
            <a:normAutofit fontScale="90000"/>
          </a:bodyPr>
          <a:lstStyle/>
          <a:p>
            <a:r>
              <a:rPr lang="en-US" dirty="0"/>
              <a:t>QM4: DELETE DATA</a:t>
            </a:r>
          </a:p>
        </p:txBody>
      </p:sp>
      <p:sp>
        <p:nvSpPr>
          <p:cNvPr id="3" name="Content Placeholder 2"/>
          <p:cNvSpPr>
            <a:spLocks noGrp="1"/>
          </p:cNvSpPr>
          <p:nvPr>
            <p:ph idx="1"/>
          </p:nvPr>
        </p:nvSpPr>
        <p:spPr>
          <a:xfrm>
            <a:off x="119741" y="2334985"/>
            <a:ext cx="4631873" cy="4318907"/>
          </a:xfrm>
        </p:spPr>
        <p:style>
          <a:lnRef idx="2">
            <a:schemeClr val="accent6"/>
          </a:lnRef>
          <a:fillRef idx="1">
            <a:schemeClr val="lt1"/>
          </a:fillRef>
          <a:effectRef idx="0">
            <a:schemeClr val="accent6"/>
          </a:effectRef>
          <a:fontRef idx="minor">
            <a:schemeClr val="dk1"/>
          </a:fontRef>
        </p:style>
        <p:txBody>
          <a:bodyPr/>
          <a:lstStyle/>
          <a:p>
            <a:r>
              <a:rPr lang="en-US" dirty="0"/>
              <a:t>SQL Query:</a:t>
            </a:r>
          </a:p>
          <a:p>
            <a:pPr marL="114300" indent="0">
              <a:buNone/>
            </a:pPr>
            <a:r>
              <a:rPr lang="en-US" dirty="0"/>
              <a:t>DELETE FROM Reviews</a:t>
            </a:r>
          </a:p>
          <a:p>
            <a:pPr marL="114300" indent="0">
              <a:buNone/>
            </a:pPr>
            <a:r>
              <a:rPr lang="en-US" dirty="0"/>
              <a:t>WHERE </a:t>
            </a:r>
            <a:r>
              <a:rPr lang="en-US" dirty="0" err="1"/>
              <a:t>review_id</a:t>
            </a:r>
            <a:r>
              <a:rPr lang="en-US" dirty="0"/>
              <a:t> = 4;</a:t>
            </a:r>
          </a:p>
          <a:p>
            <a:pPr marL="114300" indent="0">
              <a:buNone/>
            </a:pPr>
            <a:endParaRPr lang="en-US" dirty="0"/>
          </a:p>
        </p:txBody>
      </p:sp>
      <p:sp>
        <p:nvSpPr>
          <p:cNvPr id="4" name="Rectangle 3"/>
          <p:cNvSpPr/>
          <p:nvPr/>
        </p:nvSpPr>
        <p:spPr>
          <a:xfrm>
            <a:off x="4955721" y="536285"/>
            <a:ext cx="7004958" cy="610944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 name="Rectangle 4"/>
          <p:cNvSpPr/>
          <p:nvPr/>
        </p:nvSpPr>
        <p:spPr>
          <a:xfrm>
            <a:off x="4955721" y="166953"/>
            <a:ext cx="3020379" cy="369332"/>
          </a:xfrm>
          <a:prstGeom prst="rect">
            <a:avLst/>
          </a:prstGeom>
        </p:spPr>
        <p:txBody>
          <a:bodyPr wrap="none">
            <a:spAutoFit/>
          </a:bodyPr>
          <a:lstStyle/>
          <a:p>
            <a:r>
              <a:rPr lang="en-US" dirty="0"/>
              <a:t>Snapshot of the query output:</a:t>
            </a:r>
          </a:p>
        </p:txBody>
      </p:sp>
      <p:sp>
        <p:nvSpPr>
          <p:cNvPr id="6" name="TextBox 5"/>
          <p:cNvSpPr txBox="1"/>
          <p:nvPr/>
        </p:nvSpPr>
        <p:spPr>
          <a:xfrm>
            <a:off x="119741" y="759278"/>
            <a:ext cx="4631873" cy="149243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dirty="0"/>
              <a:t>Description:</a:t>
            </a:r>
          </a:p>
          <a:p>
            <a:r>
              <a:rPr lang="en-US" dirty="0"/>
              <a:t>Removes a buyer's review that was submitted in error for a product they did not use long enough to evaluate, maintaining rating accuracy on the platform.</a:t>
            </a:r>
          </a:p>
        </p:txBody>
      </p:sp>
      <p:pic>
        <p:nvPicPr>
          <p:cNvPr id="7" name="Picture 6">
            <a:extLst>
              <a:ext uri="{FF2B5EF4-FFF2-40B4-BE49-F238E27FC236}">
                <a16:creationId xmlns:a16="http://schemas.microsoft.com/office/drawing/2014/main" id="{1A7BE478-E0AD-4A46-0531-CA0CCC9322E6}"/>
              </a:ext>
            </a:extLst>
          </p:cNvPr>
          <p:cNvPicPr>
            <a:picLocks noChangeAspect="1"/>
          </p:cNvPicPr>
          <p:nvPr/>
        </p:nvPicPr>
        <p:blipFill>
          <a:blip r:embed="rId2"/>
          <a:stretch>
            <a:fillRect/>
          </a:stretch>
        </p:blipFill>
        <p:spPr>
          <a:xfrm>
            <a:off x="5051075" y="759278"/>
            <a:ext cx="6814249" cy="2345163"/>
          </a:xfrm>
          <a:prstGeom prst="rect">
            <a:avLst/>
          </a:prstGeom>
        </p:spPr>
      </p:pic>
      <p:pic>
        <p:nvPicPr>
          <p:cNvPr id="8" name="Picture 7">
            <a:extLst>
              <a:ext uri="{FF2B5EF4-FFF2-40B4-BE49-F238E27FC236}">
                <a16:creationId xmlns:a16="http://schemas.microsoft.com/office/drawing/2014/main" id="{02C0CD89-01AB-F948-43BD-542D4F2A36FA}"/>
              </a:ext>
            </a:extLst>
          </p:cNvPr>
          <p:cNvPicPr>
            <a:picLocks noChangeAspect="1"/>
          </p:cNvPicPr>
          <p:nvPr/>
        </p:nvPicPr>
        <p:blipFill>
          <a:blip r:embed="rId3"/>
          <a:stretch>
            <a:fillRect/>
          </a:stretch>
        </p:blipFill>
        <p:spPr>
          <a:xfrm>
            <a:off x="5122583" y="3892601"/>
            <a:ext cx="6536016" cy="1964968"/>
          </a:xfrm>
          <a:prstGeom prst="rect">
            <a:avLst/>
          </a:prstGeom>
        </p:spPr>
      </p:pic>
    </p:spTree>
    <p:extLst>
      <p:ext uri="{BB962C8B-B14F-4D97-AF65-F5344CB8AC3E}">
        <p14:creationId xmlns:p14="http://schemas.microsoft.com/office/powerpoint/2010/main" val="3991591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893" y="152854"/>
            <a:ext cx="4313464" cy="443139"/>
          </a:xfrm>
        </p:spPr>
        <p:txBody>
          <a:bodyPr>
            <a:noAutofit/>
          </a:bodyPr>
          <a:lstStyle/>
          <a:p>
            <a:r>
              <a:rPr lang="en-US" sz="2400" dirty="0"/>
              <a:t>QM5: QUERY DATA WITH WHERE CLAUSE</a:t>
            </a:r>
          </a:p>
        </p:txBody>
      </p:sp>
      <p:sp>
        <p:nvSpPr>
          <p:cNvPr id="3" name="Content Placeholder 2"/>
          <p:cNvSpPr>
            <a:spLocks noGrp="1"/>
          </p:cNvSpPr>
          <p:nvPr>
            <p:ph idx="1"/>
          </p:nvPr>
        </p:nvSpPr>
        <p:spPr>
          <a:xfrm>
            <a:off x="119741" y="2334985"/>
            <a:ext cx="4631873" cy="4318907"/>
          </a:xfrm>
        </p:spPr>
        <p:style>
          <a:lnRef idx="2">
            <a:schemeClr val="accent6"/>
          </a:lnRef>
          <a:fillRef idx="1">
            <a:schemeClr val="lt1"/>
          </a:fillRef>
          <a:effectRef idx="0">
            <a:schemeClr val="accent6"/>
          </a:effectRef>
          <a:fontRef idx="minor">
            <a:schemeClr val="dk1"/>
          </a:fontRef>
        </p:style>
        <p:txBody>
          <a:bodyPr/>
          <a:lstStyle/>
          <a:p>
            <a:r>
              <a:rPr lang="en-US" dirty="0"/>
              <a:t>SQL Query:</a:t>
            </a:r>
          </a:p>
          <a:p>
            <a:pPr marL="114300" indent="0">
              <a:buNone/>
            </a:pPr>
            <a:r>
              <a:rPr lang="en-US" dirty="0"/>
              <a:t>SELECT </a:t>
            </a:r>
            <a:r>
              <a:rPr lang="en-US" dirty="0" err="1"/>
              <a:t>product_id</a:t>
            </a:r>
            <a:r>
              <a:rPr lang="en-US" dirty="0"/>
              <a:t>, </a:t>
            </a:r>
            <a:r>
              <a:rPr lang="en-US" dirty="0" err="1"/>
              <a:t>product_name</a:t>
            </a:r>
            <a:r>
              <a:rPr lang="en-US" dirty="0"/>
              <a:t>, price, </a:t>
            </a:r>
            <a:r>
              <a:rPr lang="en-US" dirty="0" err="1"/>
              <a:t>product_type</a:t>
            </a:r>
            <a:r>
              <a:rPr lang="en-US" dirty="0"/>
              <a:t>, </a:t>
            </a:r>
            <a:r>
              <a:rPr lang="en-US" dirty="0" err="1"/>
              <a:t>seller_id</a:t>
            </a:r>
            <a:endParaRPr lang="en-US" dirty="0"/>
          </a:p>
          <a:p>
            <a:pPr marL="114300" indent="0">
              <a:buNone/>
            </a:pPr>
            <a:r>
              <a:rPr lang="en-US" dirty="0"/>
              <a:t>FROM Products</a:t>
            </a:r>
          </a:p>
          <a:p>
            <a:pPr marL="114300" indent="0">
              <a:buNone/>
            </a:pPr>
            <a:r>
              <a:rPr lang="en-US" dirty="0"/>
              <a:t>WHERE price &gt; 75.00</a:t>
            </a:r>
          </a:p>
          <a:p>
            <a:pPr marL="114300" indent="0">
              <a:buNone/>
            </a:pPr>
            <a:r>
              <a:rPr lang="en-US" dirty="0"/>
              <a:t>  AND status = 'active';</a:t>
            </a:r>
          </a:p>
          <a:p>
            <a:pPr marL="114300" indent="0">
              <a:buNone/>
            </a:pPr>
            <a:endParaRPr lang="en-US" dirty="0"/>
          </a:p>
        </p:txBody>
      </p:sp>
      <p:sp>
        <p:nvSpPr>
          <p:cNvPr id="4" name="Rectangle 3"/>
          <p:cNvSpPr/>
          <p:nvPr/>
        </p:nvSpPr>
        <p:spPr>
          <a:xfrm>
            <a:off x="4955721" y="536285"/>
            <a:ext cx="7004958" cy="610944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 name="Rectangle 4"/>
          <p:cNvSpPr/>
          <p:nvPr/>
        </p:nvSpPr>
        <p:spPr>
          <a:xfrm>
            <a:off x="4955721" y="166953"/>
            <a:ext cx="3020379" cy="369332"/>
          </a:xfrm>
          <a:prstGeom prst="rect">
            <a:avLst/>
          </a:prstGeom>
        </p:spPr>
        <p:txBody>
          <a:bodyPr wrap="none">
            <a:spAutoFit/>
          </a:bodyPr>
          <a:lstStyle/>
          <a:p>
            <a:r>
              <a:rPr lang="en-US" dirty="0"/>
              <a:t>Snapshot of the query output:</a:t>
            </a:r>
          </a:p>
        </p:txBody>
      </p:sp>
      <p:sp>
        <p:nvSpPr>
          <p:cNvPr id="6" name="TextBox 5"/>
          <p:cNvSpPr txBox="1"/>
          <p:nvPr/>
        </p:nvSpPr>
        <p:spPr>
          <a:xfrm>
            <a:off x="119741" y="759278"/>
            <a:ext cx="4631873" cy="149243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dirty="0"/>
              <a:t>Description:</a:t>
            </a:r>
          </a:p>
          <a:p>
            <a:r>
              <a:rPr lang="en-US" dirty="0"/>
              <a:t>Retrieves all active products priced above $75 to help buyers browse the platform's premium AI tool offerings.</a:t>
            </a:r>
          </a:p>
        </p:txBody>
      </p:sp>
      <p:pic>
        <p:nvPicPr>
          <p:cNvPr id="7" name="Picture 6">
            <a:extLst>
              <a:ext uri="{FF2B5EF4-FFF2-40B4-BE49-F238E27FC236}">
                <a16:creationId xmlns:a16="http://schemas.microsoft.com/office/drawing/2014/main" id="{0D2A5D4C-EC0D-442F-3E53-773726A21FFF}"/>
              </a:ext>
            </a:extLst>
          </p:cNvPr>
          <p:cNvPicPr>
            <a:picLocks noChangeAspect="1"/>
          </p:cNvPicPr>
          <p:nvPr/>
        </p:nvPicPr>
        <p:blipFill>
          <a:blip r:embed="rId2"/>
          <a:stretch>
            <a:fillRect/>
          </a:stretch>
        </p:blipFill>
        <p:spPr>
          <a:xfrm>
            <a:off x="5129333" y="759278"/>
            <a:ext cx="6657734" cy="1401922"/>
          </a:xfrm>
          <a:prstGeom prst="rect">
            <a:avLst/>
          </a:prstGeom>
        </p:spPr>
      </p:pic>
      <p:pic>
        <p:nvPicPr>
          <p:cNvPr id="8" name="Picture 7">
            <a:extLst>
              <a:ext uri="{FF2B5EF4-FFF2-40B4-BE49-F238E27FC236}">
                <a16:creationId xmlns:a16="http://schemas.microsoft.com/office/drawing/2014/main" id="{5601718C-00D1-F015-B20F-1A71978A2195}"/>
              </a:ext>
            </a:extLst>
          </p:cNvPr>
          <p:cNvPicPr>
            <a:picLocks noChangeAspect="1"/>
          </p:cNvPicPr>
          <p:nvPr/>
        </p:nvPicPr>
        <p:blipFill>
          <a:blip r:embed="rId3"/>
          <a:stretch>
            <a:fillRect/>
          </a:stretch>
        </p:blipFill>
        <p:spPr>
          <a:xfrm>
            <a:off x="5340313" y="4261196"/>
            <a:ext cx="5868219" cy="1724266"/>
          </a:xfrm>
          <a:prstGeom prst="rect">
            <a:avLst/>
          </a:prstGeom>
        </p:spPr>
      </p:pic>
    </p:spTree>
    <p:extLst>
      <p:ext uri="{BB962C8B-B14F-4D97-AF65-F5344CB8AC3E}">
        <p14:creationId xmlns:p14="http://schemas.microsoft.com/office/powerpoint/2010/main" val="967625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893" y="152854"/>
            <a:ext cx="4313464" cy="443139"/>
          </a:xfrm>
        </p:spPr>
        <p:txBody>
          <a:bodyPr>
            <a:noAutofit/>
          </a:bodyPr>
          <a:lstStyle/>
          <a:p>
            <a:r>
              <a:rPr lang="en-US" sz="2400" dirty="0"/>
              <a:t>QM6.1: QUERY DATA WITH 'SUB-QUERY IN WHERE CLAUSE'</a:t>
            </a:r>
          </a:p>
        </p:txBody>
      </p:sp>
      <p:sp>
        <p:nvSpPr>
          <p:cNvPr id="3" name="Content Placeholder 2"/>
          <p:cNvSpPr>
            <a:spLocks noGrp="1"/>
          </p:cNvSpPr>
          <p:nvPr>
            <p:ph idx="1"/>
          </p:nvPr>
        </p:nvSpPr>
        <p:spPr>
          <a:xfrm>
            <a:off x="119741" y="2334985"/>
            <a:ext cx="4631873" cy="4318907"/>
          </a:xfrm>
        </p:spPr>
        <p:style>
          <a:lnRef idx="2">
            <a:schemeClr val="accent6"/>
          </a:lnRef>
          <a:fillRef idx="1">
            <a:schemeClr val="lt1"/>
          </a:fillRef>
          <a:effectRef idx="0">
            <a:schemeClr val="accent6"/>
          </a:effectRef>
          <a:fontRef idx="minor">
            <a:schemeClr val="dk1"/>
          </a:fontRef>
        </p:style>
        <p:txBody>
          <a:bodyPr>
            <a:normAutofit fontScale="62500" lnSpcReduction="20000"/>
          </a:bodyPr>
          <a:lstStyle/>
          <a:p>
            <a:r>
              <a:rPr lang="en-US" dirty="0"/>
              <a:t>SQL Query:</a:t>
            </a:r>
          </a:p>
          <a:p>
            <a:pPr marL="114300" indent="0">
              <a:buNone/>
            </a:pPr>
            <a:r>
              <a:rPr lang="en-US" dirty="0"/>
              <a:t>SELECT </a:t>
            </a:r>
            <a:r>
              <a:rPr lang="en-US" dirty="0" err="1"/>
              <a:t>user_id</a:t>
            </a:r>
            <a:r>
              <a:rPr lang="en-US" dirty="0"/>
              <a:t>, </a:t>
            </a:r>
            <a:r>
              <a:rPr lang="en-US" dirty="0" err="1"/>
              <a:t>first_name</a:t>
            </a:r>
            <a:r>
              <a:rPr lang="en-US" dirty="0"/>
              <a:t>, </a:t>
            </a:r>
            <a:r>
              <a:rPr lang="en-US" dirty="0" err="1"/>
              <a:t>last_name</a:t>
            </a:r>
            <a:r>
              <a:rPr lang="en-US" dirty="0"/>
              <a:t>, email</a:t>
            </a:r>
          </a:p>
          <a:p>
            <a:pPr marL="114300" indent="0">
              <a:buNone/>
            </a:pPr>
            <a:r>
              <a:rPr lang="en-US" dirty="0"/>
              <a:t>FROM Users</a:t>
            </a:r>
          </a:p>
          <a:p>
            <a:pPr marL="114300" indent="0">
              <a:buNone/>
            </a:pPr>
            <a:r>
              <a:rPr lang="en-US" dirty="0"/>
              <a:t>WHERE role = 'buyer'</a:t>
            </a:r>
          </a:p>
          <a:p>
            <a:pPr marL="114300" indent="0">
              <a:buNone/>
            </a:pPr>
            <a:r>
              <a:rPr lang="en-US" dirty="0"/>
              <a:t>  AND </a:t>
            </a:r>
            <a:r>
              <a:rPr lang="en-US" dirty="0" err="1"/>
              <a:t>user_id</a:t>
            </a:r>
            <a:r>
              <a:rPr lang="en-US" dirty="0"/>
              <a:t> IN (</a:t>
            </a:r>
          </a:p>
          <a:p>
            <a:pPr marL="114300" indent="0">
              <a:buNone/>
            </a:pPr>
            <a:r>
              <a:rPr lang="en-US" dirty="0"/>
              <a:t>      SELECT </a:t>
            </a:r>
            <a:r>
              <a:rPr lang="en-US" dirty="0" err="1"/>
              <a:t>s.buyer_id</a:t>
            </a:r>
            <a:endParaRPr lang="en-US" dirty="0"/>
          </a:p>
          <a:p>
            <a:pPr marL="114300" indent="0">
              <a:buNone/>
            </a:pPr>
            <a:r>
              <a:rPr lang="en-US" dirty="0"/>
              <a:t>      FROM Subscriptions s</a:t>
            </a:r>
          </a:p>
          <a:p>
            <a:pPr marL="114300" indent="0">
              <a:buNone/>
            </a:pPr>
            <a:r>
              <a:rPr lang="en-US" dirty="0"/>
              <a:t>      JOIN Products   p ON </a:t>
            </a:r>
            <a:r>
              <a:rPr lang="en-US" dirty="0" err="1"/>
              <a:t>s.product_id</a:t>
            </a:r>
            <a:r>
              <a:rPr lang="en-US" dirty="0"/>
              <a:t>  = </a:t>
            </a:r>
            <a:r>
              <a:rPr lang="en-US" dirty="0" err="1"/>
              <a:t>p.product_id</a:t>
            </a:r>
            <a:endParaRPr lang="en-US" dirty="0"/>
          </a:p>
          <a:p>
            <a:pPr marL="114300" indent="0">
              <a:buNone/>
            </a:pPr>
            <a:r>
              <a:rPr lang="en-US" dirty="0"/>
              <a:t>      JOIN Categories c ON </a:t>
            </a:r>
            <a:r>
              <a:rPr lang="en-US" dirty="0" err="1"/>
              <a:t>p.category_id</a:t>
            </a:r>
            <a:r>
              <a:rPr lang="en-US" dirty="0"/>
              <a:t> = </a:t>
            </a:r>
            <a:r>
              <a:rPr lang="en-US" dirty="0" err="1"/>
              <a:t>c.category_id</a:t>
            </a:r>
            <a:endParaRPr lang="en-US" dirty="0"/>
          </a:p>
          <a:p>
            <a:pPr marL="114300" indent="0">
              <a:buNone/>
            </a:pPr>
            <a:r>
              <a:rPr lang="en-US" dirty="0"/>
              <a:t>      WHERE </a:t>
            </a:r>
            <a:r>
              <a:rPr lang="en-US" dirty="0" err="1"/>
              <a:t>c.category_name</a:t>
            </a:r>
            <a:r>
              <a:rPr lang="en-US" dirty="0"/>
              <a:t> = 'Code Assistant'</a:t>
            </a:r>
          </a:p>
          <a:p>
            <a:pPr marL="114300" indent="0">
              <a:buNone/>
            </a:pPr>
            <a:r>
              <a:rPr lang="en-US" dirty="0"/>
              <a:t>        AND </a:t>
            </a:r>
            <a:r>
              <a:rPr lang="en-US" dirty="0" err="1"/>
              <a:t>s.status</a:t>
            </a:r>
            <a:r>
              <a:rPr lang="en-US" dirty="0"/>
              <a:t> = 'active'</a:t>
            </a:r>
          </a:p>
          <a:p>
            <a:pPr marL="114300" indent="0">
              <a:buNone/>
            </a:pPr>
            <a:r>
              <a:rPr lang="en-US" dirty="0"/>
              <a:t>  );</a:t>
            </a:r>
          </a:p>
          <a:p>
            <a:pPr marL="114300" indent="0">
              <a:buNone/>
            </a:pPr>
            <a:endParaRPr lang="en-US" dirty="0"/>
          </a:p>
        </p:txBody>
      </p:sp>
      <p:sp>
        <p:nvSpPr>
          <p:cNvPr id="4" name="Rectangle 3"/>
          <p:cNvSpPr/>
          <p:nvPr/>
        </p:nvSpPr>
        <p:spPr>
          <a:xfrm>
            <a:off x="4955721" y="536285"/>
            <a:ext cx="7004958" cy="610944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 name="Rectangle 4"/>
          <p:cNvSpPr/>
          <p:nvPr/>
        </p:nvSpPr>
        <p:spPr>
          <a:xfrm>
            <a:off x="4955721" y="166953"/>
            <a:ext cx="3020379" cy="369332"/>
          </a:xfrm>
          <a:prstGeom prst="rect">
            <a:avLst/>
          </a:prstGeom>
        </p:spPr>
        <p:txBody>
          <a:bodyPr wrap="none">
            <a:spAutoFit/>
          </a:bodyPr>
          <a:lstStyle/>
          <a:p>
            <a:r>
              <a:rPr lang="en-US" dirty="0"/>
              <a:t>Snapshot of the query output:</a:t>
            </a:r>
          </a:p>
        </p:txBody>
      </p:sp>
      <p:sp>
        <p:nvSpPr>
          <p:cNvPr id="6" name="TextBox 5"/>
          <p:cNvSpPr txBox="1"/>
          <p:nvPr/>
        </p:nvSpPr>
        <p:spPr>
          <a:xfrm>
            <a:off x="119741" y="759278"/>
            <a:ext cx="4631873" cy="149243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dirty="0"/>
              <a:t>Description:</a:t>
            </a:r>
          </a:p>
          <a:p>
            <a:r>
              <a:rPr lang="en-US" dirty="0"/>
              <a:t>Retrieves all buyers who hold an active subscription to at least one Code Assistant product to identify the platform's active developer user base.</a:t>
            </a:r>
          </a:p>
        </p:txBody>
      </p:sp>
      <p:pic>
        <p:nvPicPr>
          <p:cNvPr id="7" name="Picture 6">
            <a:extLst>
              <a:ext uri="{FF2B5EF4-FFF2-40B4-BE49-F238E27FC236}">
                <a16:creationId xmlns:a16="http://schemas.microsoft.com/office/drawing/2014/main" id="{F68E7A5A-3B34-FFA8-4022-2422DF35D1FB}"/>
              </a:ext>
            </a:extLst>
          </p:cNvPr>
          <p:cNvPicPr>
            <a:picLocks noChangeAspect="1"/>
          </p:cNvPicPr>
          <p:nvPr/>
        </p:nvPicPr>
        <p:blipFill>
          <a:blip r:embed="rId2"/>
          <a:stretch>
            <a:fillRect/>
          </a:stretch>
        </p:blipFill>
        <p:spPr>
          <a:xfrm>
            <a:off x="5027159" y="595993"/>
            <a:ext cx="2948941" cy="854213"/>
          </a:xfrm>
          <a:prstGeom prst="rect">
            <a:avLst/>
          </a:prstGeom>
        </p:spPr>
      </p:pic>
      <p:pic>
        <p:nvPicPr>
          <p:cNvPr id="8" name="Picture 7">
            <a:extLst>
              <a:ext uri="{FF2B5EF4-FFF2-40B4-BE49-F238E27FC236}">
                <a16:creationId xmlns:a16="http://schemas.microsoft.com/office/drawing/2014/main" id="{AD6351F4-073A-B047-033A-98ED81FC3074}"/>
              </a:ext>
            </a:extLst>
          </p:cNvPr>
          <p:cNvPicPr>
            <a:picLocks noChangeAspect="1"/>
          </p:cNvPicPr>
          <p:nvPr/>
        </p:nvPicPr>
        <p:blipFill>
          <a:blip r:embed="rId3"/>
          <a:stretch>
            <a:fillRect/>
          </a:stretch>
        </p:blipFill>
        <p:spPr>
          <a:xfrm>
            <a:off x="5027159" y="1503480"/>
            <a:ext cx="6299467" cy="1054349"/>
          </a:xfrm>
          <a:prstGeom prst="rect">
            <a:avLst/>
          </a:prstGeom>
        </p:spPr>
      </p:pic>
      <p:pic>
        <p:nvPicPr>
          <p:cNvPr id="9" name="Picture 8">
            <a:extLst>
              <a:ext uri="{FF2B5EF4-FFF2-40B4-BE49-F238E27FC236}">
                <a16:creationId xmlns:a16="http://schemas.microsoft.com/office/drawing/2014/main" id="{B3AADB29-C81B-6EB9-6D08-1A22E06233FB}"/>
              </a:ext>
            </a:extLst>
          </p:cNvPr>
          <p:cNvPicPr>
            <a:picLocks noChangeAspect="1"/>
          </p:cNvPicPr>
          <p:nvPr/>
        </p:nvPicPr>
        <p:blipFill>
          <a:blip r:embed="rId4"/>
          <a:stretch>
            <a:fillRect/>
          </a:stretch>
        </p:blipFill>
        <p:spPr>
          <a:xfrm>
            <a:off x="5027159" y="2611104"/>
            <a:ext cx="3471382" cy="1144412"/>
          </a:xfrm>
          <a:prstGeom prst="rect">
            <a:avLst/>
          </a:prstGeom>
        </p:spPr>
      </p:pic>
      <p:pic>
        <p:nvPicPr>
          <p:cNvPr id="11" name="Picture 10">
            <a:extLst>
              <a:ext uri="{FF2B5EF4-FFF2-40B4-BE49-F238E27FC236}">
                <a16:creationId xmlns:a16="http://schemas.microsoft.com/office/drawing/2014/main" id="{0E7286E0-A5B2-2525-59CB-E4DDDCC66E8F}"/>
              </a:ext>
            </a:extLst>
          </p:cNvPr>
          <p:cNvPicPr>
            <a:picLocks noChangeAspect="1"/>
          </p:cNvPicPr>
          <p:nvPr/>
        </p:nvPicPr>
        <p:blipFill>
          <a:blip r:embed="rId5"/>
          <a:stretch>
            <a:fillRect/>
          </a:stretch>
        </p:blipFill>
        <p:spPr>
          <a:xfrm>
            <a:off x="5027159" y="3808791"/>
            <a:ext cx="5653298" cy="1144412"/>
          </a:xfrm>
          <a:prstGeom prst="rect">
            <a:avLst/>
          </a:prstGeom>
        </p:spPr>
      </p:pic>
      <p:pic>
        <p:nvPicPr>
          <p:cNvPr id="12" name="Picture 11">
            <a:extLst>
              <a:ext uri="{FF2B5EF4-FFF2-40B4-BE49-F238E27FC236}">
                <a16:creationId xmlns:a16="http://schemas.microsoft.com/office/drawing/2014/main" id="{859AF698-FA18-3EE8-FB52-E8FC316B820B}"/>
              </a:ext>
            </a:extLst>
          </p:cNvPr>
          <p:cNvPicPr>
            <a:picLocks noChangeAspect="1"/>
          </p:cNvPicPr>
          <p:nvPr/>
        </p:nvPicPr>
        <p:blipFill>
          <a:blip r:embed="rId6"/>
          <a:stretch>
            <a:fillRect/>
          </a:stretch>
        </p:blipFill>
        <p:spPr>
          <a:xfrm>
            <a:off x="5813007" y="5167843"/>
            <a:ext cx="5166517" cy="1370525"/>
          </a:xfrm>
          <a:prstGeom prst="rect">
            <a:avLst/>
          </a:prstGeom>
        </p:spPr>
      </p:pic>
    </p:spTree>
    <p:extLst>
      <p:ext uri="{BB962C8B-B14F-4D97-AF65-F5344CB8AC3E}">
        <p14:creationId xmlns:p14="http://schemas.microsoft.com/office/powerpoint/2010/main" val="23523204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893" y="152854"/>
            <a:ext cx="4313464" cy="443139"/>
          </a:xfrm>
        </p:spPr>
        <p:txBody>
          <a:bodyPr>
            <a:noAutofit/>
          </a:bodyPr>
          <a:lstStyle/>
          <a:p>
            <a:r>
              <a:rPr lang="en-US" sz="2400" dirty="0"/>
              <a:t>QM6.2: QUERY DATA WITH SUB-QUERY IN FROM CLAUSE</a:t>
            </a:r>
          </a:p>
        </p:txBody>
      </p:sp>
      <p:sp>
        <p:nvSpPr>
          <p:cNvPr id="3" name="Content Placeholder 2"/>
          <p:cNvSpPr>
            <a:spLocks noGrp="1"/>
          </p:cNvSpPr>
          <p:nvPr>
            <p:ph idx="1"/>
          </p:nvPr>
        </p:nvSpPr>
        <p:spPr>
          <a:xfrm>
            <a:off x="119741" y="2334985"/>
            <a:ext cx="4631873" cy="4318907"/>
          </a:xfrm>
        </p:spPr>
        <p:style>
          <a:lnRef idx="2">
            <a:schemeClr val="accent6"/>
          </a:lnRef>
          <a:fillRef idx="1">
            <a:schemeClr val="lt1"/>
          </a:fillRef>
          <a:effectRef idx="0">
            <a:schemeClr val="accent6"/>
          </a:effectRef>
          <a:fontRef idx="minor">
            <a:schemeClr val="dk1"/>
          </a:fontRef>
        </p:style>
        <p:txBody>
          <a:bodyPr>
            <a:normAutofit fontScale="77500" lnSpcReduction="20000"/>
          </a:bodyPr>
          <a:lstStyle/>
          <a:p>
            <a:r>
              <a:rPr lang="en-US" dirty="0"/>
              <a:t>SQL Query:</a:t>
            </a:r>
          </a:p>
          <a:p>
            <a:pPr marL="114300" indent="0">
              <a:buNone/>
            </a:pPr>
            <a:r>
              <a:rPr lang="en-US" dirty="0"/>
              <a:t>SELECT </a:t>
            </a:r>
            <a:r>
              <a:rPr lang="en-US" dirty="0" err="1"/>
              <a:t>p.product_id</a:t>
            </a:r>
            <a:r>
              <a:rPr lang="en-US" dirty="0"/>
              <a:t>, </a:t>
            </a:r>
            <a:r>
              <a:rPr lang="en-US" dirty="0" err="1"/>
              <a:t>p.product_name</a:t>
            </a:r>
            <a:r>
              <a:rPr lang="en-US" dirty="0"/>
              <a:t>, </a:t>
            </a:r>
            <a:r>
              <a:rPr lang="en-US" dirty="0" err="1"/>
              <a:t>p.price</a:t>
            </a:r>
            <a:r>
              <a:rPr lang="en-US" dirty="0"/>
              <a:t>, </a:t>
            </a:r>
            <a:r>
              <a:rPr lang="en-US" dirty="0" err="1"/>
              <a:t>avg_r.avg_rating</a:t>
            </a:r>
            <a:endParaRPr lang="en-US" dirty="0"/>
          </a:p>
          <a:p>
            <a:pPr marL="114300" indent="0">
              <a:buNone/>
            </a:pPr>
            <a:r>
              <a:rPr lang="en-US" dirty="0"/>
              <a:t>FROM Products p</a:t>
            </a:r>
          </a:p>
          <a:p>
            <a:pPr marL="114300" indent="0">
              <a:buNone/>
            </a:pPr>
            <a:r>
              <a:rPr lang="en-US" dirty="0"/>
              <a:t>JOIN (</a:t>
            </a:r>
          </a:p>
          <a:p>
            <a:pPr marL="114300" indent="0">
              <a:buNone/>
            </a:pPr>
            <a:r>
              <a:rPr lang="en-US" dirty="0"/>
              <a:t>    SELECT </a:t>
            </a:r>
            <a:r>
              <a:rPr lang="en-US" dirty="0" err="1"/>
              <a:t>product_id</a:t>
            </a:r>
            <a:r>
              <a:rPr lang="en-US" dirty="0"/>
              <a:t>,</a:t>
            </a:r>
          </a:p>
          <a:p>
            <a:pPr marL="114300" indent="0">
              <a:buNone/>
            </a:pPr>
            <a:r>
              <a:rPr lang="en-US" dirty="0"/>
              <a:t>           ROUND(AVG(CAST(rating AS DECIMAL(5,2))), 2) AS </a:t>
            </a:r>
            <a:r>
              <a:rPr lang="en-US" dirty="0" err="1"/>
              <a:t>avg_rating</a:t>
            </a:r>
            <a:endParaRPr lang="en-US" dirty="0"/>
          </a:p>
          <a:p>
            <a:pPr marL="114300" indent="0">
              <a:buNone/>
            </a:pPr>
            <a:r>
              <a:rPr lang="en-US" dirty="0"/>
              <a:t>    FROM Reviews</a:t>
            </a:r>
          </a:p>
          <a:p>
            <a:pPr marL="114300" indent="0">
              <a:buNone/>
            </a:pPr>
            <a:r>
              <a:rPr lang="en-US" dirty="0"/>
              <a:t>    GROUP BY </a:t>
            </a:r>
            <a:r>
              <a:rPr lang="en-US" dirty="0" err="1"/>
              <a:t>product_id</a:t>
            </a:r>
            <a:endParaRPr lang="en-US" dirty="0"/>
          </a:p>
          <a:p>
            <a:pPr marL="114300" indent="0">
              <a:buNone/>
            </a:pPr>
            <a:r>
              <a:rPr lang="en-US" dirty="0"/>
              <a:t>) AS </a:t>
            </a:r>
            <a:r>
              <a:rPr lang="en-US" dirty="0" err="1"/>
              <a:t>avg_r</a:t>
            </a:r>
            <a:r>
              <a:rPr lang="en-US" dirty="0"/>
              <a:t> ON </a:t>
            </a:r>
            <a:r>
              <a:rPr lang="en-US" dirty="0" err="1"/>
              <a:t>p.product_id</a:t>
            </a:r>
            <a:r>
              <a:rPr lang="en-US" dirty="0"/>
              <a:t> = </a:t>
            </a:r>
            <a:r>
              <a:rPr lang="en-US" dirty="0" err="1"/>
              <a:t>avg_r.product_id</a:t>
            </a:r>
            <a:r>
              <a:rPr lang="en-US" dirty="0"/>
              <a:t>;</a:t>
            </a:r>
          </a:p>
          <a:p>
            <a:pPr marL="114300" indent="0">
              <a:buNone/>
            </a:pPr>
            <a:endParaRPr lang="en-US" dirty="0"/>
          </a:p>
        </p:txBody>
      </p:sp>
      <p:sp>
        <p:nvSpPr>
          <p:cNvPr id="4" name="Rectangle 3"/>
          <p:cNvSpPr/>
          <p:nvPr/>
        </p:nvSpPr>
        <p:spPr>
          <a:xfrm>
            <a:off x="4955721" y="536285"/>
            <a:ext cx="7004958" cy="610944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 name="Rectangle 4"/>
          <p:cNvSpPr/>
          <p:nvPr/>
        </p:nvSpPr>
        <p:spPr>
          <a:xfrm>
            <a:off x="4955721" y="166953"/>
            <a:ext cx="3020379" cy="369332"/>
          </a:xfrm>
          <a:prstGeom prst="rect">
            <a:avLst/>
          </a:prstGeom>
        </p:spPr>
        <p:txBody>
          <a:bodyPr wrap="none">
            <a:spAutoFit/>
          </a:bodyPr>
          <a:lstStyle/>
          <a:p>
            <a:r>
              <a:rPr lang="en-US" dirty="0"/>
              <a:t>Snapshot of the query output:</a:t>
            </a:r>
          </a:p>
        </p:txBody>
      </p:sp>
      <p:sp>
        <p:nvSpPr>
          <p:cNvPr id="6" name="TextBox 5"/>
          <p:cNvSpPr txBox="1"/>
          <p:nvPr/>
        </p:nvSpPr>
        <p:spPr>
          <a:xfrm>
            <a:off x="119741" y="759278"/>
            <a:ext cx="4631873" cy="149243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dirty="0"/>
              <a:t>Description:</a:t>
            </a:r>
          </a:p>
          <a:p>
            <a:r>
              <a:rPr lang="en-US" dirty="0"/>
              <a:t>Displays each listed product alongside its average customer rating to help the platform surface high-performing AI tools for its featured section.</a:t>
            </a:r>
          </a:p>
        </p:txBody>
      </p:sp>
      <p:pic>
        <p:nvPicPr>
          <p:cNvPr id="7" name="Picture 6">
            <a:extLst>
              <a:ext uri="{FF2B5EF4-FFF2-40B4-BE49-F238E27FC236}">
                <a16:creationId xmlns:a16="http://schemas.microsoft.com/office/drawing/2014/main" id="{4345356F-FE7A-AACC-8A11-3B43BF3DF327}"/>
              </a:ext>
            </a:extLst>
          </p:cNvPr>
          <p:cNvPicPr>
            <a:picLocks noChangeAspect="1"/>
          </p:cNvPicPr>
          <p:nvPr/>
        </p:nvPicPr>
        <p:blipFill>
          <a:blip r:embed="rId2"/>
          <a:stretch>
            <a:fillRect/>
          </a:stretch>
        </p:blipFill>
        <p:spPr>
          <a:xfrm>
            <a:off x="5067112" y="819559"/>
            <a:ext cx="4736954" cy="1078112"/>
          </a:xfrm>
          <a:prstGeom prst="rect">
            <a:avLst/>
          </a:prstGeom>
        </p:spPr>
      </p:pic>
      <p:pic>
        <p:nvPicPr>
          <p:cNvPr id="8" name="Picture 7">
            <a:extLst>
              <a:ext uri="{FF2B5EF4-FFF2-40B4-BE49-F238E27FC236}">
                <a16:creationId xmlns:a16="http://schemas.microsoft.com/office/drawing/2014/main" id="{8E5B03E5-9A7C-3759-F480-B5DFA9395E79}"/>
              </a:ext>
            </a:extLst>
          </p:cNvPr>
          <p:cNvPicPr>
            <a:picLocks noChangeAspect="1"/>
          </p:cNvPicPr>
          <p:nvPr/>
        </p:nvPicPr>
        <p:blipFill>
          <a:blip r:embed="rId3"/>
          <a:stretch>
            <a:fillRect/>
          </a:stretch>
        </p:blipFill>
        <p:spPr>
          <a:xfrm>
            <a:off x="5067112" y="1974638"/>
            <a:ext cx="6758380" cy="1171973"/>
          </a:xfrm>
          <a:prstGeom prst="rect">
            <a:avLst/>
          </a:prstGeom>
        </p:spPr>
      </p:pic>
      <p:pic>
        <p:nvPicPr>
          <p:cNvPr id="9" name="Picture 8">
            <a:extLst>
              <a:ext uri="{FF2B5EF4-FFF2-40B4-BE49-F238E27FC236}">
                <a16:creationId xmlns:a16="http://schemas.microsoft.com/office/drawing/2014/main" id="{C73A8B4B-7DB3-7A22-B69B-9A23BBF4ECE8}"/>
              </a:ext>
            </a:extLst>
          </p:cNvPr>
          <p:cNvPicPr>
            <a:picLocks noChangeAspect="1"/>
          </p:cNvPicPr>
          <p:nvPr/>
        </p:nvPicPr>
        <p:blipFill>
          <a:blip r:embed="rId4"/>
          <a:stretch>
            <a:fillRect/>
          </a:stretch>
        </p:blipFill>
        <p:spPr>
          <a:xfrm>
            <a:off x="6033748" y="4570770"/>
            <a:ext cx="4991161" cy="1608154"/>
          </a:xfrm>
          <a:prstGeom prst="rect">
            <a:avLst/>
          </a:prstGeom>
        </p:spPr>
      </p:pic>
    </p:spTree>
    <p:extLst>
      <p:ext uri="{BB962C8B-B14F-4D97-AF65-F5344CB8AC3E}">
        <p14:creationId xmlns:p14="http://schemas.microsoft.com/office/powerpoint/2010/main" val="3417142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893" y="152854"/>
            <a:ext cx="4313464" cy="443139"/>
          </a:xfrm>
        </p:spPr>
        <p:txBody>
          <a:bodyPr>
            <a:noAutofit/>
          </a:bodyPr>
          <a:lstStyle/>
          <a:p>
            <a:r>
              <a:rPr lang="en-US" sz="2400" dirty="0"/>
              <a:t>QM6.3: QUERY DATA WITH 'SUB-QUERY IN SELECT CLAUSE'</a:t>
            </a:r>
          </a:p>
        </p:txBody>
      </p:sp>
      <p:sp>
        <p:nvSpPr>
          <p:cNvPr id="3" name="Content Placeholder 2"/>
          <p:cNvSpPr>
            <a:spLocks noGrp="1"/>
          </p:cNvSpPr>
          <p:nvPr>
            <p:ph idx="1"/>
          </p:nvPr>
        </p:nvSpPr>
        <p:spPr>
          <a:xfrm>
            <a:off x="119741" y="2334985"/>
            <a:ext cx="4631873" cy="4318907"/>
          </a:xfrm>
        </p:spPr>
        <p:style>
          <a:lnRef idx="2">
            <a:schemeClr val="accent6"/>
          </a:lnRef>
          <a:fillRef idx="1">
            <a:schemeClr val="lt1"/>
          </a:fillRef>
          <a:effectRef idx="0">
            <a:schemeClr val="accent6"/>
          </a:effectRef>
          <a:fontRef idx="minor">
            <a:schemeClr val="dk1"/>
          </a:fontRef>
        </p:style>
        <p:txBody>
          <a:bodyPr>
            <a:normAutofit fontScale="85000" lnSpcReduction="20000"/>
          </a:bodyPr>
          <a:lstStyle/>
          <a:p>
            <a:r>
              <a:rPr lang="en-US" dirty="0"/>
              <a:t>SQL Query:</a:t>
            </a:r>
          </a:p>
          <a:p>
            <a:pPr marL="114300" indent="0">
              <a:buNone/>
            </a:pPr>
            <a:r>
              <a:rPr lang="en-US" dirty="0"/>
              <a:t>SELECT</a:t>
            </a:r>
          </a:p>
          <a:p>
            <a:pPr marL="114300" indent="0">
              <a:buNone/>
            </a:pPr>
            <a:r>
              <a:rPr lang="en-US" dirty="0"/>
              <a:t>    </a:t>
            </a:r>
            <a:r>
              <a:rPr lang="en-US" dirty="0" err="1"/>
              <a:t>u.user_id</a:t>
            </a:r>
            <a:r>
              <a:rPr lang="en-US" dirty="0"/>
              <a:t>,</a:t>
            </a:r>
          </a:p>
          <a:p>
            <a:pPr marL="114300" indent="0">
              <a:buNone/>
            </a:pPr>
            <a:r>
              <a:rPr lang="en-US" dirty="0"/>
              <a:t>    </a:t>
            </a:r>
            <a:r>
              <a:rPr lang="en-US" dirty="0" err="1"/>
              <a:t>u.first_name</a:t>
            </a:r>
            <a:r>
              <a:rPr lang="en-US" dirty="0"/>
              <a:t>,</a:t>
            </a:r>
          </a:p>
          <a:p>
            <a:pPr marL="114300" indent="0">
              <a:buNone/>
            </a:pPr>
            <a:r>
              <a:rPr lang="en-US" dirty="0"/>
              <a:t>    </a:t>
            </a:r>
            <a:r>
              <a:rPr lang="en-US" dirty="0" err="1"/>
              <a:t>u.last_name</a:t>
            </a:r>
            <a:r>
              <a:rPr lang="en-US" dirty="0"/>
              <a:t>,</a:t>
            </a:r>
          </a:p>
          <a:p>
            <a:pPr marL="114300" indent="0">
              <a:buNone/>
            </a:pPr>
            <a:r>
              <a:rPr lang="en-US" dirty="0"/>
              <a:t>    (SELECT COUNT(*)</a:t>
            </a:r>
          </a:p>
          <a:p>
            <a:pPr marL="114300" indent="0">
              <a:buNone/>
            </a:pPr>
            <a:r>
              <a:rPr lang="en-US" dirty="0"/>
              <a:t>     FROM Products p</a:t>
            </a:r>
          </a:p>
          <a:p>
            <a:pPr marL="114300" indent="0">
              <a:buNone/>
            </a:pPr>
            <a:r>
              <a:rPr lang="en-US" dirty="0"/>
              <a:t>     WHERE </a:t>
            </a:r>
            <a:r>
              <a:rPr lang="en-US" dirty="0" err="1"/>
              <a:t>p.seller_id</a:t>
            </a:r>
            <a:r>
              <a:rPr lang="en-US" dirty="0"/>
              <a:t> = </a:t>
            </a:r>
            <a:r>
              <a:rPr lang="en-US" dirty="0" err="1"/>
              <a:t>u.user_id</a:t>
            </a:r>
            <a:r>
              <a:rPr lang="en-US" dirty="0"/>
              <a:t>) AS </a:t>
            </a:r>
            <a:r>
              <a:rPr lang="en-US" dirty="0" err="1"/>
              <a:t>product_count</a:t>
            </a:r>
            <a:endParaRPr lang="en-US" dirty="0"/>
          </a:p>
          <a:p>
            <a:pPr marL="114300" indent="0">
              <a:buNone/>
            </a:pPr>
            <a:r>
              <a:rPr lang="en-US" dirty="0"/>
              <a:t>FROM Users u</a:t>
            </a:r>
          </a:p>
          <a:p>
            <a:pPr marL="114300" indent="0">
              <a:buNone/>
            </a:pPr>
            <a:r>
              <a:rPr lang="en-US" dirty="0"/>
              <a:t>WHERE </a:t>
            </a:r>
            <a:r>
              <a:rPr lang="en-US" dirty="0" err="1"/>
              <a:t>u.role</a:t>
            </a:r>
            <a:r>
              <a:rPr lang="en-US" dirty="0"/>
              <a:t> = 'seller';</a:t>
            </a:r>
          </a:p>
          <a:p>
            <a:pPr marL="114300" indent="0">
              <a:buNone/>
            </a:pPr>
            <a:endParaRPr lang="en-US" dirty="0"/>
          </a:p>
        </p:txBody>
      </p:sp>
      <p:sp>
        <p:nvSpPr>
          <p:cNvPr id="4" name="Rectangle 3"/>
          <p:cNvSpPr/>
          <p:nvPr/>
        </p:nvSpPr>
        <p:spPr>
          <a:xfrm>
            <a:off x="4955721" y="536285"/>
            <a:ext cx="7004958" cy="610944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 name="Rectangle 4"/>
          <p:cNvSpPr/>
          <p:nvPr/>
        </p:nvSpPr>
        <p:spPr>
          <a:xfrm>
            <a:off x="4955721" y="166953"/>
            <a:ext cx="3020379" cy="369332"/>
          </a:xfrm>
          <a:prstGeom prst="rect">
            <a:avLst/>
          </a:prstGeom>
        </p:spPr>
        <p:txBody>
          <a:bodyPr wrap="none">
            <a:spAutoFit/>
          </a:bodyPr>
          <a:lstStyle/>
          <a:p>
            <a:r>
              <a:rPr lang="en-US" dirty="0"/>
              <a:t>Snapshot of the query output:</a:t>
            </a:r>
          </a:p>
        </p:txBody>
      </p:sp>
      <p:sp>
        <p:nvSpPr>
          <p:cNvPr id="6" name="TextBox 5"/>
          <p:cNvSpPr txBox="1"/>
          <p:nvPr/>
        </p:nvSpPr>
        <p:spPr>
          <a:xfrm>
            <a:off x="119741" y="759278"/>
            <a:ext cx="4631873" cy="149243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dirty="0"/>
              <a:t>Description:</a:t>
            </a:r>
          </a:p>
          <a:p>
            <a:r>
              <a:rPr lang="en-US" dirty="0"/>
              <a:t>Lists every seller account alongside the number of AI products they have published, giving the platform a quick view of individual seller activity levels.</a:t>
            </a:r>
          </a:p>
        </p:txBody>
      </p:sp>
      <p:pic>
        <p:nvPicPr>
          <p:cNvPr id="7" name="Picture 6">
            <a:extLst>
              <a:ext uri="{FF2B5EF4-FFF2-40B4-BE49-F238E27FC236}">
                <a16:creationId xmlns:a16="http://schemas.microsoft.com/office/drawing/2014/main" id="{B2B93FAB-0E04-EFC6-309F-AC6C1F20E539}"/>
              </a:ext>
            </a:extLst>
          </p:cNvPr>
          <p:cNvPicPr>
            <a:picLocks noChangeAspect="1"/>
          </p:cNvPicPr>
          <p:nvPr/>
        </p:nvPicPr>
        <p:blipFill>
          <a:blip r:embed="rId2"/>
          <a:stretch>
            <a:fillRect/>
          </a:stretch>
        </p:blipFill>
        <p:spPr>
          <a:xfrm>
            <a:off x="5035940" y="595993"/>
            <a:ext cx="6844519" cy="1292164"/>
          </a:xfrm>
          <a:prstGeom prst="rect">
            <a:avLst/>
          </a:prstGeom>
        </p:spPr>
      </p:pic>
      <p:pic>
        <p:nvPicPr>
          <p:cNvPr id="8" name="Picture 7">
            <a:extLst>
              <a:ext uri="{FF2B5EF4-FFF2-40B4-BE49-F238E27FC236}">
                <a16:creationId xmlns:a16="http://schemas.microsoft.com/office/drawing/2014/main" id="{92B95658-879D-3386-0829-E71796007915}"/>
              </a:ext>
            </a:extLst>
          </p:cNvPr>
          <p:cNvPicPr>
            <a:picLocks noChangeAspect="1"/>
          </p:cNvPicPr>
          <p:nvPr/>
        </p:nvPicPr>
        <p:blipFill>
          <a:blip r:embed="rId3"/>
          <a:stretch>
            <a:fillRect/>
          </a:stretch>
        </p:blipFill>
        <p:spPr>
          <a:xfrm>
            <a:off x="5035940" y="1947916"/>
            <a:ext cx="6599620" cy="1481084"/>
          </a:xfrm>
          <a:prstGeom prst="rect">
            <a:avLst/>
          </a:prstGeom>
        </p:spPr>
      </p:pic>
      <p:pic>
        <p:nvPicPr>
          <p:cNvPr id="9" name="Picture 8">
            <a:extLst>
              <a:ext uri="{FF2B5EF4-FFF2-40B4-BE49-F238E27FC236}">
                <a16:creationId xmlns:a16="http://schemas.microsoft.com/office/drawing/2014/main" id="{103DAFCE-BD18-410D-4DAD-EB771F212311}"/>
              </a:ext>
            </a:extLst>
          </p:cNvPr>
          <p:cNvPicPr>
            <a:picLocks noChangeAspect="1"/>
          </p:cNvPicPr>
          <p:nvPr/>
        </p:nvPicPr>
        <p:blipFill>
          <a:blip r:embed="rId4"/>
          <a:stretch>
            <a:fillRect/>
          </a:stretch>
        </p:blipFill>
        <p:spPr>
          <a:xfrm>
            <a:off x="6054193" y="4237153"/>
            <a:ext cx="4673707" cy="1639212"/>
          </a:xfrm>
          <a:prstGeom prst="rect">
            <a:avLst/>
          </a:prstGeom>
        </p:spPr>
      </p:pic>
    </p:spTree>
    <p:extLst>
      <p:ext uri="{BB962C8B-B14F-4D97-AF65-F5344CB8AC3E}">
        <p14:creationId xmlns:p14="http://schemas.microsoft.com/office/powerpoint/2010/main" val="16289320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892" y="152854"/>
            <a:ext cx="4484007" cy="443139"/>
          </a:xfrm>
        </p:spPr>
        <p:txBody>
          <a:bodyPr>
            <a:noAutofit/>
          </a:bodyPr>
          <a:lstStyle/>
          <a:p>
            <a:r>
              <a:rPr lang="en-US" sz="2800" dirty="0"/>
              <a:t>QM7: QUERY DATA WITH EXCEPT</a:t>
            </a:r>
          </a:p>
        </p:txBody>
      </p:sp>
      <p:sp>
        <p:nvSpPr>
          <p:cNvPr id="3" name="Content Placeholder 2"/>
          <p:cNvSpPr>
            <a:spLocks noGrp="1"/>
          </p:cNvSpPr>
          <p:nvPr>
            <p:ph idx="1"/>
          </p:nvPr>
        </p:nvSpPr>
        <p:spPr>
          <a:xfrm>
            <a:off x="119741" y="2334985"/>
            <a:ext cx="4631873" cy="4318907"/>
          </a:xfrm>
        </p:spPr>
        <p:style>
          <a:lnRef idx="2">
            <a:schemeClr val="accent6"/>
          </a:lnRef>
          <a:fillRef idx="1">
            <a:schemeClr val="lt1"/>
          </a:fillRef>
          <a:effectRef idx="0">
            <a:schemeClr val="accent6"/>
          </a:effectRef>
          <a:fontRef idx="minor">
            <a:schemeClr val="dk1"/>
          </a:fontRef>
        </p:style>
        <p:txBody>
          <a:bodyPr>
            <a:normAutofit fontScale="92500" lnSpcReduction="20000"/>
          </a:bodyPr>
          <a:lstStyle/>
          <a:p>
            <a:r>
              <a:rPr lang="en-US" dirty="0"/>
              <a:t>SQL Query:</a:t>
            </a:r>
          </a:p>
          <a:p>
            <a:pPr marL="114300" indent="0">
              <a:buNone/>
            </a:pPr>
            <a:r>
              <a:rPr lang="en-US" dirty="0"/>
              <a:t>SELECT </a:t>
            </a:r>
            <a:r>
              <a:rPr lang="en-US" dirty="0" err="1"/>
              <a:t>u.user_id</a:t>
            </a:r>
            <a:r>
              <a:rPr lang="en-US" dirty="0"/>
              <a:t>, </a:t>
            </a:r>
            <a:r>
              <a:rPr lang="en-US" dirty="0" err="1"/>
              <a:t>u.first_name</a:t>
            </a:r>
            <a:r>
              <a:rPr lang="en-US" dirty="0"/>
              <a:t>, </a:t>
            </a:r>
            <a:r>
              <a:rPr lang="en-US" dirty="0" err="1"/>
              <a:t>u.last_name</a:t>
            </a:r>
            <a:endParaRPr lang="en-US" dirty="0"/>
          </a:p>
          <a:p>
            <a:pPr marL="114300" indent="0">
              <a:buNone/>
            </a:pPr>
            <a:r>
              <a:rPr lang="en-US" dirty="0"/>
              <a:t>FROM Users u</a:t>
            </a:r>
          </a:p>
          <a:p>
            <a:pPr marL="114300" indent="0">
              <a:buNone/>
            </a:pPr>
            <a:r>
              <a:rPr lang="en-US" dirty="0"/>
              <a:t>WHERE </a:t>
            </a:r>
            <a:r>
              <a:rPr lang="en-US" dirty="0" err="1"/>
              <a:t>u.role</a:t>
            </a:r>
            <a:r>
              <a:rPr lang="en-US" dirty="0"/>
              <a:t> = 'seller'</a:t>
            </a:r>
          </a:p>
          <a:p>
            <a:pPr marL="114300" indent="0">
              <a:buNone/>
            </a:pPr>
            <a:r>
              <a:rPr lang="en-US" dirty="0"/>
              <a:t>EXCEPT</a:t>
            </a:r>
          </a:p>
          <a:p>
            <a:pPr marL="114300" indent="0">
              <a:buNone/>
            </a:pPr>
            <a:r>
              <a:rPr lang="en-US" dirty="0"/>
              <a:t>SELECT </a:t>
            </a:r>
            <a:r>
              <a:rPr lang="en-US" dirty="0" err="1"/>
              <a:t>u.user_id</a:t>
            </a:r>
            <a:r>
              <a:rPr lang="en-US" dirty="0"/>
              <a:t>, </a:t>
            </a:r>
            <a:r>
              <a:rPr lang="en-US" dirty="0" err="1"/>
              <a:t>u.first_name</a:t>
            </a:r>
            <a:r>
              <a:rPr lang="en-US" dirty="0"/>
              <a:t>, </a:t>
            </a:r>
            <a:r>
              <a:rPr lang="en-US" dirty="0" err="1"/>
              <a:t>u.last_name</a:t>
            </a:r>
            <a:endParaRPr lang="en-US" dirty="0"/>
          </a:p>
          <a:p>
            <a:pPr marL="114300" indent="0">
              <a:buNone/>
            </a:pPr>
            <a:r>
              <a:rPr lang="en-US" dirty="0"/>
              <a:t>FROM Users u</a:t>
            </a:r>
          </a:p>
          <a:p>
            <a:pPr marL="114300" indent="0">
              <a:buNone/>
            </a:pPr>
            <a:r>
              <a:rPr lang="en-US" dirty="0"/>
              <a:t>JOIN </a:t>
            </a:r>
            <a:r>
              <a:rPr lang="en-US" dirty="0" err="1"/>
              <a:t>Seller_Payouts</a:t>
            </a:r>
            <a:r>
              <a:rPr lang="en-US" dirty="0"/>
              <a:t> </a:t>
            </a:r>
            <a:r>
              <a:rPr lang="en-US" dirty="0" err="1"/>
              <a:t>sp</a:t>
            </a:r>
            <a:r>
              <a:rPr lang="en-US" dirty="0"/>
              <a:t> ON </a:t>
            </a:r>
            <a:r>
              <a:rPr lang="en-US" dirty="0" err="1"/>
              <a:t>u.user_id</a:t>
            </a:r>
            <a:r>
              <a:rPr lang="en-US" dirty="0"/>
              <a:t> = </a:t>
            </a:r>
            <a:r>
              <a:rPr lang="en-US" dirty="0" err="1"/>
              <a:t>sp.seller_id</a:t>
            </a:r>
            <a:r>
              <a:rPr lang="en-US" dirty="0"/>
              <a:t>;</a:t>
            </a:r>
          </a:p>
          <a:p>
            <a:pPr marL="114300" indent="0">
              <a:buNone/>
            </a:pPr>
            <a:endParaRPr lang="en-US" dirty="0"/>
          </a:p>
        </p:txBody>
      </p:sp>
      <p:sp>
        <p:nvSpPr>
          <p:cNvPr id="4" name="Rectangle 3"/>
          <p:cNvSpPr/>
          <p:nvPr/>
        </p:nvSpPr>
        <p:spPr>
          <a:xfrm>
            <a:off x="4955721" y="536285"/>
            <a:ext cx="7004958" cy="610944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 name="Rectangle 4"/>
          <p:cNvSpPr/>
          <p:nvPr/>
        </p:nvSpPr>
        <p:spPr>
          <a:xfrm>
            <a:off x="4955721" y="166953"/>
            <a:ext cx="3020379" cy="369332"/>
          </a:xfrm>
          <a:prstGeom prst="rect">
            <a:avLst/>
          </a:prstGeom>
        </p:spPr>
        <p:txBody>
          <a:bodyPr wrap="none">
            <a:spAutoFit/>
          </a:bodyPr>
          <a:lstStyle/>
          <a:p>
            <a:r>
              <a:rPr lang="en-US" dirty="0"/>
              <a:t>Snapshot of the query output:</a:t>
            </a:r>
          </a:p>
        </p:txBody>
      </p:sp>
      <p:sp>
        <p:nvSpPr>
          <p:cNvPr id="6" name="TextBox 5"/>
          <p:cNvSpPr txBox="1"/>
          <p:nvPr/>
        </p:nvSpPr>
        <p:spPr>
          <a:xfrm>
            <a:off x="119741" y="759278"/>
            <a:ext cx="4631873" cy="149243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dirty="0"/>
              <a:t>Description:</a:t>
            </a:r>
          </a:p>
          <a:p>
            <a:r>
              <a:rPr lang="en-US" dirty="0"/>
              <a:t>Identifies sellers who have published products but have never received a payout, flagging accounts that may be owed earnings by the platform.</a:t>
            </a:r>
          </a:p>
        </p:txBody>
      </p:sp>
      <p:pic>
        <p:nvPicPr>
          <p:cNvPr id="7" name="Picture 6">
            <a:extLst>
              <a:ext uri="{FF2B5EF4-FFF2-40B4-BE49-F238E27FC236}">
                <a16:creationId xmlns:a16="http://schemas.microsoft.com/office/drawing/2014/main" id="{DCB56FF8-0DDB-45FC-F0BB-CB6CA9A3DB48}"/>
              </a:ext>
            </a:extLst>
          </p:cNvPr>
          <p:cNvPicPr>
            <a:picLocks noChangeAspect="1"/>
          </p:cNvPicPr>
          <p:nvPr/>
        </p:nvPicPr>
        <p:blipFill>
          <a:blip r:embed="rId2"/>
          <a:stretch>
            <a:fillRect/>
          </a:stretch>
        </p:blipFill>
        <p:spPr>
          <a:xfrm>
            <a:off x="5029199" y="659297"/>
            <a:ext cx="6690979" cy="1434185"/>
          </a:xfrm>
          <a:prstGeom prst="rect">
            <a:avLst/>
          </a:prstGeom>
        </p:spPr>
      </p:pic>
      <p:pic>
        <p:nvPicPr>
          <p:cNvPr id="8" name="Picture 7">
            <a:extLst>
              <a:ext uri="{FF2B5EF4-FFF2-40B4-BE49-F238E27FC236}">
                <a16:creationId xmlns:a16="http://schemas.microsoft.com/office/drawing/2014/main" id="{45522715-1F03-AD2F-FA99-3ED9B02A65EB}"/>
              </a:ext>
            </a:extLst>
          </p:cNvPr>
          <p:cNvPicPr>
            <a:picLocks noChangeAspect="1"/>
          </p:cNvPicPr>
          <p:nvPr/>
        </p:nvPicPr>
        <p:blipFill>
          <a:blip r:embed="rId3"/>
          <a:stretch>
            <a:fillRect/>
          </a:stretch>
        </p:blipFill>
        <p:spPr>
          <a:xfrm>
            <a:off x="5029199" y="2216494"/>
            <a:ext cx="4232937" cy="960120"/>
          </a:xfrm>
          <a:prstGeom prst="rect">
            <a:avLst/>
          </a:prstGeom>
        </p:spPr>
      </p:pic>
      <p:pic>
        <p:nvPicPr>
          <p:cNvPr id="9" name="Picture 8">
            <a:extLst>
              <a:ext uri="{FF2B5EF4-FFF2-40B4-BE49-F238E27FC236}">
                <a16:creationId xmlns:a16="http://schemas.microsoft.com/office/drawing/2014/main" id="{F3BC2011-23F3-3C99-7D05-2CC8CF261A17}"/>
              </a:ext>
            </a:extLst>
          </p:cNvPr>
          <p:cNvPicPr>
            <a:picLocks noChangeAspect="1"/>
          </p:cNvPicPr>
          <p:nvPr/>
        </p:nvPicPr>
        <p:blipFill>
          <a:blip r:embed="rId4"/>
          <a:stretch>
            <a:fillRect/>
          </a:stretch>
        </p:blipFill>
        <p:spPr>
          <a:xfrm>
            <a:off x="5917983" y="4434095"/>
            <a:ext cx="4913410" cy="1434185"/>
          </a:xfrm>
          <a:prstGeom prst="rect">
            <a:avLst/>
          </a:prstGeom>
        </p:spPr>
      </p:pic>
    </p:spTree>
    <p:extLst>
      <p:ext uri="{BB962C8B-B14F-4D97-AF65-F5344CB8AC3E}">
        <p14:creationId xmlns:p14="http://schemas.microsoft.com/office/powerpoint/2010/main" val="2137149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893" y="152854"/>
            <a:ext cx="4313464" cy="443139"/>
          </a:xfrm>
        </p:spPr>
        <p:txBody>
          <a:bodyPr>
            <a:noAutofit/>
          </a:bodyPr>
          <a:lstStyle/>
          <a:p>
            <a:r>
              <a:rPr lang="en-US" sz="2400" dirty="0"/>
              <a:t>QM8.1: QUERY DATA WITH ANY/SOME</a:t>
            </a:r>
          </a:p>
        </p:txBody>
      </p:sp>
      <p:sp>
        <p:nvSpPr>
          <p:cNvPr id="3" name="Content Placeholder 2"/>
          <p:cNvSpPr>
            <a:spLocks noGrp="1"/>
          </p:cNvSpPr>
          <p:nvPr>
            <p:ph idx="1"/>
          </p:nvPr>
        </p:nvSpPr>
        <p:spPr>
          <a:xfrm>
            <a:off x="119741" y="2334985"/>
            <a:ext cx="4631873" cy="4318907"/>
          </a:xfrm>
        </p:spPr>
        <p:style>
          <a:lnRef idx="2">
            <a:schemeClr val="accent6"/>
          </a:lnRef>
          <a:fillRef idx="1">
            <a:schemeClr val="lt1"/>
          </a:fillRef>
          <a:effectRef idx="0">
            <a:schemeClr val="accent6"/>
          </a:effectRef>
          <a:fontRef idx="minor">
            <a:schemeClr val="dk1"/>
          </a:fontRef>
        </p:style>
        <p:txBody>
          <a:bodyPr>
            <a:normAutofit fontScale="77500" lnSpcReduction="20000"/>
          </a:bodyPr>
          <a:lstStyle/>
          <a:p>
            <a:r>
              <a:rPr lang="en-US" dirty="0"/>
              <a:t>SQL Query:</a:t>
            </a:r>
          </a:p>
          <a:p>
            <a:pPr marL="114300" indent="0">
              <a:buNone/>
            </a:pPr>
            <a:r>
              <a:rPr lang="en-US" dirty="0"/>
              <a:t>SELECT </a:t>
            </a:r>
            <a:r>
              <a:rPr lang="en-US" dirty="0" err="1"/>
              <a:t>product_id</a:t>
            </a:r>
            <a:r>
              <a:rPr lang="en-US" dirty="0"/>
              <a:t>, </a:t>
            </a:r>
            <a:r>
              <a:rPr lang="en-US" dirty="0" err="1"/>
              <a:t>product_name</a:t>
            </a:r>
            <a:r>
              <a:rPr lang="en-US" dirty="0"/>
              <a:t>, price, </a:t>
            </a:r>
            <a:r>
              <a:rPr lang="en-US" dirty="0" err="1"/>
              <a:t>product_type</a:t>
            </a:r>
            <a:endParaRPr lang="en-US" dirty="0"/>
          </a:p>
          <a:p>
            <a:pPr marL="114300" indent="0">
              <a:buNone/>
            </a:pPr>
            <a:r>
              <a:rPr lang="en-US" dirty="0"/>
              <a:t>FROM Products</a:t>
            </a:r>
          </a:p>
          <a:p>
            <a:pPr marL="114300" indent="0">
              <a:buNone/>
            </a:pPr>
            <a:r>
              <a:rPr lang="en-US" dirty="0"/>
              <a:t>WHERE price &gt; ANY (</a:t>
            </a:r>
          </a:p>
          <a:p>
            <a:pPr marL="114300" indent="0">
              <a:buNone/>
            </a:pPr>
            <a:r>
              <a:rPr lang="en-US" dirty="0"/>
              <a:t>    SELECT </a:t>
            </a:r>
            <a:r>
              <a:rPr lang="en-US" dirty="0" err="1"/>
              <a:t>p.price</a:t>
            </a:r>
            <a:endParaRPr lang="en-US" dirty="0"/>
          </a:p>
          <a:p>
            <a:pPr marL="114300" indent="0">
              <a:buNone/>
            </a:pPr>
            <a:r>
              <a:rPr lang="en-US" dirty="0"/>
              <a:t>    FROM Products   p</a:t>
            </a:r>
          </a:p>
          <a:p>
            <a:pPr marL="114300" indent="0">
              <a:buNone/>
            </a:pPr>
            <a:r>
              <a:rPr lang="en-US" dirty="0"/>
              <a:t>    JOIN Categories c ON </a:t>
            </a:r>
            <a:r>
              <a:rPr lang="en-US" dirty="0" err="1"/>
              <a:t>p.category_id</a:t>
            </a:r>
            <a:r>
              <a:rPr lang="en-US" dirty="0"/>
              <a:t> = </a:t>
            </a:r>
            <a:r>
              <a:rPr lang="en-US" dirty="0" err="1"/>
              <a:t>c.category_id</a:t>
            </a:r>
            <a:endParaRPr lang="en-US" dirty="0"/>
          </a:p>
          <a:p>
            <a:pPr marL="114300" indent="0">
              <a:buNone/>
            </a:pPr>
            <a:r>
              <a:rPr lang="en-US" dirty="0"/>
              <a:t>    WHERE </a:t>
            </a:r>
            <a:r>
              <a:rPr lang="en-US" dirty="0" err="1"/>
              <a:t>c.category_name</a:t>
            </a:r>
            <a:r>
              <a:rPr lang="en-US" dirty="0"/>
              <a:t> = 'Text Generation'</a:t>
            </a:r>
          </a:p>
          <a:p>
            <a:pPr marL="114300" indent="0">
              <a:buNone/>
            </a:pPr>
            <a:r>
              <a:rPr lang="en-US" dirty="0"/>
              <a:t>);</a:t>
            </a:r>
          </a:p>
          <a:p>
            <a:pPr marL="114300" indent="0">
              <a:buNone/>
            </a:pPr>
            <a:endParaRPr lang="en-US" dirty="0"/>
          </a:p>
        </p:txBody>
      </p:sp>
      <p:sp>
        <p:nvSpPr>
          <p:cNvPr id="4" name="Rectangle 3"/>
          <p:cNvSpPr/>
          <p:nvPr/>
        </p:nvSpPr>
        <p:spPr>
          <a:xfrm>
            <a:off x="4955721" y="536285"/>
            <a:ext cx="7004958" cy="610944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 name="Rectangle 4"/>
          <p:cNvSpPr/>
          <p:nvPr/>
        </p:nvSpPr>
        <p:spPr>
          <a:xfrm>
            <a:off x="4955721" y="166953"/>
            <a:ext cx="3020379" cy="369332"/>
          </a:xfrm>
          <a:prstGeom prst="rect">
            <a:avLst/>
          </a:prstGeom>
        </p:spPr>
        <p:txBody>
          <a:bodyPr wrap="none">
            <a:spAutoFit/>
          </a:bodyPr>
          <a:lstStyle/>
          <a:p>
            <a:r>
              <a:rPr lang="en-US" dirty="0"/>
              <a:t>Snapshot of the query output:</a:t>
            </a:r>
          </a:p>
        </p:txBody>
      </p:sp>
      <p:sp>
        <p:nvSpPr>
          <p:cNvPr id="6" name="TextBox 5"/>
          <p:cNvSpPr txBox="1"/>
          <p:nvPr/>
        </p:nvSpPr>
        <p:spPr>
          <a:xfrm>
            <a:off x="119741" y="759278"/>
            <a:ext cx="4631873" cy="149243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dirty="0"/>
              <a:t>Description:</a:t>
            </a:r>
          </a:p>
          <a:p>
            <a:r>
              <a:rPr lang="en-US" dirty="0"/>
              <a:t>Finds all products priced higher than at least one Text Generation product, helping buyers compare costs against the platform's baseline AI text tools.</a:t>
            </a:r>
          </a:p>
        </p:txBody>
      </p:sp>
      <p:pic>
        <p:nvPicPr>
          <p:cNvPr id="7" name="Picture 6">
            <a:extLst>
              <a:ext uri="{FF2B5EF4-FFF2-40B4-BE49-F238E27FC236}">
                <a16:creationId xmlns:a16="http://schemas.microsoft.com/office/drawing/2014/main" id="{59AB1BBD-5370-BED6-A6D7-3CC7A303B872}"/>
              </a:ext>
            </a:extLst>
          </p:cNvPr>
          <p:cNvPicPr>
            <a:picLocks noChangeAspect="1"/>
          </p:cNvPicPr>
          <p:nvPr/>
        </p:nvPicPr>
        <p:blipFill>
          <a:blip r:embed="rId2"/>
          <a:stretch>
            <a:fillRect/>
          </a:stretch>
        </p:blipFill>
        <p:spPr>
          <a:xfrm>
            <a:off x="5018324" y="643295"/>
            <a:ext cx="3315181" cy="1043325"/>
          </a:xfrm>
          <a:prstGeom prst="rect">
            <a:avLst/>
          </a:prstGeom>
        </p:spPr>
      </p:pic>
      <p:pic>
        <p:nvPicPr>
          <p:cNvPr id="8" name="Picture 7">
            <a:extLst>
              <a:ext uri="{FF2B5EF4-FFF2-40B4-BE49-F238E27FC236}">
                <a16:creationId xmlns:a16="http://schemas.microsoft.com/office/drawing/2014/main" id="{1B55EF2B-AB33-7AC0-C85C-53E8A7C5116B}"/>
              </a:ext>
            </a:extLst>
          </p:cNvPr>
          <p:cNvPicPr>
            <a:picLocks noChangeAspect="1"/>
          </p:cNvPicPr>
          <p:nvPr/>
        </p:nvPicPr>
        <p:blipFill>
          <a:blip r:embed="rId3"/>
          <a:stretch>
            <a:fillRect/>
          </a:stretch>
        </p:blipFill>
        <p:spPr>
          <a:xfrm>
            <a:off x="5018324" y="1793631"/>
            <a:ext cx="6879751" cy="1277748"/>
          </a:xfrm>
          <a:prstGeom prst="rect">
            <a:avLst/>
          </a:prstGeom>
        </p:spPr>
      </p:pic>
      <p:pic>
        <p:nvPicPr>
          <p:cNvPr id="9" name="Picture 8">
            <a:extLst>
              <a:ext uri="{FF2B5EF4-FFF2-40B4-BE49-F238E27FC236}">
                <a16:creationId xmlns:a16="http://schemas.microsoft.com/office/drawing/2014/main" id="{6EBD6775-3936-7510-E82E-4F02522BC703}"/>
              </a:ext>
            </a:extLst>
          </p:cNvPr>
          <p:cNvPicPr>
            <a:picLocks noChangeAspect="1"/>
          </p:cNvPicPr>
          <p:nvPr/>
        </p:nvPicPr>
        <p:blipFill>
          <a:blip r:embed="rId4"/>
          <a:stretch>
            <a:fillRect/>
          </a:stretch>
        </p:blipFill>
        <p:spPr>
          <a:xfrm>
            <a:off x="5704750" y="4033147"/>
            <a:ext cx="5257509" cy="2038199"/>
          </a:xfrm>
          <a:prstGeom prst="rect">
            <a:avLst/>
          </a:prstGeom>
        </p:spPr>
      </p:pic>
    </p:spTree>
    <p:extLst>
      <p:ext uri="{BB962C8B-B14F-4D97-AF65-F5344CB8AC3E}">
        <p14:creationId xmlns:p14="http://schemas.microsoft.com/office/powerpoint/2010/main" val="206484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893" y="152854"/>
            <a:ext cx="4313464" cy="443139"/>
          </a:xfrm>
        </p:spPr>
        <p:txBody>
          <a:bodyPr>
            <a:noAutofit/>
          </a:bodyPr>
          <a:lstStyle/>
          <a:p>
            <a:r>
              <a:rPr lang="en-US" sz="2400" dirty="0"/>
              <a:t>QM8.2: QUERY DATA WITH ALL in front of a sub-query</a:t>
            </a:r>
          </a:p>
        </p:txBody>
      </p:sp>
      <p:sp>
        <p:nvSpPr>
          <p:cNvPr id="3" name="Content Placeholder 2"/>
          <p:cNvSpPr>
            <a:spLocks noGrp="1"/>
          </p:cNvSpPr>
          <p:nvPr>
            <p:ph idx="1"/>
          </p:nvPr>
        </p:nvSpPr>
        <p:spPr>
          <a:xfrm>
            <a:off x="119741" y="2334985"/>
            <a:ext cx="4631873" cy="4318907"/>
          </a:xfrm>
        </p:spPr>
        <p:style>
          <a:lnRef idx="2">
            <a:schemeClr val="accent6"/>
          </a:lnRef>
          <a:fillRef idx="1">
            <a:schemeClr val="lt1"/>
          </a:fillRef>
          <a:effectRef idx="0">
            <a:schemeClr val="accent6"/>
          </a:effectRef>
          <a:fontRef idx="minor">
            <a:schemeClr val="dk1"/>
          </a:fontRef>
        </p:style>
        <p:txBody>
          <a:bodyPr>
            <a:normAutofit fontScale="77500" lnSpcReduction="20000"/>
          </a:bodyPr>
          <a:lstStyle/>
          <a:p>
            <a:r>
              <a:rPr lang="en-US" dirty="0"/>
              <a:t>SQL Query:</a:t>
            </a:r>
          </a:p>
          <a:p>
            <a:pPr marL="114300" indent="0">
              <a:buNone/>
            </a:pPr>
            <a:r>
              <a:rPr lang="en-US" dirty="0"/>
              <a:t>SELECT </a:t>
            </a:r>
            <a:r>
              <a:rPr lang="en-US" dirty="0" err="1"/>
              <a:t>product_id</a:t>
            </a:r>
            <a:r>
              <a:rPr lang="en-US" dirty="0"/>
              <a:t>, </a:t>
            </a:r>
            <a:r>
              <a:rPr lang="en-US" dirty="0" err="1"/>
              <a:t>product_name</a:t>
            </a:r>
            <a:r>
              <a:rPr lang="en-US" dirty="0"/>
              <a:t>, price, </a:t>
            </a:r>
            <a:r>
              <a:rPr lang="en-US" dirty="0" err="1"/>
              <a:t>product_type</a:t>
            </a:r>
            <a:endParaRPr lang="en-US" dirty="0"/>
          </a:p>
          <a:p>
            <a:pPr marL="114300" indent="0">
              <a:buNone/>
            </a:pPr>
            <a:r>
              <a:rPr lang="en-US" dirty="0"/>
              <a:t>FROM Products</a:t>
            </a:r>
          </a:p>
          <a:p>
            <a:pPr marL="114300" indent="0">
              <a:buNone/>
            </a:pPr>
            <a:r>
              <a:rPr lang="en-US" dirty="0"/>
              <a:t>WHERE price &gt; ALL (</a:t>
            </a:r>
          </a:p>
          <a:p>
            <a:pPr marL="114300" indent="0">
              <a:buNone/>
            </a:pPr>
            <a:r>
              <a:rPr lang="en-US" dirty="0"/>
              <a:t>    SELECT </a:t>
            </a:r>
            <a:r>
              <a:rPr lang="en-US" dirty="0" err="1"/>
              <a:t>p.price</a:t>
            </a:r>
            <a:endParaRPr lang="en-US" dirty="0"/>
          </a:p>
          <a:p>
            <a:pPr marL="114300" indent="0">
              <a:buNone/>
            </a:pPr>
            <a:r>
              <a:rPr lang="en-US" dirty="0"/>
              <a:t>    FROM Products   p</a:t>
            </a:r>
          </a:p>
          <a:p>
            <a:pPr marL="114300" indent="0">
              <a:buNone/>
            </a:pPr>
            <a:r>
              <a:rPr lang="en-US" dirty="0"/>
              <a:t>    JOIN Categories c ON </a:t>
            </a:r>
            <a:r>
              <a:rPr lang="en-US" dirty="0" err="1"/>
              <a:t>p.category_id</a:t>
            </a:r>
            <a:r>
              <a:rPr lang="en-US" dirty="0"/>
              <a:t> = </a:t>
            </a:r>
            <a:r>
              <a:rPr lang="en-US" dirty="0" err="1"/>
              <a:t>c.category_id</a:t>
            </a:r>
            <a:endParaRPr lang="en-US" dirty="0"/>
          </a:p>
          <a:p>
            <a:pPr marL="114300" indent="0">
              <a:buNone/>
            </a:pPr>
            <a:r>
              <a:rPr lang="en-US" dirty="0"/>
              <a:t>    WHERE </a:t>
            </a:r>
            <a:r>
              <a:rPr lang="en-US" dirty="0" err="1"/>
              <a:t>c.category_name</a:t>
            </a:r>
            <a:r>
              <a:rPr lang="en-US" dirty="0"/>
              <a:t> = 'Text Generation'</a:t>
            </a:r>
          </a:p>
          <a:p>
            <a:pPr marL="114300" indent="0">
              <a:buNone/>
            </a:pPr>
            <a:r>
              <a:rPr lang="en-US" dirty="0"/>
              <a:t>);</a:t>
            </a:r>
          </a:p>
          <a:p>
            <a:pPr marL="114300" indent="0">
              <a:buNone/>
            </a:pPr>
            <a:endParaRPr lang="en-US" dirty="0"/>
          </a:p>
        </p:txBody>
      </p:sp>
      <p:sp>
        <p:nvSpPr>
          <p:cNvPr id="4" name="Rectangle 3"/>
          <p:cNvSpPr/>
          <p:nvPr/>
        </p:nvSpPr>
        <p:spPr>
          <a:xfrm>
            <a:off x="4955721" y="536285"/>
            <a:ext cx="7004958" cy="610944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 name="Rectangle 4"/>
          <p:cNvSpPr/>
          <p:nvPr/>
        </p:nvSpPr>
        <p:spPr>
          <a:xfrm>
            <a:off x="4955721" y="166953"/>
            <a:ext cx="3020379" cy="369332"/>
          </a:xfrm>
          <a:prstGeom prst="rect">
            <a:avLst/>
          </a:prstGeom>
        </p:spPr>
        <p:txBody>
          <a:bodyPr wrap="none">
            <a:spAutoFit/>
          </a:bodyPr>
          <a:lstStyle/>
          <a:p>
            <a:r>
              <a:rPr lang="en-US" dirty="0"/>
              <a:t>Snapshot of the query output:</a:t>
            </a:r>
          </a:p>
        </p:txBody>
      </p:sp>
      <p:sp>
        <p:nvSpPr>
          <p:cNvPr id="6" name="TextBox 5"/>
          <p:cNvSpPr txBox="1"/>
          <p:nvPr/>
        </p:nvSpPr>
        <p:spPr>
          <a:xfrm>
            <a:off x="119741" y="759278"/>
            <a:ext cx="4631873" cy="149243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dirty="0"/>
              <a:t>Description:</a:t>
            </a:r>
          </a:p>
          <a:p>
            <a:r>
              <a:rPr lang="en-US" dirty="0"/>
              <a:t>Retrieves products whose price exceeds every Text Generation product on the platform, identifying the most premium AI tools relative to the text-generation tier.</a:t>
            </a:r>
          </a:p>
        </p:txBody>
      </p:sp>
      <p:pic>
        <p:nvPicPr>
          <p:cNvPr id="7" name="Picture 6">
            <a:extLst>
              <a:ext uri="{FF2B5EF4-FFF2-40B4-BE49-F238E27FC236}">
                <a16:creationId xmlns:a16="http://schemas.microsoft.com/office/drawing/2014/main" id="{A8D88296-6C41-5DDD-0E73-38EB86964F1C}"/>
              </a:ext>
            </a:extLst>
          </p:cNvPr>
          <p:cNvPicPr>
            <a:picLocks noChangeAspect="1"/>
          </p:cNvPicPr>
          <p:nvPr/>
        </p:nvPicPr>
        <p:blipFill>
          <a:blip r:embed="rId2"/>
          <a:stretch>
            <a:fillRect/>
          </a:stretch>
        </p:blipFill>
        <p:spPr>
          <a:xfrm>
            <a:off x="5018324" y="643295"/>
            <a:ext cx="3315181" cy="1043325"/>
          </a:xfrm>
          <a:prstGeom prst="rect">
            <a:avLst/>
          </a:prstGeom>
        </p:spPr>
      </p:pic>
      <p:pic>
        <p:nvPicPr>
          <p:cNvPr id="8" name="Picture 7">
            <a:extLst>
              <a:ext uri="{FF2B5EF4-FFF2-40B4-BE49-F238E27FC236}">
                <a16:creationId xmlns:a16="http://schemas.microsoft.com/office/drawing/2014/main" id="{8080BEC2-5921-6A21-A8E2-275B64710D17}"/>
              </a:ext>
            </a:extLst>
          </p:cNvPr>
          <p:cNvPicPr>
            <a:picLocks noChangeAspect="1"/>
          </p:cNvPicPr>
          <p:nvPr/>
        </p:nvPicPr>
        <p:blipFill>
          <a:blip r:embed="rId3"/>
          <a:stretch>
            <a:fillRect/>
          </a:stretch>
        </p:blipFill>
        <p:spPr>
          <a:xfrm>
            <a:off x="5018324" y="1793631"/>
            <a:ext cx="6879751" cy="1277748"/>
          </a:xfrm>
          <a:prstGeom prst="rect">
            <a:avLst/>
          </a:prstGeom>
        </p:spPr>
      </p:pic>
      <p:pic>
        <p:nvPicPr>
          <p:cNvPr id="9" name="Picture 8">
            <a:extLst>
              <a:ext uri="{FF2B5EF4-FFF2-40B4-BE49-F238E27FC236}">
                <a16:creationId xmlns:a16="http://schemas.microsoft.com/office/drawing/2014/main" id="{FD0470A8-FE5E-6326-8A32-51CABF536667}"/>
              </a:ext>
            </a:extLst>
          </p:cNvPr>
          <p:cNvPicPr>
            <a:picLocks noChangeAspect="1"/>
          </p:cNvPicPr>
          <p:nvPr/>
        </p:nvPicPr>
        <p:blipFill>
          <a:blip r:embed="rId4"/>
          <a:stretch>
            <a:fillRect/>
          </a:stretch>
        </p:blipFill>
        <p:spPr>
          <a:xfrm>
            <a:off x="5740807" y="4413924"/>
            <a:ext cx="5434784" cy="1153157"/>
          </a:xfrm>
          <a:prstGeom prst="rect">
            <a:avLst/>
          </a:prstGeom>
        </p:spPr>
      </p:pic>
    </p:spTree>
    <p:extLst>
      <p:ext uri="{BB962C8B-B14F-4D97-AF65-F5344CB8AC3E}">
        <p14:creationId xmlns:p14="http://schemas.microsoft.com/office/powerpoint/2010/main" val="42288392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741" y="2334985"/>
            <a:ext cx="4631873" cy="4318907"/>
          </a:xfrm>
        </p:spPr>
        <p:style>
          <a:lnRef idx="2">
            <a:schemeClr val="accent6"/>
          </a:lnRef>
          <a:fillRef idx="1">
            <a:schemeClr val="lt1"/>
          </a:fillRef>
          <a:effectRef idx="0">
            <a:schemeClr val="accent6"/>
          </a:effectRef>
          <a:fontRef idx="minor">
            <a:schemeClr val="dk1"/>
          </a:fontRef>
        </p:style>
        <p:txBody>
          <a:bodyPr>
            <a:normAutofit fontScale="62500" lnSpcReduction="20000"/>
          </a:bodyPr>
          <a:lstStyle/>
          <a:p>
            <a:r>
              <a:rPr lang="en-US" dirty="0"/>
              <a:t>SQL Query:</a:t>
            </a:r>
          </a:p>
          <a:p>
            <a:pPr marL="114300" indent="0">
              <a:buNone/>
            </a:pPr>
            <a:r>
              <a:rPr lang="en-US" dirty="0"/>
              <a:t>SELECT </a:t>
            </a:r>
            <a:r>
              <a:rPr lang="en-US" dirty="0" err="1"/>
              <a:t>u.first_name</a:t>
            </a:r>
            <a:r>
              <a:rPr lang="en-US" dirty="0"/>
              <a:t>, </a:t>
            </a:r>
            <a:r>
              <a:rPr lang="en-US" dirty="0" err="1"/>
              <a:t>u.last_name</a:t>
            </a:r>
            <a:r>
              <a:rPr lang="en-US" dirty="0"/>
              <a:t>,</a:t>
            </a:r>
          </a:p>
          <a:p>
            <a:pPr marL="114300" indent="0">
              <a:buNone/>
            </a:pPr>
            <a:r>
              <a:rPr lang="en-US" dirty="0"/>
              <a:t>       </a:t>
            </a:r>
            <a:r>
              <a:rPr lang="en-US" dirty="0" err="1"/>
              <a:t>p.product_name</a:t>
            </a:r>
            <a:r>
              <a:rPr lang="en-US" dirty="0"/>
              <a:t>, </a:t>
            </a:r>
            <a:r>
              <a:rPr lang="en-US" dirty="0" err="1"/>
              <a:t>p.price</a:t>
            </a:r>
            <a:r>
              <a:rPr lang="en-US" dirty="0"/>
              <a:t>,</a:t>
            </a:r>
          </a:p>
          <a:p>
            <a:pPr marL="114300" indent="0">
              <a:buNone/>
            </a:pPr>
            <a:r>
              <a:rPr lang="en-US" dirty="0"/>
              <a:t>       </a:t>
            </a:r>
            <a:r>
              <a:rPr lang="en-US" dirty="0" err="1"/>
              <a:t>pay.amount</a:t>
            </a:r>
            <a:r>
              <a:rPr lang="en-US" dirty="0"/>
              <a:t>, </a:t>
            </a:r>
            <a:r>
              <a:rPr lang="en-US" dirty="0" err="1"/>
              <a:t>pay.platform_commission</a:t>
            </a:r>
            <a:r>
              <a:rPr lang="en-US" dirty="0"/>
              <a:t>, </a:t>
            </a:r>
            <a:r>
              <a:rPr lang="en-US" dirty="0" err="1"/>
              <a:t>pay.seller_earning</a:t>
            </a:r>
            <a:endParaRPr lang="en-US" dirty="0"/>
          </a:p>
          <a:p>
            <a:pPr marL="114300" indent="0">
              <a:buNone/>
            </a:pPr>
            <a:r>
              <a:rPr lang="en-US" dirty="0"/>
              <a:t>FROM Payments pay</a:t>
            </a:r>
          </a:p>
          <a:p>
            <a:pPr marL="114300" indent="0">
              <a:buNone/>
            </a:pPr>
            <a:r>
              <a:rPr lang="en-US" dirty="0"/>
              <a:t>INNER JOIN Subscriptions s ON </a:t>
            </a:r>
            <a:r>
              <a:rPr lang="en-US" dirty="0" err="1"/>
              <a:t>pay.subscription_id</a:t>
            </a:r>
            <a:r>
              <a:rPr lang="en-US" dirty="0"/>
              <a:t> = </a:t>
            </a:r>
            <a:r>
              <a:rPr lang="en-US" dirty="0" err="1"/>
              <a:t>s.subscription_id</a:t>
            </a:r>
            <a:endParaRPr lang="en-US" dirty="0"/>
          </a:p>
          <a:p>
            <a:pPr marL="114300" indent="0">
              <a:buNone/>
            </a:pPr>
            <a:r>
              <a:rPr lang="en-US" dirty="0"/>
              <a:t>INNER JOIN Users u ON </a:t>
            </a:r>
            <a:r>
              <a:rPr lang="en-US" dirty="0" err="1"/>
              <a:t>s.buyer_id</a:t>
            </a:r>
            <a:r>
              <a:rPr lang="en-US" dirty="0"/>
              <a:t>  = </a:t>
            </a:r>
            <a:r>
              <a:rPr lang="en-US" dirty="0" err="1"/>
              <a:t>u.user_id</a:t>
            </a:r>
            <a:endParaRPr lang="en-US" dirty="0"/>
          </a:p>
          <a:p>
            <a:pPr marL="114300" indent="0">
              <a:buNone/>
            </a:pPr>
            <a:r>
              <a:rPr lang="en-US" dirty="0"/>
              <a:t>INNER JOIN Products p ON </a:t>
            </a:r>
            <a:r>
              <a:rPr lang="en-US" dirty="0" err="1"/>
              <a:t>s.product_id</a:t>
            </a:r>
            <a:r>
              <a:rPr lang="en-US" dirty="0"/>
              <a:t> = </a:t>
            </a:r>
            <a:r>
              <a:rPr lang="en-US" dirty="0" err="1"/>
              <a:t>p.product_id</a:t>
            </a:r>
            <a:endParaRPr lang="en-US" dirty="0"/>
          </a:p>
          <a:p>
            <a:pPr marL="114300" indent="0">
              <a:buNone/>
            </a:pPr>
            <a:r>
              <a:rPr lang="en-US" dirty="0"/>
              <a:t>WHERE </a:t>
            </a:r>
            <a:r>
              <a:rPr lang="en-US" dirty="0" err="1"/>
              <a:t>p.price</a:t>
            </a:r>
            <a:r>
              <a:rPr lang="en-US" dirty="0"/>
              <a:t> &gt; 30.00</a:t>
            </a:r>
          </a:p>
          <a:p>
            <a:pPr marL="114300" indent="0">
              <a:buNone/>
            </a:pPr>
            <a:r>
              <a:rPr lang="en-US" dirty="0"/>
              <a:t>  AND </a:t>
            </a:r>
            <a:r>
              <a:rPr lang="en-US" dirty="0" err="1"/>
              <a:t>s.status</a:t>
            </a:r>
            <a:r>
              <a:rPr lang="en-US" dirty="0"/>
              <a:t> = 'active';</a:t>
            </a:r>
          </a:p>
          <a:p>
            <a:pPr marL="114300" indent="0">
              <a:buNone/>
            </a:pPr>
            <a:endParaRPr lang="en-US" dirty="0"/>
          </a:p>
        </p:txBody>
      </p:sp>
      <p:sp>
        <p:nvSpPr>
          <p:cNvPr id="2" name="Title 1"/>
          <p:cNvSpPr>
            <a:spLocks noGrp="1"/>
          </p:cNvSpPr>
          <p:nvPr>
            <p:ph type="title"/>
          </p:nvPr>
        </p:nvSpPr>
        <p:spPr>
          <a:xfrm>
            <a:off x="176893" y="152854"/>
            <a:ext cx="4313464" cy="443139"/>
          </a:xfrm>
        </p:spPr>
        <p:txBody>
          <a:bodyPr>
            <a:noAutofit/>
          </a:bodyPr>
          <a:lstStyle/>
          <a:p>
            <a:r>
              <a:rPr lang="en-US" sz="2400" dirty="0"/>
              <a:t>QM9.1: INNER-JOIN-QUERY WITH WHERE CLAUSE</a:t>
            </a:r>
          </a:p>
        </p:txBody>
      </p:sp>
      <p:sp>
        <p:nvSpPr>
          <p:cNvPr id="4" name="Rectangle 3"/>
          <p:cNvSpPr/>
          <p:nvPr/>
        </p:nvSpPr>
        <p:spPr>
          <a:xfrm>
            <a:off x="4955721" y="536285"/>
            <a:ext cx="7004958" cy="610944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 name="Rectangle 4"/>
          <p:cNvSpPr/>
          <p:nvPr/>
        </p:nvSpPr>
        <p:spPr>
          <a:xfrm>
            <a:off x="4955721" y="166953"/>
            <a:ext cx="3020379" cy="369332"/>
          </a:xfrm>
          <a:prstGeom prst="rect">
            <a:avLst/>
          </a:prstGeom>
        </p:spPr>
        <p:txBody>
          <a:bodyPr wrap="none">
            <a:spAutoFit/>
          </a:bodyPr>
          <a:lstStyle/>
          <a:p>
            <a:r>
              <a:rPr lang="en-US" dirty="0"/>
              <a:t>Snapshot of the query output:</a:t>
            </a:r>
          </a:p>
        </p:txBody>
      </p:sp>
      <p:sp>
        <p:nvSpPr>
          <p:cNvPr id="6" name="TextBox 5"/>
          <p:cNvSpPr txBox="1"/>
          <p:nvPr/>
        </p:nvSpPr>
        <p:spPr>
          <a:xfrm>
            <a:off x="119741" y="759278"/>
            <a:ext cx="4631873" cy="149243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dirty="0"/>
              <a:t>Description:</a:t>
            </a:r>
          </a:p>
          <a:p>
            <a:r>
              <a:rPr lang="en-US" dirty="0"/>
              <a:t>Retrieves each active subscriber's name alongside the product they purchased and the platform's commission split for that payment, giving finance a breakdown of revenue for premium-priced subscriptions.</a:t>
            </a:r>
          </a:p>
          <a:p>
            <a:endParaRPr lang="en-US" dirty="0"/>
          </a:p>
        </p:txBody>
      </p:sp>
      <p:pic>
        <p:nvPicPr>
          <p:cNvPr id="8" name="Picture 7">
            <a:extLst>
              <a:ext uri="{FF2B5EF4-FFF2-40B4-BE49-F238E27FC236}">
                <a16:creationId xmlns:a16="http://schemas.microsoft.com/office/drawing/2014/main" id="{8C6A8F1E-1856-83E9-2D08-4C34E8D286AC}"/>
              </a:ext>
            </a:extLst>
          </p:cNvPr>
          <p:cNvPicPr>
            <a:picLocks noChangeAspect="1"/>
          </p:cNvPicPr>
          <p:nvPr/>
        </p:nvPicPr>
        <p:blipFill>
          <a:blip r:embed="rId3"/>
          <a:stretch>
            <a:fillRect/>
          </a:stretch>
        </p:blipFill>
        <p:spPr>
          <a:xfrm>
            <a:off x="5346969" y="2624762"/>
            <a:ext cx="6222462" cy="1608476"/>
          </a:xfrm>
          <a:prstGeom prst="rect">
            <a:avLst/>
          </a:prstGeom>
        </p:spPr>
      </p:pic>
    </p:spTree>
    <p:extLst>
      <p:ext uri="{BB962C8B-B14F-4D97-AF65-F5344CB8AC3E}">
        <p14:creationId xmlns:p14="http://schemas.microsoft.com/office/powerpoint/2010/main" val="12604350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5BF77-9CFE-8CFA-C4D4-572940981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C02E2-BF03-1309-FAE4-0924615917CF}"/>
              </a:ext>
            </a:extLst>
          </p:cNvPr>
          <p:cNvSpPr>
            <a:spLocks noGrp="1"/>
          </p:cNvSpPr>
          <p:nvPr>
            <p:ph type="title"/>
          </p:nvPr>
        </p:nvSpPr>
        <p:spPr>
          <a:xfrm>
            <a:off x="176893" y="152854"/>
            <a:ext cx="4313464" cy="443139"/>
          </a:xfrm>
        </p:spPr>
        <p:txBody>
          <a:bodyPr>
            <a:noAutofit/>
          </a:bodyPr>
          <a:lstStyle/>
          <a:p>
            <a:r>
              <a:rPr lang="en-US" sz="2400" dirty="0"/>
              <a:t>QM9.2: LEFT-OUTER-JOIN-QUERY WITH WHERE CLAUSE</a:t>
            </a:r>
          </a:p>
        </p:txBody>
      </p:sp>
      <p:sp>
        <p:nvSpPr>
          <p:cNvPr id="3" name="Content Placeholder 2">
            <a:extLst>
              <a:ext uri="{FF2B5EF4-FFF2-40B4-BE49-F238E27FC236}">
                <a16:creationId xmlns:a16="http://schemas.microsoft.com/office/drawing/2014/main" id="{53301DA5-B75A-72D3-AB32-AFE681630316}"/>
              </a:ext>
            </a:extLst>
          </p:cNvPr>
          <p:cNvSpPr>
            <a:spLocks noGrp="1"/>
          </p:cNvSpPr>
          <p:nvPr>
            <p:ph idx="1"/>
          </p:nvPr>
        </p:nvSpPr>
        <p:spPr>
          <a:xfrm>
            <a:off x="119741" y="2334985"/>
            <a:ext cx="4631873" cy="4318907"/>
          </a:xfrm>
        </p:spPr>
        <p:style>
          <a:lnRef idx="2">
            <a:schemeClr val="accent6"/>
          </a:lnRef>
          <a:fillRef idx="1">
            <a:schemeClr val="lt1"/>
          </a:fillRef>
          <a:effectRef idx="0">
            <a:schemeClr val="accent6"/>
          </a:effectRef>
          <a:fontRef idx="minor">
            <a:schemeClr val="dk1"/>
          </a:fontRef>
        </p:style>
        <p:txBody>
          <a:bodyPr>
            <a:normAutofit fontScale="92500" lnSpcReduction="10000"/>
          </a:bodyPr>
          <a:lstStyle/>
          <a:p>
            <a:r>
              <a:rPr lang="en-US" dirty="0"/>
              <a:t>SQL Query:</a:t>
            </a:r>
          </a:p>
          <a:p>
            <a:pPr marL="114300" indent="0">
              <a:buNone/>
            </a:pPr>
            <a:r>
              <a:rPr lang="en-US" dirty="0"/>
              <a:t>SELECT </a:t>
            </a:r>
            <a:r>
              <a:rPr lang="en-US" dirty="0" err="1"/>
              <a:t>u.user_id</a:t>
            </a:r>
            <a:r>
              <a:rPr lang="en-US" dirty="0"/>
              <a:t>, </a:t>
            </a:r>
            <a:r>
              <a:rPr lang="en-US" dirty="0" err="1"/>
              <a:t>u.first_name</a:t>
            </a:r>
            <a:r>
              <a:rPr lang="en-US" dirty="0"/>
              <a:t>, </a:t>
            </a:r>
            <a:r>
              <a:rPr lang="en-US" dirty="0" err="1"/>
              <a:t>u.last_name</a:t>
            </a:r>
            <a:r>
              <a:rPr lang="en-US" dirty="0"/>
              <a:t>,</a:t>
            </a:r>
          </a:p>
          <a:p>
            <a:pPr marL="114300" indent="0">
              <a:buNone/>
            </a:pPr>
            <a:r>
              <a:rPr lang="en-US" dirty="0"/>
              <a:t>       </a:t>
            </a:r>
            <a:r>
              <a:rPr lang="en-US" dirty="0" err="1"/>
              <a:t>sp.payout_id</a:t>
            </a:r>
            <a:r>
              <a:rPr lang="en-US" dirty="0"/>
              <a:t>, </a:t>
            </a:r>
            <a:r>
              <a:rPr lang="en-US" dirty="0" err="1"/>
              <a:t>sp.total_amount</a:t>
            </a:r>
            <a:r>
              <a:rPr lang="en-US" dirty="0"/>
              <a:t>, </a:t>
            </a:r>
            <a:r>
              <a:rPr lang="en-US" dirty="0" err="1"/>
              <a:t>sp.payout_status</a:t>
            </a:r>
            <a:endParaRPr lang="en-US" dirty="0"/>
          </a:p>
          <a:p>
            <a:pPr marL="114300" indent="0">
              <a:buNone/>
            </a:pPr>
            <a:r>
              <a:rPr lang="en-US" dirty="0"/>
              <a:t>FROM Users u</a:t>
            </a:r>
          </a:p>
          <a:p>
            <a:pPr marL="114300" indent="0">
              <a:buNone/>
            </a:pPr>
            <a:r>
              <a:rPr lang="en-US" dirty="0"/>
              <a:t>LEFT OUTER JOIN </a:t>
            </a:r>
            <a:r>
              <a:rPr lang="en-US" dirty="0" err="1"/>
              <a:t>Seller_Payouts</a:t>
            </a:r>
            <a:r>
              <a:rPr lang="en-US" dirty="0"/>
              <a:t> </a:t>
            </a:r>
            <a:r>
              <a:rPr lang="en-US" dirty="0" err="1"/>
              <a:t>sp</a:t>
            </a:r>
            <a:r>
              <a:rPr lang="en-US" dirty="0"/>
              <a:t> ON </a:t>
            </a:r>
            <a:r>
              <a:rPr lang="en-US" dirty="0" err="1"/>
              <a:t>u.user_id</a:t>
            </a:r>
            <a:r>
              <a:rPr lang="en-US" dirty="0"/>
              <a:t> = </a:t>
            </a:r>
            <a:r>
              <a:rPr lang="en-US" dirty="0" err="1"/>
              <a:t>sp.seller_id</a:t>
            </a:r>
            <a:endParaRPr lang="en-US" dirty="0"/>
          </a:p>
          <a:p>
            <a:pPr marL="114300" indent="0">
              <a:buNone/>
            </a:pPr>
            <a:r>
              <a:rPr lang="en-US" dirty="0"/>
              <a:t>WHERE </a:t>
            </a:r>
            <a:r>
              <a:rPr lang="en-US" dirty="0" err="1"/>
              <a:t>u.role</a:t>
            </a:r>
            <a:r>
              <a:rPr lang="en-US" dirty="0"/>
              <a:t> = 'seller';</a:t>
            </a:r>
          </a:p>
          <a:p>
            <a:pPr marL="114300" indent="0">
              <a:buNone/>
            </a:pPr>
            <a:endParaRPr lang="en-US" dirty="0"/>
          </a:p>
        </p:txBody>
      </p:sp>
      <p:sp>
        <p:nvSpPr>
          <p:cNvPr id="4" name="Rectangle 3">
            <a:extLst>
              <a:ext uri="{FF2B5EF4-FFF2-40B4-BE49-F238E27FC236}">
                <a16:creationId xmlns:a16="http://schemas.microsoft.com/office/drawing/2014/main" id="{34BD1572-19F5-C61D-E713-D5B99423F120}"/>
              </a:ext>
            </a:extLst>
          </p:cNvPr>
          <p:cNvSpPr/>
          <p:nvPr/>
        </p:nvSpPr>
        <p:spPr>
          <a:xfrm>
            <a:off x="4955721" y="536285"/>
            <a:ext cx="7004958" cy="610944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C3854E9C-6877-19BB-D5A3-4EA031238022}"/>
              </a:ext>
            </a:extLst>
          </p:cNvPr>
          <p:cNvSpPr/>
          <p:nvPr/>
        </p:nvSpPr>
        <p:spPr>
          <a:xfrm>
            <a:off x="4955721" y="166953"/>
            <a:ext cx="3020379" cy="369332"/>
          </a:xfrm>
          <a:prstGeom prst="rect">
            <a:avLst/>
          </a:prstGeom>
        </p:spPr>
        <p:txBody>
          <a:bodyPr wrap="none">
            <a:spAutoFit/>
          </a:bodyPr>
          <a:lstStyle/>
          <a:p>
            <a:r>
              <a:rPr lang="en-US" dirty="0"/>
              <a:t>Snapshot of the query output:</a:t>
            </a:r>
          </a:p>
        </p:txBody>
      </p:sp>
      <p:sp>
        <p:nvSpPr>
          <p:cNvPr id="6" name="TextBox 5">
            <a:extLst>
              <a:ext uri="{FF2B5EF4-FFF2-40B4-BE49-F238E27FC236}">
                <a16:creationId xmlns:a16="http://schemas.microsoft.com/office/drawing/2014/main" id="{F8E981AC-C887-6A80-4864-57DACEAA0BF8}"/>
              </a:ext>
            </a:extLst>
          </p:cNvPr>
          <p:cNvSpPr txBox="1"/>
          <p:nvPr/>
        </p:nvSpPr>
        <p:spPr>
          <a:xfrm>
            <a:off x="119741" y="759278"/>
            <a:ext cx="4631873" cy="149243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dirty="0"/>
              <a:t>Description:</a:t>
            </a:r>
          </a:p>
          <a:p>
            <a:r>
              <a:rPr lang="en-US" dirty="0"/>
              <a:t>Lists every seller account together with their payout record so the platform can audit which sellers have never received a payout; sellers with no matching payout row appear with NULL in all payout columns.</a:t>
            </a:r>
          </a:p>
          <a:p>
            <a:endParaRPr lang="en-US" dirty="0"/>
          </a:p>
        </p:txBody>
      </p:sp>
      <p:pic>
        <p:nvPicPr>
          <p:cNvPr id="8" name="Picture 7">
            <a:extLst>
              <a:ext uri="{FF2B5EF4-FFF2-40B4-BE49-F238E27FC236}">
                <a16:creationId xmlns:a16="http://schemas.microsoft.com/office/drawing/2014/main" id="{0EFD9FE4-0095-62A4-907F-FF5F88F356C1}"/>
              </a:ext>
            </a:extLst>
          </p:cNvPr>
          <p:cNvPicPr>
            <a:picLocks noChangeAspect="1"/>
          </p:cNvPicPr>
          <p:nvPr/>
        </p:nvPicPr>
        <p:blipFill>
          <a:blip r:embed="rId2"/>
          <a:stretch>
            <a:fillRect/>
          </a:stretch>
        </p:blipFill>
        <p:spPr>
          <a:xfrm>
            <a:off x="5266879" y="2566867"/>
            <a:ext cx="6382641" cy="1724266"/>
          </a:xfrm>
          <a:prstGeom prst="rect">
            <a:avLst/>
          </a:prstGeom>
        </p:spPr>
      </p:pic>
    </p:spTree>
    <p:extLst>
      <p:ext uri="{BB962C8B-B14F-4D97-AF65-F5344CB8AC3E}">
        <p14:creationId xmlns:p14="http://schemas.microsoft.com/office/powerpoint/2010/main" val="2716028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BC2D0-2CD3-4623-15B3-8AF4A43FC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30B63A-EDCB-DBBE-6F1D-DD7F20F25CDF}"/>
              </a:ext>
            </a:extLst>
          </p:cNvPr>
          <p:cNvSpPr>
            <a:spLocks noGrp="1"/>
          </p:cNvSpPr>
          <p:nvPr>
            <p:ph type="title"/>
          </p:nvPr>
        </p:nvSpPr>
        <p:spPr>
          <a:xfrm>
            <a:off x="176893" y="152854"/>
            <a:ext cx="4313464" cy="443139"/>
          </a:xfrm>
        </p:spPr>
        <p:txBody>
          <a:bodyPr>
            <a:noAutofit/>
          </a:bodyPr>
          <a:lstStyle/>
          <a:p>
            <a:r>
              <a:rPr lang="en-US" sz="2400" dirty="0"/>
              <a:t>QM9.3: RIGHT-OUTER-JOIN-QUERY WITH WHERE CLAUSE</a:t>
            </a:r>
          </a:p>
        </p:txBody>
      </p:sp>
      <p:sp>
        <p:nvSpPr>
          <p:cNvPr id="3" name="Content Placeholder 2">
            <a:extLst>
              <a:ext uri="{FF2B5EF4-FFF2-40B4-BE49-F238E27FC236}">
                <a16:creationId xmlns:a16="http://schemas.microsoft.com/office/drawing/2014/main" id="{869B5E88-BD9D-C451-7761-2A253F5117F3}"/>
              </a:ext>
            </a:extLst>
          </p:cNvPr>
          <p:cNvSpPr>
            <a:spLocks noGrp="1"/>
          </p:cNvSpPr>
          <p:nvPr>
            <p:ph idx="1"/>
          </p:nvPr>
        </p:nvSpPr>
        <p:spPr>
          <a:xfrm>
            <a:off x="119741" y="2334985"/>
            <a:ext cx="4631873" cy="4318907"/>
          </a:xfrm>
        </p:spPr>
        <p:style>
          <a:lnRef idx="2">
            <a:schemeClr val="accent6"/>
          </a:lnRef>
          <a:fillRef idx="1">
            <a:schemeClr val="lt1"/>
          </a:fillRef>
          <a:effectRef idx="0">
            <a:schemeClr val="accent6"/>
          </a:effectRef>
          <a:fontRef idx="minor">
            <a:schemeClr val="dk1"/>
          </a:fontRef>
        </p:style>
        <p:txBody>
          <a:bodyPr>
            <a:normAutofit lnSpcReduction="10000"/>
          </a:bodyPr>
          <a:lstStyle/>
          <a:p>
            <a:r>
              <a:rPr lang="en-US" dirty="0"/>
              <a:t>SQL Query:</a:t>
            </a:r>
          </a:p>
          <a:p>
            <a:pPr marL="114300" indent="0">
              <a:buNone/>
            </a:pPr>
            <a:r>
              <a:rPr lang="en-US" dirty="0"/>
              <a:t>SELECT </a:t>
            </a:r>
            <a:r>
              <a:rPr lang="en-US" dirty="0" err="1"/>
              <a:t>r.review_id</a:t>
            </a:r>
            <a:r>
              <a:rPr lang="en-US" dirty="0"/>
              <a:t>, </a:t>
            </a:r>
            <a:r>
              <a:rPr lang="en-US" dirty="0" err="1"/>
              <a:t>r.rating</a:t>
            </a:r>
            <a:r>
              <a:rPr lang="en-US" dirty="0"/>
              <a:t>, </a:t>
            </a:r>
            <a:r>
              <a:rPr lang="en-US" dirty="0" err="1"/>
              <a:t>r.comment</a:t>
            </a:r>
            <a:r>
              <a:rPr lang="en-US" dirty="0"/>
              <a:t>,</a:t>
            </a:r>
          </a:p>
          <a:p>
            <a:pPr marL="114300" indent="0">
              <a:buNone/>
            </a:pPr>
            <a:r>
              <a:rPr lang="en-US" dirty="0"/>
              <a:t>       </a:t>
            </a:r>
            <a:r>
              <a:rPr lang="en-US" dirty="0" err="1"/>
              <a:t>p.product_id</a:t>
            </a:r>
            <a:r>
              <a:rPr lang="en-US" dirty="0"/>
              <a:t>, </a:t>
            </a:r>
            <a:r>
              <a:rPr lang="en-US" dirty="0" err="1"/>
              <a:t>p.product_name</a:t>
            </a:r>
            <a:r>
              <a:rPr lang="en-US" dirty="0"/>
              <a:t>, </a:t>
            </a:r>
            <a:r>
              <a:rPr lang="en-US" dirty="0" err="1"/>
              <a:t>p.price</a:t>
            </a:r>
            <a:endParaRPr lang="en-US" dirty="0"/>
          </a:p>
          <a:p>
            <a:pPr marL="114300" indent="0">
              <a:buNone/>
            </a:pPr>
            <a:r>
              <a:rPr lang="en-US" dirty="0"/>
              <a:t>FROM Reviews r</a:t>
            </a:r>
          </a:p>
          <a:p>
            <a:pPr marL="114300" indent="0">
              <a:buNone/>
            </a:pPr>
            <a:r>
              <a:rPr lang="en-US" dirty="0"/>
              <a:t>RIGHT OUTER JOIN Products p ON </a:t>
            </a:r>
            <a:r>
              <a:rPr lang="en-US" dirty="0" err="1"/>
              <a:t>r.product_id</a:t>
            </a:r>
            <a:r>
              <a:rPr lang="en-US" dirty="0"/>
              <a:t> = </a:t>
            </a:r>
            <a:r>
              <a:rPr lang="en-US" dirty="0" err="1"/>
              <a:t>p.product_id</a:t>
            </a:r>
            <a:endParaRPr lang="en-US" dirty="0"/>
          </a:p>
          <a:p>
            <a:pPr marL="114300" indent="0">
              <a:buNone/>
            </a:pPr>
            <a:r>
              <a:rPr lang="en-US" dirty="0"/>
              <a:t>WHERE </a:t>
            </a:r>
            <a:r>
              <a:rPr lang="en-US" dirty="0" err="1"/>
              <a:t>p.status</a:t>
            </a:r>
            <a:r>
              <a:rPr lang="en-US" dirty="0"/>
              <a:t> = 'active';</a:t>
            </a:r>
          </a:p>
          <a:p>
            <a:pPr marL="114300" indent="0">
              <a:buNone/>
            </a:pPr>
            <a:endParaRPr lang="en-US" dirty="0"/>
          </a:p>
        </p:txBody>
      </p:sp>
      <p:sp>
        <p:nvSpPr>
          <p:cNvPr id="4" name="Rectangle 3">
            <a:extLst>
              <a:ext uri="{FF2B5EF4-FFF2-40B4-BE49-F238E27FC236}">
                <a16:creationId xmlns:a16="http://schemas.microsoft.com/office/drawing/2014/main" id="{FF6519E4-F081-DBF1-C0A2-5EA5E1E84A2B}"/>
              </a:ext>
            </a:extLst>
          </p:cNvPr>
          <p:cNvSpPr/>
          <p:nvPr/>
        </p:nvSpPr>
        <p:spPr>
          <a:xfrm>
            <a:off x="4955721" y="536285"/>
            <a:ext cx="7004958" cy="610944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95E859D5-34F5-C684-E702-2CA552D9671C}"/>
              </a:ext>
            </a:extLst>
          </p:cNvPr>
          <p:cNvSpPr/>
          <p:nvPr/>
        </p:nvSpPr>
        <p:spPr>
          <a:xfrm>
            <a:off x="4955721" y="166953"/>
            <a:ext cx="3020379" cy="369332"/>
          </a:xfrm>
          <a:prstGeom prst="rect">
            <a:avLst/>
          </a:prstGeom>
        </p:spPr>
        <p:txBody>
          <a:bodyPr wrap="none">
            <a:spAutoFit/>
          </a:bodyPr>
          <a:lstStyle/>
          <a:p>
            <a:r>
              <a:rPr lang="en-US" dirty="0"/>
              <a:t>Snapshot of the query output:</a:t>
            </a:r>
          </a:p>
        </p:txBody>
      </p:sp>
      <p:sp>
        <p:nvSpPr>
          <p:cNvPr id="6" name="TextBox 5">
            <a:extLst>
              <a:ext uri="{FF2B5EF4-FFF2-40B4-BE49-F238E27FC236}">
                <a16:creationId xmlns:a16="http://schemas.microsoft.com/office/drawing/2014/main" id="{095920E0-14CB-4EFC-49E9-9569998C4A46}"/>
              </a:ext>
            </a:extLst>
          </p:cNvPr>
          <p:cNvSpPr txBox="1"/>
          <p:nvPr/>
        </p:nvSpPr>
        <p:spPr>
          <a:xfrm>
            <a:off x="119741" y="759278"/>
            <a:ext cx="4631873" cy="149243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dirty="0"/>
              <a:t>Description:</a:t>
            </a:r>
          </a:p>
          <a:p>
            <a:r>
              <a:rPr lang="en-US" dirty="0"/>
              <a:t>Displays all active products alongside any reviews they have received so the platform can identify listings with no reviews; products with no reviews appear with NULL in all review columns.</a:t>
            </a:r>
          </a:p>
          <a:p>
            <a:endParaRPr lang="en-US" dirty="0"/>
          </a:p>
        </p:txBody>
      </p:sp>
      <p:pic>
        <p:nvPicPr>
          <p:cNvPr id="8" name="Picture 7">
            <a:extLst>
              <a:ext uri="{FF2B5EF4-FFF2-40B4-BE49-F238E27FC236}">
                <a16:creationId xmlns:a16="http://schemas.microsoft.com/office/drawing/2014/main" id="{5B9A4FA4-E3D7-F503-7614-24CF2AFBF0BB}"/>
              </a:ext>
            </a:extLst>
          </p:cNvPr>
          <p:cNvPicPr>
            <a:picLocks noChangeAspect="1"/>
          </p:cNvPicPr>
          <p:nvPr/>
        </p:nvPicPr>
        <p:blipFill>
          <a:blip r:embed="rId2"/>
          <a:stretch>
            <a:fillRect/>
          </a:stretch>
        </p:blipFill>
        <p:spPr>
          <a:xfrm>
            <a:off x="5085879" y="2452610"/>
            <a:ext cx="6744641" cy="2276793"/>
          </a:xfrm>
          <a:prstGeom prst="rect">
            <a:avLst/>
          </a:prstGeom>
        </p:spPr>
      </p:pic>
    </p:spTree>
    <p:extLst>
      <p:ext uri="{BB962C8B-B14F-4D97-AF65-F5344CB8AC3E}">
        <p14:creationId xmlns:p14="http://schemas.microsoft.com/office/powerpoint/2010/main" val="1227006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29BB4-5A62-71EE-F3C9-5FBA0DFD2B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917F7-C837-03E0-7283-818249E2470C}"/>
              </a:ext>
            </a:extLst>
          </p:cNvPr>
          <p:cNvSpPr>
            <a:spLocks noGrp="1"/>
          </p:cNvSpPr>
          <p:nvPr>
            <p:ph type="title"/>
          </p:nvPr>
        </p:nvSpPr>
        <p:spPr>
          <a:xfrm>
            <a:off x="176893" y="152854"/>
            <a:ext cx="4313464" cy="443139"/>
          </a:xfrm>
        </p:spPr>
        <p:txBody>
          <a:bodyPr>
            <a:noAutofit/>
          </a:bodyPr>
          <a:lstStyle/>
          <a:p>
            <a:r>
              <a:rPr lang="en-US" sz="2400" dirty="0"/>
              <a:t>QM9.4: FULL-OUTER-JOIN-QUERY WITH WHERE CLAUSE</a:t>
            </a:r>
          </a:p>
        </p:txBody>
      </p:sp>
      <p:sp>
        <p:nvSpPr>
          <p:cNvPr id="3" name="Content Placeholder 2">
            <a:extLst>
              <a:ext uri="{FF2B5EF4-FFF2-40B4-BE49-F238E27FC236}">
                <a16:creationId xmlns:a16="http://schemas.microsoft.com/office/drawing/2014/main" id="{F50EBD2F-2B5E-07E5-893E-81F4E5557599}"/>
              </a:ext>
            </a:extLst>
          </p:cNvPr>
          <p:cNvSpPr>
            <a:spLocks noGrp="1"/>
          </p:cNvSpPr>
          <p:nvPr>
            <p:ph idx="1"/>
          </p:nvPr>
        </p:nvSpPr>
        <p:spPr>
          <a:xfrm>
            <a:off x="119741" y="2334985"/>
            <a:ext cx="4631873" cy="4318907"/>
          </a:xfrm>
        </p:spPr>
        <p:style>
          <a:lnRef idx="2">
            <a:schemeClr val="accent6"/>
          </a:lnRef>
          <a:fillRef idx="1">
            <a:schemeClr val="lt1"/>
          </a:fillRef>
          <a:effectRef idx="0">
            <a:schemeClr val="accent6"/>
          </a:effectRef>
          <a:fontRef idx="minor">
            <a:schemeClr val="dk1"/>
          </a:fontRef>
        </p:style>
        <p:txBody>
          <a:bodyPr>
            <a:normAutofit fontScale="92500" lnSpcReduction="10000"/>
          </a:bodyPr>
          <a:lstStyle/>
          <a:p>
            <a:r>
              <a:rPr lang="en-US" dirty="0"/>
              <a:t>SQL Query:</a:t>
            </a:r>
          </a:p>
          <a:p>
            <a:pPr marL="114300" indent="0">
              <a:buNone/>
            </a:pPr>
            <a:r>
              <a:rPr lang="en-US" dirty="0"/>
              <a:t>SELECT </a:t>
            </a:r>
            <a:r>
              <a:rPr lang="en-US" dirty="0" err="1"/>
              <a:t>r.review_id</a:t>
            </a:r>
            <a:r>
              <a:rPr lang="en-US" dirty="0"/>
              <a:t>, </a:t>
            </a:r>
            <a:r>
              <a:rPr lang="en-US" dirty="0" err="1"/>
              <a:t>r.buyer_id</a:t>
            </a:r>
            <a:r>
              <a:rPr lang="en-US" dirty="0"/>
              <a:t>, </a:t>
            </a:r>
            <a:r>
              <a:rPr lang="en-US" dirty="0" err="1"/>
              <a:t>r.rating</a:t>
            </a:r>
            <a:r>
              <a:rPr lang="en-US" dirty="0"/>
              <a:t>,</a:t>
            </a:r>
          </a:p>
          <a:p>
            <a:pPr marL="114300" indent="0">
              <a:buNone/>
            </a:pPr>
            <a:r>
              <a:rPr lang="en-US" dirty="0" err="1"/>
              <a:t>sp.payout_id</a:t>
            </a:r>
            <a:r>
              <a:rPr lang="en-US" dirty="0"/>
              <a:t>, </a:t>
            </a:r>
            <a:r>
              <a:rPr lang="en-US" dirty="0" err="1"/>
              <a:t>sp.seller_id</a:t>
            </a:r>
            <a:r>
              <a:rPr lang="en-US" dirty="0"/>
              <a:t>, </a:t>
            </a:r>
            <a:r>
              <a:rPr lang="en-US" dirty="0" err="1"/>
              <a:t>sp.total_amount</a:t>
            </a:r>
            <a:endParaRPr lang="en-US" dirty="0"/>
          </a:p>
          <a:p>
            <a:pPr marL="114300" indent="0">
              <a:buNone/>
            </a:pPr>
            <a:r>
              <a:rPr lang="en-US" dirty="0"/>
              <a:t>FROM Reviews r</a:t>
            </a:r>
          </a:p>
          <a:p>
            <a:pPr marL="114300" indent="0">
              <a:buNone/>
            </a:pPr>
            <a:r>
              <a:rPr lang="en-US" dirty="0"/>
              <a:t>FULL OUTER JOIN </a:t>
            </a:r>
            <a:r>
              <a:rPr lang="en-US" dirty="0" err="1"/>
              <a:t>Seller_Payouts</a:t>
            </a:r>
            <a:r>
              <a:rPr lang="en-US" dirty="0"/>
              <a:t> </a:t>
            </a:r>
            <a:r>
              <a:rPr lang="en-US" dirty="0" err="1"/>
              <a:t>sp</a:t>
            </a:r>
            <a:r>
              <a:rPr lang="en-US" dirty="0"/>
              <a:t> ON </a:t>
            </a:r>
            <a:r>
              <a:rPr lang="en-US" dirty="0" err="1"/>
              <a:t>r.buyer_id</a:t>
            </a:r>
            <a:r>
              <a:rPr lang="en-US" dirty="0"/>
              <a:t> = </a:t>
            </a:r>
            <a:r>
              <a:rPr lang="en-US" dirty="0" err="1"/>
              <a:t>sp.seller_id</a:t>
            </a:r>
            <a:endParaRPr lang="en-US" dirty="0"/>
          </a:p>
          <a:p>
            <a:pPr marL="114300" indent="0">
              <a:buNone/>
            </a:pPr>
            <a:r>
              <a:rPr lang="en-US" dirty="0"/>
              <a:t>WHERE </a:t>
            </a:r>
            <a:r>
              <a:rPr lang="en-US" dirty="0" err="1"/>
              <a:t>r.review_id</a:t>
            </a:r>
            <a:r>
              <a:rPr lang="en-US" dirty="0"/>
              <a:t> IS NOT NULL OR </a:t>
            </a:r>
            <a:r>
              <a:rPr lang="en-US" dirty="0" err="1"/>
              <a:t>sp.payout_id</a:t>
            </a:r>
            <a:r>
              <a:rPr lang="en-US" dirty="0"/>
              <a:t> IS NOT NULL;</a:t>
            </a:r>
          </a:p>
        </p:txBody>
      </p:sp>
      <p:sp>
        <p:nvSpPr>
          <p:cNvPr id="4" name="Rectangle 3">
            <a:extLst>
              <a:ext uri="{FF2B5EF4-FFF2-40B4-BE49-F238E27FC236}">
                <a16:creationId xmlns:a16="http://schemas.microsoft.com/office/drawing/2014/main" id="{2E19587D-5C22-3083-5DA8-2ADD312F7BCA}"/>
              </a:ext>
            </a:extLst>
          </p:cNvPr>
          <p:cNvSpPr/>
          <p:nvPr/>
        </p:nvSpPr>
        <p:spPr>
          <a:xfrm>
            <a:off x="4955721" y="536285"/>
            <a:ext cx="7004958" cy="610944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F4434E0D-03C4-0680-9831-D5B0DBE86874}"/>
              </a:ext>
            </a:extLst>
          </p:cNvPr>
          <p:cNvSpPr/>
          <p:nvPr/>
        </p:nvSpPr>
        <p:spPr>
          <a:xfrm>
            <a:off x="4955721" y="166953"/>
            <a:ext cx="3020379" cy="369332"/>
          </a:xfrm>
          <a:prstGeom prst="rect">
            <a:avLst/>
          </a:prstGeom>
        </p:spPr>
        <p:txBody>
          <a:bodyPr wrap="none">
            <a:spAutoFit/>
          </a:bodyPr>
          <a:lstStyle/>
          <a:p>
            <a:r>
              <a:rPr lang="en-US" dirty="0"/>
              <a:t>Snapshot of the query output:</a:t>
            </a:r>
          </a:p>
        </p:txBody>
      </p:sp>
      <p:sp>
        <p:nvSpPr>
          <p:cNvPr id="6" name="TextBox 5">
            <a:extLst>
              <a:ext uri="{FF2B5EF4-FFF2-40B4-BE49-F238E27FC236}">
                <a16:creationId xmlns:a16="http://schemas.microsoft.com/office/drawing/2014/main" id="{3FEE7426-95F5-0982-CBD0-B1182FBB51F1}"/>
              </a:ext>
            </a:extLst>
          </p:cNvPr>
          <p:cNvSpPr txBox="1"/>
          <p:nvPr/>
        </p:nvSpPr>
        <p:spPr>
          <a:xfrm>
            <a:off x="119741" y="759278"/>
            <a:ext cx="4631873" cy="149243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dirty="0"/>
              <a:t>Description:</a:t>
            </a:r>
          </a:p>
          <a:p>
            <a:r>
              <a:rPr lang="en-US" dirty="0"/>
              <a:t>Compares buyer review activity against seller payout records to confirm that no single account is simultaneously earning payouts and submitting reviews, ensuring role integrity across all platform users.</a:t>
            </a:r>
          </a:p>
          <a:p>
            <a:endParaRPr lang="en-US" dirty="0"/>
          </a:p>
        </p:txBody>
      </p:sp>
      <p:pic>
        <p:nvPicPr>
          <p:cNvPr id="8" name="Picture 7">
            <a:extLst>
              <a:ext uri="{FF2B5EF4-FFF2-40B4-BE49-F238E27FC236}">
                <a16:creationId xmlns:a16="http://schemas.microsoft.com/office/drawing/2014/main" id="{6E317565-8035-4E48-B743-FDB89F5BDFF2}"/>
              </a:ext>
            </a:extLst>
          </p:cNvPr>
          <p:cNvPicPr>
            <a:picLocks noChangeAspect="1"/>
          </p:cNvPicPr>
          <p:nvPr/>
        </p:nvPicPr>
        <p:blipFill>
          <a:blip r:embed="rId2"/>
          <a:stretch>
            <a:fillRect/>
          </a:stretch>
        </p:blipFill>
        <p:spPr>
          <a:xfrm>
            <a:off x="5671748" y="2476426"/>
            <a:ext cx="5572903" cy="2229161"/>
          </a:xfrm>
          <a:prstGeom prst="rect">
            <a:avLst/>
          </a:prstGeom>
        </p:spPr>
      </p:pic>
    </p:spTree>
    <p:extLst>
      <p:ext uri="{BB962C8B-B14F-4D97-AF65-F5344CB8AC3E}">
        <p14:creationId xmlns:p14="http://schemas.microsoft.com/office/powerpoint/2010/main" val="11421432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BD988-C203-E77A-0213-54007CA9FC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A94E80-3C55-F5AB-43EE-BD5A4C3E5E44}"/>
              </a:ext>
            </a:extLst>
          </p:cNvPr>
          <p:cNvSpPr>
            <a:spLocks noGrp="1"/>
          </p:cNvSpPr>
          <p:nvPr>
            <p:ph type="title"/>
          </p:nvPr>
        </p:nvSpPr>
        <p:spPr>
          <a:xfrm>
            <a:off x="176892" y="152854"/>
            <a:ext cx="4574721" cy="443139"/>
          </a:xfrm>
        </p:spPr>
        <p:txBody>
          <a:bodyPr>
            <a:noAutofit/>
          </a:bodyPr>
          <a:lstStyle/>
          <a:p>
            <a:r>
              <a:rPr lang="en-US" sz="2400" dirty="0"/>
              <a:t>QM10.1: AGGREGATION-JOIN-QUERY WITH GROUP BY &amp; HAVING</a:t>
            </a:r>
          </a:p>
        </p:txBody>
      </p:sp>
      <p:sp>
        <p:nvSpPr>
          <p:cNvPr id="3" name="Content Placeholder 2">
            <a:extLst>
              <a:ext uri="{FF2B5EF4-FFF2-40B4-BE49-F238E27FC236}">
                <a16:creationId xmlns:a16="http://schemas.microsoft.com/office/drawing/2014/main" id="{E68CEA5C-C237-E581-D014-36BC7A441714}"/>
              </a:ext>
            </a:extLst>
          </p:cNvPr>
          <p:cNvSpPr>
            <a:spLocks noGrp="1"/>
          </p:cNvSpPr>
          <p:nvPr>
            <p:ph idx="1"/>
          </p:nvPr>
        </p:nvSpPr>
        <p:spPr>
          <a:xfrm>
            <a:off x="119741" y="2334985"/>
            <a:ext cx="4631873" cy="4318907"/>
          </a:xfrm>
        </p:spPr>
        <p:style>
          <a:lnRef idx="2">
            <a:schemeClr val="accent6"/>
          </a:lnRef>
          <a:fillRef idx="1">
            <a:schemeClr val="lt1"/>
          </a:fillRef>
          <a:effectRef idx="0">
            <a:schemeClr val="accent6"/>
          </a:effectRef>
          <a:fontRef idx="minor">
            <a:schemeClr val="dk1"/>
          </a:fontRef>
        </p:style>
        <p:txBody>
          <a:bodyPr>
            <a:normAutofit fontScale="55000" lnSpcReduction="20000"/>
          </a:bodyPr>
          <a:lstStyle/>
          <a:p>
            <a:r>
              <a:rPr lang="en-US" sz="3300" dirty="0"/>
              <a:t>SQL Query:</a:t>
            </a:r>
          </a:p>
          <a:p>
            <a:pPr marL="114300" indent="0">
              <a:buNone/>
            </a:pPr>
            <a:r>
              <a:rPr lang="en-US" sz="3300" dirty="0"/>
              <a:t>SELECT </a:t>
            </a:r>
            <a:r>
              <a:rPr lang="en-US" sz="3300" dirty="0" err="1"/>
              <a:t>u.user_id</a:t>
            </a:r>
            <a:r>
              <a:rPr lang="en-US" sz="3300" dirty="0"/>
              <a:t>, </a:t>
            </a:r>
            <a:r>
              <a:rPr lang="en-US" sz="3300" dirty="0" err="1"/>
              <a:t>u.first_name</a:t>
            </a:r>
            <a:r>
              <a:rPr lang="en-US" sz="3300" dirty="0"/>
              <a:t>, </a:t>
            </a:r>
            <a:r>
              <a:rPr lang="en-US" sz="3300" dirty="0" err="1"/>
              <a:t>u.last_name</a:t>
            </a:r>
            <a:r>
              <a:rPr lang="en-US" sz="3300" dirty="0"/>
              <a:t>,</a:t>
            </a:r>
          </a:p>
          <a:p>
            <a:pPr marL="114300" indent="0">
              <a:buNone/>
            </a:pPr>
            <a:r>
              <a:rPr lang="en-US" sz="3300" dirty="0"/>
              <a:t>       COUNT(</a:t>
            </a:r>
            <a:r>
              <a:rPr lang="en-US" sz="3300" dirty="0" err="1"/>
              <a:t>pay.payment_id</a:t>
            </a:r>
            <a:r>
              <a:rPr lang="en-US" sz="3300" dirty="0"/>
              <a:t>)   AS </a:t>
            </a:r>
            <a:r>
              <a:rPr lang="en-US" sz="3300" dirty="0" err="1"/>
              <a:t>total_payments</a:t>
            </a:r>
            <a:r>
              <a:rPr lang="en-US" sz="3300" dirty="0"/>
              <a:t>,</a:t>
            </a:r>
          </a:p>
          <a:p>
            <a:pPr marL="114300" indent="0">
              <a:buNone/>
            </a:pPr>
            <a:r>
              <a:rPr lang="en-US" sz="3300" dirty="0"/>
              <a:t>       SUM(</a:t>
            </a:r>
            <a:r>
              <a:rPr lang="en-US" sz="3300" dirty="0" err="1"/>
              <a:t>pay.seller_earning</a:t>
            </a:r>
            <a:r>
              <a:rPr lang="en-US" sz="3300" dirty="0"/>
              <a:t>) AS </a:t>
            </a:r>
            <a:r>
              <a:rPr lang="en-US" sz="3300" dirty="0" err="1"/>
              <a:t>total_earned</a:t>
            </a:r>
            <a:endParaRPr lang="en-US" sz="3300" dirty="0"/>
          </a:p>
          <a:p>
            <a:pPr marL="114300" indent="0">
              <a:buNone/>
            </a:pPr>
            <a:r>
              <a:rPr lang="en-US" sz="3300" dirty="0"/>
              <a:t>FROM Users u</a:t>
            </a:r>
          </a:p>
          <a:p>
            <a:pPr marL="114300" indent="0">
              <a:buNone/>
            </a:pPr>
            <a:r>
              <a:rPr lang="en-US" sz="3300" dirty="0"/>
              <a:t>JOIN Products p ON </a:t>
            </a:r>
            <a:r>
              <a:rPr lang="en-US" sz="3300" dirty="0" err="1"/>
              <a:t>u.user_id</a:t>
            </a:r>
            <a:r>
              <a:rPr lang="en-US" sz="3300" dirty="0"/>
              <a:t> = </a:t>
            </a:r>
            <a:r>
              <a:rPr lang="en-US" sz="3300" dirty="0" err="1"/>
              <a:t>p.seller_id</a:t>
            </a:r>
            <a:endParaRPr lang="en-US" sz="3300" dirty="0"/>
          </a:p>
          <a:p>
            <a:pPr marL="114300" indent="0">
              <a:buNone/>
            </a:pPr>
            <a:r>
              <a:rPr lang="en-US" sz="3300" dirty="0"/>
              <a:t>JOIN Subscriptions s ON </a:t>
            </a:r>
            <a:r>
              <a:rPr lang="en-US" sz="3300" dirty="0" err="1"/>
              <a:t>p.product_id</a:t>
            </a:r>
            <a:r>
              <a:rPr lang="en-US" sz="3300" dirty="0"/>
              <a:t> = </a:t>
            </a:r>
            <a:r>
              <a:rPr lang="en-US" sz="3300" dirty="0" err="1"/>
              <a:t>s.product_id</a:t>
            </a:r>
            <a:endParaRPr lang="en-US" sz="3300" dirty="0"/>
          </a:p>
          <a:p>
            <a:pPr marL="114300" indent="0">
              <a:buNone/>
            </a:pPr>
            <a:r>
              <a:rPr lang="en-US" sz="3300" dirty="0"/>
              <a:t>JOIN Payments pay ON </a:t>
            </a:r>
            <a:r>
              <a:rPr lang="en-US" sz="3300" dirty="0" err="1"/>
              <a:t>s.subscription_id</a:t>
            </a:r>
            <a:r>
              <a:rPr lang="en-US" sz="3300" dirty="0"/>
              <a:t> = </a:t>
            </a:r>
            <a:r>
              <a:rPr lang="en-US" sz="3300" dirty="0" err="1"/>
              <a:t>pay.subscription_id</a:t>
            </a:r>
            <a:endParaRPr lang="en-US" sz="3300" dirty="0"/>
          </a:p>
          <a:p>
            <a:pPr marL="114300" indent="0">
              <a:buNone/>
            </a:pPr>
            <a:r>
              <a:rPr lang="en-US" sz="3300" dirty="0"/>
              <a:t>WHERE </a:t>
            </a:r>
            <a:r>
              <a:rPr lang="en-US" sz="3300" dirty="0" err="1"/>
              <a:t>u.role</a:t>
            </a:r>
            <a:r>
              <a:rPr lang="en-US" sz="3300" dirty="0"/>
              <a:t> = 'seller'</a:t>
            </a:r>
          </a:p>
          <a:p>
            <a:pPr marL="114300" indent="0">
              <a:buNone/>
            </a:pPr>
            <a:r>
              <a:rPr lang="en-US" sz="3300" dirty="0"/>
              <a:t>GROUP BY </a:t>
            </a:r>
            <a:r>
              <a:rPr lang="en-US" sz="3300" dirty="0" err="1"/>
              <a:t>u.user_id</a:t>
            </a:r>
            <a:r>
              <a:rPr lang="en-US" sz="3300" dirty="0"/>
              <a:t>, </a:t>
            </a:r>
            <a:r>
              <a:rPr lang="en-US" sz="3300" dirty="0" err="1"/>
              <a:t>u.first_name</a:t>
            </a:r>
            <a:r>
              <a:rPr lang="en-US" sz="3300" dirty="0"/>
              <a:t>, </a:t>
            </a:r>
            <a:r>
              <a:rPr lang="en-US" sz="3300" dirty="0" err="1"/>
              <a:t>u.last_name</a:t>
            </a:r>
            <a:endParaRPr lang="en-US" sz="3300" dirty="0"/>
          </a:p>
          <a:p>
            <a:pPr marL="114300" indent="0">
              <a:buNone/>
            </a:pPr>
            <a:r>
              <a:rPr lang="en-US" sz="3300" dirty="0"/>
              <a:t>HAVING SUM(</a:t>
            </a:r>
            <a:r>
              <a:rPr lang="en-US" sz="3300" dirty="0" err="1"/>
              <a:t>pay.seller_earning</a:t>
            </a:r>
            <a:r>
              <a:rPr lang="en-US" sz="3300" dirty="0"/>
              <a:t>) &gt; 50.00;</a:t>
            </a:r>
          </a:p>
          <a:p>
            <a:pPr marL="114300" indent="0">
              <a:buNone/>
            </a:pPr>
            <a:endParaRPr lang="en-US" dirty="0"/>
          </a:p>
        </p:txBody>
      </p:sp>
      <p:sp>
        <p:nvSpPr>
          <p:cNvPr id="4" name="Rectangle 3">
            <a:extLst>
              <a:ext uri="{FF2B5EF4-FFF2-40B4-BE49-F238E27FC236}">
                <a16:creationId xmlns:a16="http://schemas.microsoft.com/office/drawing/2014/main" id="{F1E2E8DD-69F5-EEEB-D4FB-C5A6C04368E0}"/>
              </a:ext>
            </a:extLst>
          </p:cNvPr>
          <p:cNvSpPr/>
          <p:nvPr/>
        </p:nvSpPr>
        <p:spPr>
          <a:xfrm>
            <a:off x="4955721" y="536285"/>
            <a:ext cx="7004958" cy="610944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AEDBD9E1-DE74-B8DC-90A8-7D4F6514218E}"/>
              </a:ext>
            </a:extLst>
          </p:cNvPr>
          <p:cNvSpPr/>
          <p:nvPr/>
        </p:nvSpPr>
        <p:spPr>
          <a:xfrm>
            <a:off x="4955721" y="166953"/>
            <a:ext cx="3020379" cy="369332"/>
          </a:xfrm>
          <a:prstGeom prst="rect">
            <a:avLst/>
          </a:prstGeom>
        </p:spPr>
        <p:txBody>
          <a:bodyPr wrap="none">
            <a:spAutoFit/>
          </a:bodyPr>
          <a:lstStyle/>
          <a:p>
            <a:r>
              <a:rPr lang="en-US" dirty="0"/>
              <a:t>Snapshot of the query output:</a:t>
            </a:r>
          </a:p>
        </p:txBody>
      </p:sp>
      <p:sp>
        <p:nvSpPr>
          <p:cNvPr id="6" name="TextBox 5">
            <a:extLst>
              <a:ext uri="{FF2B5EF4-FFF2-40B4-BE49-F238E27FC236}">
                <a16:creationId xmlns:a16="http://schemas.microsoft.com/office/drawing/2014/main" id="{A521E8A4-B8B9-461F-280F-81C6C5B69F3D}"/>
              </a:ext>
            </a:extLst>
          </p:cNvPr>
          <p:cNvSpPr txBox="1"/>
          <p:nvPr/>
        </p:nvSpPr>
        <p:spPr>
          <a:xfrm>
            <a:off x="119741" y="759278"/>
            <a:ext cx="4631873" cy="149243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dirty="0"/>
              <a:t>Description:</a:t>
            </a:r>
          </a:p>
          <a:p>
            <a:r>
              <a:rPr lang="en-US" dirty="0"/>
              <a:t>Calculates total earnings and payment count per seller to identify high-performing sellers who have collectively earned more than $50 in seller earnings, helping the platform prioritize support and promotional resources.</a:t>
            </a:r>
          </a:p>
          <a:p>
            <a:endParaRPr lang="en-US" dirty="0"/>
          </a:p>
        </p:txBody>
      </p:sp>
      <p:pic>
        <p:nvPicPr>
          <p:cNvPr id="8" name="Picture 7">
            <a:extLst>
              <a:ext uri="{FF2B5EF4-FFF2-40B4-BE49-F238E27FC236}">
                <a16:creationId xmlns:a16="http://schemas.microsoft.com/office/drawing/2014/main" id="{5BEEDFF5-9F41-C8F6-5AE9-4F2E1467209B}"/>
              </a:ext>
            </a:extLst>
          </p:cNvPr>
          <p:cNvPicPr>
            <a:picLocks noChangeAspect="1"/>
          </p:cNvPicPr>
          <p:nvPr/>
        </p:nvPicPr>
        <p:blipFill>
          <a:blip r:embed="rId2"/>
          <a:stretch>
            <a:fillRect/>
          </a:stretch>
        </p:blipFill>
        <p:spPr>
          <a:xfrm>
            <a:off x="5662222" y="2543051"/>
            <a:ext cx="5591955" cy="1771897"/>
          </a:xfrm>
          <a:prstGeom prst="rect">
            <a:avLst/>
          </a:prstGeom>
        </p:spPr>
      </p:pic>
    </p:spTree>
    <p:extLst>
      <p:ext uri="{BB962C8B-B14F-4D97-AF65-F5344CB8AC3E}">
        <p14:creationId xmlns:p14="http://schemas.microsoft.com/office/powerpoint/2010/main" val="38043780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DC02F-C685-1758-A8E6-729C6CF380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FD7D0-2BB3-9243-92DF-72D4290203F7}"/>
              </a:ext>
            </a:extLst>
          </p:cNvPr>
          <p:cNvSpPr>
            <a:spLocks noGrp="1"/>
          </p:cNvSpPr>
          <p:nvPr>
            <p:ph type="title"/>
          </p:nvPr>
        </p:nvSpPr>
        <p:spPr>
          <a:xfrm>
            <a:off x="176893" y="152854"/>
            <a:ext cx="4313464" cy="443139"/>
          </a:xfrm>
        </p:spPr>
        <p:txBody>
          <a:bodyPr>
            <a:noAutofit/>
          </a:bodyPr>
          <a:lstStyle/>
          <a:p>
            <a:r>
              <a:rPr lang="en-US" sz="2400" dirty="0"/>
              <a:t>QM10.2: AGGREGATION-JOIN-QUERY WITH SUB-QUERY</a:t>
            </a:r>
          </a:p>
        </p:txBody>
      </p:sp>
      <p:sp>
        <p:nvSpPr>
          <p:cNvPr id="3" name="Content Placeholder 2">
            <a:extLst>
              <a:ext uri="{FF2B5EF4-FFF2-40B4-BE49-F238E27FC236}">
                <a16:creationId xmlns:a16="http://schemas.microsoft.com/office/drawing/2014/main" id="{A97094D1-D2FB-78E5-B9FE-6F58EBAA1701}"/>
              </a:ext>
            </a:extLst>
          </p:cNvPr>
          <p:cNvSpPr>
            <a:spLocks noGrp="1"/>
          </p:cNvSpPr>
          <p:nvPr>
            <p:ph idx="1"/>
          </p:nvPr>
        </p:nvSpPr>
        <p:spPr>
          <a:xfrm>
            <a:off x="119741" y="2334986"/>
            <a:ext cx="4631873" cy="4310744"/>
          </a:xfrm>
        </p:spPr>
        <p:style>
          <a:lnRef idx="2">
            <a:schemeClr val="accent6"/>
          </a:lnRef>
          <a:fillRef idx="1">
            <a:schemeClr val="lt1"/>
          </a:fillRef>
          <a:effectRef idx="0">
            <a:schemeClr val="accent6"/>
          </a:effectRef>
          <a:fontRef idx="minor">
            <a:schemeClr val="dk1"/>
          </a:fontRef>
        </p:style>
        <p:txBody>
          <a:bodyPr>
            <a:normAutofit fontScale="40000" lnSpcReduction="20000"/>
          </a:bodyPr>
          <a:lstStyle/>
          <a:p>
            <a:r>
              <a:rPr lang="en-US" dirty="0"/>
              <a:t>SQL Query:</a:t>
            </a:r>
          </a:p>
          <a:p>
            <a:pPr marL="114300" indent="0">
              <a:buNone/>
            </a:pPr>
            <a:r>
              <a:rPr lang="en-US" sz="3100" dirty="0"/>
              <a:t>SELECT </a:t>
            </a:r>
            <a:r>
              <a:rPr lang="en-US" sz="3100" dirty="0" err="1"/>
              <a:t>p.product_id</a:t>
            </a:r>
            <a:r>
              <a:rPr lang="en-US" sz="3100" dirty="0"/>
              <a:t>, </a:t>
            </a:r>
            <a:r>
              <a:rPr lang="en-US" sz="3100" dirty="0" err="1"/>
              <a:t>p.product_name</a:t>
            </a:r>
            <a:r>
              <a:rPr lang="en-US" sz="3100" dirty="0"/>
              <a:t>, </a:t>
            </a:r>
            <a:r>
              <a:rPr lang="en-US" sz="3100" dirty="0" err="1"/>
              <a:t>p.price</a:t>
            </a:r>
            <a:r>
              <a:rPr lang="en-US" sz="3100" dirty="0"/>
              <a:t>,</a:t>
            </a:r>
          </a:p>
          <a:p>
            <a:pPr marL="114300" indent="0">
              <a:buNone/>
            </a:pPr>
            <a:r>
              <a:rPr lang="en-US" sz="3100" dirty="0"/>
              <a:t>       </a:t>
            </a:r>
            <a:r>
              <a:rPr lang="en-US" sz="3100" dirty="0" err="1"/>
              <a:t>product_avg.avg_rating</a:t>
            </a:r>
            <a:r>
              <a:rPr lang="en-US" sz="3100" dirty="0"/>
              <a:t>,</a:t>
            </a:r>
          </a:p>
          <a:p>
            <a:pPr marL="114300" indent="0">
              <a:buNone/>
            </a:pPr>
            <a:r>
              <a:rPr lang="en-US" sz="3100" dirty="0"/>
              <a:t>       </a:t>
            </a:r>
            <a:r>
              <a:rPr lang="en-US" sz="3100" dirty="0" err="1"/>
              <a:t>product_avg.review_count</a:t>
            </a:r>
            <a:endParaRPr lang="en-US" sz="3100" dirty="0"/>
          </a:p>
          <a:p>
            <a:pPr marL="114300" indent="0">
              <a:buNone/>
            </a:pPr>
            <a:r>
              <a:rPr lang="en-US" sz="3100" dirty="0"/>
              <a:t>FROM Products p</a:t>
            </a:r>
          </a:p>
          <a:p>
            <a:pPr marL="114300" indent="0">
              <a:buNone/>
            </a:pPr>
            <a:r>
              <a:rPr lang="en-US" sz="3100" dirty="0"/>
              <a:t>JOIN (</a:t>
            </a:r>
          </a:p>
          <a:p>
            <a:pPr marL="114300" indent="0">
              <a:buNone/>
            </a:pPr>
            <a:r>
              <a:rPr lang="en-US" sz="3100" dirty="0"/>
              <a:t>    SELECT </a:t>
            </a:r>
            <a:r>
              <a:rPr lang="en-US" sz="3100" dirty="0" err="1"/>
              <a:t>product_id</a:t>
            </a:r>
            <a:r>
              <a:rPr lang="en-US" sz="3100" dirty="0"/>
              <a:t>,</a:t>
            </a:r>
          </a:p>
          <a:p>
            <a:pPr marL="114300" indent="0">
              <a:buNone/>
            </a:pPr>
            <a:r>
              <a:rPr lang="en-US" sz="3100" dirty="0"/>
              <a:t>           ROUND(AVG(CAST(rating AS DECIMAL(5,2))), 2) AS </a:t>
            </a:r>
            <a:r>
              <a:rPr lang="en-US" sz="3100" dirty="0" err="1"/>
              <a:t>avg_rating</a:t>
            </a:r>
            <a:r>
              <a:rPr lang="en-US" sz="3100" dirty="0"/>
              <a:t>,</a:t>
            </a:r>
          </a:p>
          <a:p>
            <a:pPr marL="114300" indent="0">
              <a:buNone/>
            </a:pPr>
            <a:r>
              <a:rPr lang="en-US" sz="3100" dirty="0"/>
              <a:t>           COUNT(*) AS </a:t>
            </a:r>
            <a:r>
              <a:rPr lang="en-US" sz="3100" dirty="0" err="1"/>
              <a:t>review_count</a:t>
            </a:r>
            <a:endParaRPr lang="en-US" sz="3100" dirty="0"/>
          </a:p>
          <a:p>
            <a:pPr marL="114300" indent="0">
              <a:buNone/>
            </a:pPr>
            <a:r>
              <a:rPr lang="en-US" sz="3100" dirty="0"/>
              <a:t>    FROM Reviews</a:t>
            </a:r>
          </a:p>
          <a:p>
            <a:pPr marL="114300" indent="0">
              <a:buNone/>
            </a:pPr>
            <a:r>
              <a:rPr lang="en-US" sz="3100" dirty="0"/>
              <a:t>    GROUP BY </a:t>
            </a:r>
            <a:r>
              <a:rPr lang="en-US" sz="3100" dirty="0" err="1"/>
              <a:t>product_id</a:t>
            </a:r>
            <a:endParaRPr lang="en-US" sz="3100" dirty="0"/>
          </a:p>
          <a:p>
            <a:pPr marL="114300" indent="0">
              <a:buNone/>
            </a:pPr>
            <a:r>
              <a:rPr lang="en-US" sz="3100" dirty="0"/>
              <a:t>) AS </a:t>
            </a:r>
            <a:r>
              <a:rPr lang="en-US" sz="3100" dirty="0" err="1"/>
              <a:t>product_avg</a:t>
            </a:r>
            <a:r>
              <a:rPr lang="en-US" sz="3100" dirty="0"/>
              <a:t> ON </a:t>
            </a:r>
            <a:r>
              <a:rPr lang="en-US" sz="3100" dirty="0" err="1"/>
              <a:t>p.product_id</a:t>
            </a:r>
            <a:r>
              <a:rPr lang="en-US" sz="3100" dirty="0"/>
              <a:t> = </a:t>
            </a:r>
            <a:r>
              <a:rPr lang="en-US" sz="3100" dirty="0" err="1"/>
              <a:t>product_avg.product_id</a:t>
            </a:r>
            <a:endParaRPr lang="en-US" sz="3100" dirty="0"/>
          </a:p>
          <a:p>
            <a:pPr marL="114300" indent="0">
              <a:buNone/>
            </a:pPr>
            <a:r>
              <a:rPr lang="en-US" sz="3100" dirty="0"/>
              <a:t>WHERE </a:t>
            </a:r>
            <a:r>
              <a:rPr lang="en-US" sz="3100" dirty="0" err="1"/>
              <a:t>product_avg.avg_rating</a:t>
            </a:r>
            <a:r>
              <a:rPr lang="en-US" sz="3100" dirty="0"/>
              <a:t> &gt; (</a:t>
            </a:r>
          </a:p>
          <a:p>
            <a:pPr marL="114300" indent="0">
              <a:buNone/>
            </a:pPr>
            <a:r>
              <a:rPr lang="en-US" sz="3100" dirty="0"/>
              <a:t>    SELECT AVG(CAST(rating AS DECIMAL(5,2)))</a:t>
            </a:r>
          </a:p>
          <a:p>
            <a:pPr marL="114300" indent="0">
              <a:buNone/>
            </a:pPr>
            <a:r>
              <a:rPr lang="en-US" sz="3100" dirty="0"/>
              <a:t>    FROM Reviews</a:t>
            </a:r>
          </a:p>
          <a:p>
            <a:pPr marL="114300" indent="0">
              <a:buNone/>
            </a:pPr>
            <a:r>
              <a:rPr lang="en-US" sz="3100" dirty="0"/>
              <a:t>);</a:t>
            </a:r>
          </a:p>
        </p:txBody>
      </p:sp>
      <p:sp>
        <p:nvSpPr>
          <p:cNvPr id="4" name="Rectangle 3">
            <a:extLst>
              <a:ext uri="{FF2B5EF4-FFF2-40B4-BE49-F238E27FC236}">
                <a16:creationId xmlns:a16="http://schemas.microsoft.com/office/drawing/2014/main" id="{37BF453D-F21B-FD87-1258-1B3B522319F5}"/>
              </a:ext>
            </a:extLst>
          </p:cNvPr>
          <p:cNvSpPr/>
          <p:nvPr/>
        </p:nvSpPr>
        <p:spPr>
          <a:xfrm>
            <a:off x="4955721" y="536285"/>
            <a:ext cx="7004958" cy="610944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3F42617F-4E6F-5917-19F6-1BBD9E9EFD15}"/>
              </a:ext>
            </a:extLst>
          </p:cNvPr>
          <p:cNvSpPr/>
          <p:nvPr/>
        </p:nvSpPr>
        <p:spPr>
          <a:xfrm>
            <a:off x="4955721" y="166953"/>
            <a:ext cx="3020379" cy="369332"/>
          </a:xfrm>
          <a:prstGeom prst="rect">
            <a:avLst/>
          </a:prstGeom>
        </p:spPr>
        <p:txBody>
          <a:bodyPr wrap="none">
            <a:spAutoFit/>
          </a:bodyPr>
          <a:lstStyle/>
          <a:p>
            <a:r>
              <a:rPr lang="en-US" dirty="0"/>
              <a:t>Snapshot of the query output:</a:t>
            </a:r>
          </a:p>
        </p:txBody>
      </p:sp>
      <p:sp>
        <p:nvSpPr>
          <p:cNvPr id="6" name="TextBox 5">
            <a:extLst>
              <a:ext uri="{FF2B5EF4-FFF2-40B4-BE49-F238E27FC236}">
                <a16:creationId xmlns:a16="http://schemas.microsoft.com/office/drawing/2014/main" id="{19BE6AD2-F547-45DC-24CE-3A6F77781CE3}"/>
              </a:ext>
            </a:extLst>
          </p:cNvPr>
          <p:cNvSpPr txBox="1"/>
          <p:nvPr/>
        </p:nvSpPr>
        <p:spPr>
          <a:xfrm>
            <a:off x="119741" y="759278"/>
            <a:ext cx="4631873" cy="149243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dirty="0"/>
              <a:t>Description:</a:t>
            </a:r>
          </a:p>
          <a:p>
            <a:r>
              <a:rPr lang="en-US" dirty="0"/>
              <a:t>Surfaces products whose average customer rating exceeds the platform-wide average rating, giving the marketplace's featured-products algorithm a list of objectively above-average AI tools.</a:t>
            </a:r>
          </a:p>
          <a:p>
            <a:endParaRPr lang="en-US" dirty="0"/>
          </a:p>
        </p:txBody>
      </p:sp>
      <p:pic>
        <p:nvPicPr>
          <p:cNvPr id="8" name="Picture 7">
            <a:extLst>
              <a:ext uri="{FF2B5EF4-FFF2-40B4-BE49-F238E27FC236}">
                <a16:creationId xmlns:a16="http://schemas.microsoft.com/office/drawing/2014/main" id="{3CB75776-3EE2-685D-E2EC-5F062CBD1A71}"/>
              </a:ext>
            </a:extLst>
          </p:cNvPr>
          <p:cNvPicPr>
            <a:picLocks noChangeAspect="1"/>
          </p:cNvPicPr>
          <p:nvPr/>
        </p:nvPicPr>
        <p:blipFill>
          <a:blip r:embed="rId2"/>
          <a:stretch>
            <a:fillRect/>
          </a:stretch>
        </p:blipFill>
        <p:spPr>
          <a:xfrm>
            <a:off x="5595538" y="2843190"/>
            <a:ext cx="5725324" cy="1495634"/>
          </a:xfrm>
          <a:prstGeom prst="rect">
            <a:avLst/>
          </a:prstGeom>
        </p:spPr>
      </p:pic>
    </p:spTree>
    <p:extLst>
      <p:ext uri="{BB962C8B-B14F-4D97-AF65-F5344CB8AC3E}">
        <p14:creationId xmlns:p14="http://schemas.microsoft.com/office/powerpoint/2010/main" val="35887936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6DB1A-0B75-DA25-696D-7DE2247906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D38668-E4AC-C493-CBAB-B36F8CC83297}"/>
              </a:ext>
            </a:extLst>
          </p:cNvPr>
          <p:cNvSpPr>
            <a:spLocks noGrp="1"/>
          </p:cNvSpPr>
          <p:nvPr>
            <p:ph type="title"/>
          </p:nvPr>
        </p:nvSpPr>
        <p:spPr>
          <a:xfrm>
            <a:off x="176893" y="152854"/>
            <a:ext cx="4313464" cy="443139"/>
          </a:xfrm>
        </p:spPr>
        <p:txBody>
          <a:bodyPr>
            <a:noAutofit/>
          </a:bodyPr>
          <a:lstStyle/>
          <a:p>
            <a:r>
              <a:rPr lang="en-US" sz="3600" dirty="0"/>
              <a:t>QM11: WITH-QUERY</a:t>
            </a:r>
          </a:p>
        </p:txBody>
      </p:sp>
      <p:sp>
        <p:nvSpPr>
          <p:cNvPr id="3" name="Content Placeholder 2">
            <a:extLst>
              <a:ext uri="{FF2B5EF4-FFF2-40B4-BE49-F238E27FC236}">
                <a16:creationId xmlns:a16="http://schemas.microsoft.com/office/drawing/2014/main" id="{7EA4426B-E123-8617-C6CE-93F73B95D41A}"/>
              </a:ext>
            </a:extLst>
          </p:cNvPr>
          <p:cNvSpPr>
            <a:spLocks noGrp="1"/>
          </p:cNvSpPr>
          <p:nvPr>
            <p:ph idx="1"/>
          </p:nvPr>
        </p:nvSpPr>
        <p:spPr>
          <a:xfrm>
            <a:off x="119741" y="2334985"/>
            <a:ext cx="4631873" cy="4318907"/>
          </a:xfrm>
        </p:spPr>
        <p:style>
          <a:lnRef idx="2">
            <a:schemeClr val="accent6"/>
          </a:lnRef>
          <a:fillRef idx="1">
            <a:schemeClr val="lt1"/>
          </a:fillRef>
          <a:effectRef idx="0">
            <a:schemeClr val="accent6"/>
          </a:effectRef>
          <a:fontRef idx="minor">
            <a:schemeClr val="dk1"/>
          </a:fontRef>
        </p:style>
        <p:txBody>
          <a:bodyPr>
            <a:normAutofit lnSpcReduction="10000"/>
          </a:bodyPr>
          <a:lstStyle/>
          <a:p>
            <a:r>
              <a:rPr lang="en-US" sz="1200" dirty="0"/>
              <a:t>SQL Query:</a:t>
            </a:r>
          </a:p>
          <a:p>
            <a:pPr marL="114300" indent="0">
              <a:buNone/>
            </a:pPr>
            <a:r>
              <a:rPr lang="en-US" sz="1200" dirty="0"/>
              <a:t>WITH </a:t>
            </a:r>
            <a:r>
              <a:rPr lang="en-US" sz="1200" dirty="0" err="1"/>
              <a:t>SellerRevenue</a:t>
            </a:r>
            <a:r>
              <a:rPr lang="en-US" sz="1200" dirty="0"/>
              <a:t> AS (</a:t>
            </a:r>
          </a:p>
          <a:p>
            <a:pPr marL="114300" indent="0">
              <a:buNone/>
            </a:pPr>
            <a:r>
              <a:rPr lang="en-US" sz="1200" dirty="0"/>
              <a:t>    SELECT </a:t>
            </a:r>
            <a:r>
              <a:rPr lang="en-US" sz="1200" dirty="0" err="1"/>
              <a:t>u.user_id</a:t>
            </a:r>
            <a:r>
              <a:rPr lang="en-US" sz="1200" dirty="0"/>
              <a:t>, </a:t>
            </a:r>
            <a:r>
              <a:rPr lang="en-US" sz="1200" dirty="0" err="1"/>
              <a:t>u.first_name</a:t>
            </a:r>
            <a:r>
              <a:rPr lang="en-US" sz="1200" dirty="0"/>
              <a:t>, </a:t>
            </a:r>
            <a:r>
              <a:rPr lang="en-US" sz="1200" dirty="0" err="1"/>
              <a:t>u.last_name</a:t>
            </a:r>
            <a:r>
              <a:rPr lang="en-US" sz="1200" dirty="0"/>
              <a:t>,</a:t>
            </a:r>
          </a:p>
          <a:p>
            <a:pPr marL="114300" indent="0">
              <a:buNone/>
            </a:pPr>
            <a:r>
              <a:rPr lang="en-US" sz="1200" dirty="0"/>
              <a:t>           SUM(</a:t>
            </a:r>
            <a:r>
              <a:rPr lang="en-US" sz="1200" dirty="0" err="1"/>
              <a:t>pay.seller_earning</a:t>
            </a:r>
            <a:r>
              <a:rPr lang="en-US" sz="1200" dirty="0"/>
              <a:t>) AS </a:t>
            </a:r>
            <a:r>
              <a:rPr lang="en-US" sz="1200" dirty="0" err="1"/>
              <a:t>total_seller_earning</a:t>
            </a:r>
            <a:endParaRPr lang="en-US" sz="1200" dirty="0"/>
          </a:p>
          <a:p>
            <a:pPr marL="114300" indent="0">
              <a:buNone/>
            </a:pPr>
            <a:r>
              <a:rPr lang="en-US" sz="1200" dirty="0"/>
              <a:t>    FROM Users u</a:t>
            </a:r>
          </a:p>
          <a:p>
            <a:pPr marL="114300" indent="0">
              <a:buNone/>
            </a:pPr>
            <a:r>
              <a:rPr lang="en-US" sz="1200" dirty="0"/>
              <a:t>    JOIN Products p      ON </a:t>
            </a:r>
            <a:r>
              <a:rPr lang="en-US" sz="1200" dirty="0" err="1"/>
              <a:t>u.user_id</a:t>
            </a:r>
            <a:r>
              <a:rPr lang="en-US" sz="1200" dirty="0"/>
              <a:t>         = </a:t>
            </a:r>
            <a:r>
              <a:rPr lang="en-US" sz="1200" dirty="0" err="1"/>
              <a:t>p.seller_id</a:t>
            </a:r>
            <a:endParaRPr lang="en-US" sz="1200" dirty="0"/>
          </a:p>
          <a:p>
            <a:pPr marL="114300" indent="0">
              <a:buNone/>
            </a:pPr>
            <a:r>
              <a:rPr lang="en-US" sz="1200" dirty="0"/>
              <a:t>    JOIN Subscriptions s ON </a:t>
            </a:r>
            <a:r>
              <a:rPr lang="en-US" sz="1200" dirty="0" err="1"/>
              <a:t>p.product_id</a:t>
            </a:r>
            <a:r>
              <a:rPr lang="en-US" sz="1200" dirty="0"/>
              <a:t>      = </a:t>
            </a:r>
            <a:r>
              <a:rPr lang="en-US" sz="1200" dirty="0" err="1"/>
              <a:t>s.product_id</a:t>
            </a:r>
            <a:endParaRPr lang="en-US" sz="1200" dirty="0"/>
          </a:p>
          <a:p>
            <a:pPr marL="114300" indent="0">
              <a:buNone/>
            </a:pPr>
            <a:r>
              <a:rPr lang="en-US" sz="1200" dirty="0"/>
              <a:t>    JOIN Payments pay    ON </a:t>
            </a:r>
            <a:r>
              <a:rPr lang="en-US" sz="1200" dirty="0" err="1"/>
              <a:t>s.subscription_id</a:t>
            </a:r>
            <a:r>
              <a:rPr lang="en-US" sz="1200" dirty="0"/>
              <a:t> = </a:t>
            </a:r>
            <a:r>
              <a:rPr lang="en-US" sz="1200" dirty="0" err="1"/>
              <a:t>pay.subscription_id</a:t>
            </a:r>
            <a:endParaRPr lang="en-US" sz="1200" dirty="0"/>
          </a:p>
          <a:p>
            <a:pPr marL="114300" indent="0">
              <a:buNone/>
            </a:pPr>
            <a:r>
              <a:rPr lang="en-US" sz="1200" dirty="0"/>
              <a:t>    WHERE </a:t>
            </a:r>
            <a:r>
              <a:rPr lang="en-US" sz="1200" dirty="0" err="1"/>
              <a:t>u.role</a:t>
            </a:r>
            <a:r>
              <a:rPr lang="en-US" sz="1200" dirty="0"/>
              <a:t> = 'seller'</a:t>
            </a:r>
          </a:p>
          <a:p>
            <a:pPr marL="114300" indent="0">
              <a:buNone/>
            </a:pPr>
            <a:r>
              <a:rPr lang="en-US" sz="1200" dirty="0"/>
              <a:t>    GROUP BY </a:t>
            </a:r>
            <a:r>
              <a:rPr lang="en-US" sz="1200" dirty="0" err="1"/>
              <a:t>u.user_id</a:t>
            </a:r>
            <a:r>
              <a:rPr lang="en-US" sz="1200" dirty="0"/>
              <a:t>, </a:t>
            </a:r>
            <a:r>
              <a:rPr lang="en-US" sz="1200" dirty="0" err="1"/>
              <a:t>u.first_name</a:t>
            </a:r>
            <a:r>
              <a:rPr lang="en-US" sz="1200" dirty="0"/>
              <a:t>, </a:t>
            </a:r>
            <a:r>
              <a:rPr lang="en-US" sz="1200" dirty="0" err="1"/>
              <a:t>u.last_name</a:t>
            </a:r>
            <a:endParaRPr lang="en-US" sz="1200" dirty="0"/>
          </a:p>
          <a:p>
            <a:pPr marL="114300" indent="0">
              <a:buNone/>
            </a:pPr>
            <a:r>
              <a:rPr lang="en-US" sz="1200" dirty="0"/>
              <a:t>)</a:t>
            </a:r>
          </a:p>
          <a:p>
            <a:pPr marL="114300" indent="0">
              <a:buNone/>
            </a:pPr>
            <a:r>
              <a:rPr lang="en-US" sz="1200" dirty="0"/>
              <a:t>SELECT </a:t>
            </a:r>
            <a:r>
              <a:rPr lang="en-US" sz="1200" dirty="0" err="1"/>
              <a:t>user_id</a:t>
            </a:r>
            <a:r>
              <a:rPr lang="en-US" sz="1200" dirty="0"/>
              <a:t>, </a:t>
            </a:r>
            <a:r>
              <a:rPr lang="en-US" sz="1200" dirty="0" err="1"/>
              <a:t>first_name</a:t>
            </a:r>
            <a:r>
              <a:rPr lang="en-US" sz="1200" dirty="0"/>
              <a:t>, </a:t>
            </a:r>
            <a:r>
              <a:rPr lang="en-US" sz="1200" dirty="0" err="1"/>
              <a:t>last_name</a:t>
            </a:r>
            <a:r>
              <a:rPr lang="en-US" sz="1200" dirty="0"/>
              <a:t>,</a:t>
            </a:r>
          </a:p>
          <a:p>
            <a:pPr marL="114300" indent="0">
              <a:buNone/>
            </a:pPr>
            <a:r>
              <a:rPr lang="en-US" sz="1200" dirty="0"/>
              <a:t>       </a:t>
            </a:r>
            <a:r>
              <a:rPr lang="en-US" sz="1200" dirty="0" err="1"/>
              <a:t>total_seller_earning</a:t>
            </a:r>
            <a:r>
              <a:rPr lang="en-US" sz="1200" dirty="0"/>
              <a:t>,</a:t>
            </a:r>
          </a:p>
          <a:p>
            <a:pPr marL="114300" indent="0">
              <a:buNone/>
            </a:pPr>
            <a:r>
              <a:rPr lang="en-US" sz="1200" dirty="0"/>
              <a:t>       RANK() OVER (ORDER BY </a:t>
            </a:r>
            <a:r>
              <a:rPr lang="en-US" sz="1200" dirty="0" err="1"/>
              <a:t>total_seller_earning</a:t>
            </a:r>
            <a:r>
              <a:rPr lang="en-US" sz="1200" dirty="0"/>
              <a:t> DESC) AS </a:t>
            </a:r>
            <a:r>
              <a:rPr lang="en-US" sz="1200" dirty="0" err="1"/>
              <a:t>earning_rank</a:t>
            </a:r>
            <a:endParaRPr lang="en-US" sz="1200" dirty="0"/>
          </a:p>
          <a:p>
            <a:pPr marL="114300" indent="0">
              <a:buNone/>
            </a:pPr>
            <a:r>
              <a:rPr lang="en-US" sz="1200" dirty="0"/>
              <a:t>FROM </a:t>
            </a:r>
            <a:r>
              <a:rPr lang="en-US" sz="1200" dirty="0" err="1"/>
              <a:t>SellerRevenue</a:t>
            </a:r>
            <a:r>
              <a:rPr lang="en-US" sz="1200" dirty="0"/>
              <a:t>;</a:t>
            </a:r>
          </a:p>
        </p:txBody>
      </p:sp>
      <p:sp>
        <p:nvSpPr>
          <p:cNvPr id="4" name="Rectangle 3">
            <a:extLst>
              <a:ext uri="{FF2B5EF4-FFF2-40B4-BE49-F238E27FC236}">
                <a16:creationId xmlns:a16="http://schemas.microsoft.com/office/drawing/2014/main" id="{EDB94179-0FB2-1D1B-65C1-AE81CC4F5E16}"/>
              </a:ext>
            </a:extLst>
          </p:cNvPr>
          <p:cNvSpPr/>
          <p:nvPr/>
        </p:nvSpPr>
        <p:spPr>
          <a:xfrm>
            <a:off x="4955721" y="536285"/>
            <a:ext cx="7004958" cy="610944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7A52EDDE-9D16-2267-50D3-BDBDF8E7F6B3}"/>
              </a:ext>
            </a:extLst>
          </p:cNvPr>
          <p:cNvSpPr/>
          <p:nvPr/>
        </p:nvSpPr>
        <p:spPr>
          <a:xfrm>
            <a:off x="4955721" y="166953"/>
            <a:ext cx="3020379" cy="369332"/>
          </a:xfrm>
          <a:prstGeom prst="rect">
            <a:avLst/>
          </a:prstGeom>
        </p:spPr>
        <p:txBody>
          <a:bodyPr wrap="none">
            <a:spAutoFit/>
          </a:bodyPr>
          <a:lstStyle/>
          <a:p>
            <a:r>
              <a:rPr lang="en-US" dirty="0"/>
              <a:t>Snapshot of the query output:</a:t>
            </a:r>
          </a:p>
        </p:txBody>
      </p:sp>
      <p:sp>
        <p:nvSpPr>
          <p:cNvPr id="6" name="TextBox 5">
            <a:extLst>
              <a:ext uri="{FF2B5EF4-FFF2-40B4-BE49-F238E27FC236}">
                <a16:creationId xmlns:a16="http://schemas.microsoft.com/office/drawing/2014/main" id="{6DE1A069-F508-48B4-AFFF-7BD00404ABBA}"/>
              </a:ext>
            </a:extLst>
          </p:cNvPr>
          <p:cNvSpPr txBox="1"/>
          <p:nvPr/>
        </p:nvSpPr>
        <p:spPr>
          <a:xfrm>
            <a:off x="119741" y="759278"/>
            <a:ext cx="4631873" cy="1492431"/>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en-US" dirty="0"/>
              <a:t>Description:</a:t>
            </a:r>
          </a:p>
          <a:p>
            <a:r>
              <a:rPr lang="en-US" dirty="0"/>
              <a:t>Uses a CTE to rank sellers by total earnings so the platform can identify top contributors for tiered incentive payouts.</a:t>
            </a:r>
          </a:p>
          <a:p>
            <a:endParaRPr lang="en-US" dirty="0"/>
          </a:p>
        </p:txBody>
      </p:sp>
      <p:pic>
        <p:nvPicPr>
          <p:cNvPr id="8" name="Picture 7">
            <a:extLst>
              <a:ext uri="{FF2B5EF4-FFF2-40B4-BE49-F238E27FC236}">
                <a16:creationId xmlns:a16="http://schemas.microsoft.com/office/drawing/2014/main" id="{F3A6ADB5-9829-164C-0D98-AB4CFBB9D2F5}"/>
              </a:ext>
            </a:extLst>
          </p:cNvPr>
          <p:cNvPicPr>
            <a:picLocks noChangeAspect="1"/>
          </p:cNvPicPr>
          <p:nvPr/>
        </p:nvPicPr>
        <p:blipFill>
          <a:blip r:embed="rId2"/>
          <a:stretch>
            <a:fillRect/>
          </a:stretch>
        </p:blipFill>
        <p:spPr>
          <a:xfrm>
            <a:off x="5490748" y="2690769"/>
            <a:ext cx="5934903" cy="1800476"/>
          </a:xfrm>
          <a:prstGeom prst="rect">
            <a:avLst/>
          </a:prstGeom>
        </p:spPr>
      </p:pic>
    </p:spTree>
    <p:extLst>
      <p:ext uri="{BB962C8B-B14F-4D97-AF65-F5344CB8AC3E}">
        <p14:creationId xmlns:p14="http://schemas.microsoft.com/office/powerpoint/2010/main" val="3183272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OF DATA</a:t>
            </a:r>
          </a:p>
        </p:txBody>
      </p:sp>
      <p:sp>
        <p:nvSpPr>
          <p:cNvPr id="3" name="Content Placeholder 2"/>
          <p:cNvSpPr>
            <a:spLocks noGrp="1"/>
          </p:cNvSpPr>
          <p:nvPr>
            <p:ph type="body" idx="1"/>
          </p:nvPr>
        </p:nvSpPr>
        <p:spPr/>
        <p:txBody>
          <a:bodyPr>
            <a:normAutofit/>
          </a:bodyPr>
          <a:lstStyle/>
          <a:p>
            <a:r>
              <a:rPr lang="en-US" i="1" dirty="0"/>
              <a:t>Discuss Functional Dependencies</a:t>
            </a:r>
            <a:endParaRPr lang="en-US" dirty="0"/>
          </a:p>
          <a:p>
            <a:endParaRPr lang="en-US" dirty="0"/>
          </a:p>
        </p:txBody>
      </p:sp>
    </p:spTree>
    <p:extLst>
      <p:ext uri="{BB962C8B-B14F-4D97-AF65-F5344CB8AC3E}">
        <p14:creationId xmlns:p14="http://schemas.microsoft.com/office/powerpoint/2010/main" val="16283419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681" y="62305"/>
            <a:ext cx="1822862" cy="542923"/>
          </a:xfrm>
        </p:spPr>
        <p:txBody>
          <a:bodyPr>
            <a:normAutofit fontScale="90000"/>
          </a:bodyPr>
          <a:lstStyle/>
          <a:p>
            <a:r>
              <a:rPr lang="en-US" dirty="0"/>
              <a:t>2NF</a:t>
            </a:r>
          </a:p>
        </p:txBody>
      </p:sp>
      <p:sp>
        <p:nvSpPr>
          <p:cNvPr id="4" name="Rectangle 3"/>
          <p:cNvSpPr/>
          <p:nvPr/>
        </p:nvSpPr>
        <p:spPr>
          <a:xfrm>
            <a:off x="2397435" y="1889661"/>
            <a:ext cx="2526717" cy="369332"/>
          </a:xfrm>
          <a:prstGeom prst="rect">
            <a:avLst/>
          </a:prstGeom>
        </p:spPr>
        <p:txBody>
          <a:bodyPr wrap="none">
            <a:spAutoFit/>
          </a:bodyPr>
          <a:lstStyle/>
          <a:p>
            <a:r>
              <a:rPr lang="en-US" i="1" dirty="0"/>
              <a:t>{</a:t>
            </a:r>
            <a:r>
              <a:rPr lang="en-US" i="1" u="sng" dirty="0" err="1"/>
              <a:t>product_id</a:t>
            </a:r>
            <a:r>
              <a:rPr lang="en-US" i="1" dirty="0"/>
              <a:t>, </a:t>
            </a:r>
            <a:r>
              <a:rPr lang="en-US" i="1" u="sng" dirty="0" err="1"/>
              <a:t>tag_id</a:t>
            </a:r>
            <a:r>
              <a:rPr lang="en-US" i="1" dirty="0"/>
              <a:t>} </a:t>
            </a:r>
            <a:r>
              <a:rPr lang="en-US" i="1" dirty="0">
                <a:sym typeface="Wingdings" panose="05000000000000000000" pitchFamily="2" charset="2"/>
              </a:rPr>
              <a:t></a:t>
            </a:r>
            <a:r>
              <a:rPr lang="en-US" i="1" dirty="0"/>
              <a:t> {}</a:t>
            </a:r>
            <a:endParaRPr lang="en-US" dirty="0"/>
          </a:p>
        </p:txBody>
      </p:sp>
      <p:sp>
        <p:nvSpPr>
          <p:cNvPr id="5" name="Rectangle 4"/>
          <p:cNvSpPr/>
          <p:nvPr/>
        </p:nvSpPr>
        <p:spPr>
          <a:xfrm>
            <a:off x="2397435" y="2294596"/>
            <a:ext cx="5245795" cy="369332"/>
          </a:xfrm>
          <a:prstGeom prst="rect">
            <a:avLst/>
          </a:prstGeom>
        </p:spPr>
        <p:txBody>
          <a:bodyPr wrap="none">
            <a:spAutoFit/>
          </a:bodyPr>
          <a:lstStyle/>
          <a:p>
            <a:r>
              <a:rPr lang="en-US" i="1" dirty="0"/>
              <a:t>{</a:t>
            </a:r>
            <a:r>
              <a:rPr lang="en-US" i="1" dirty="0" err="1"/>
              <a:t>product_id</a:t>
            </a:r>
            <a:r>
              <a:rPr lang="en-US" i="1" dirty="0"/>
              <a:t>}</a:t>
            </a:r>
            <a:r>
              <a:rPr lang="en-US" i="1" dirty="0">
                <a:sym typeface="Wingdings" panose="05000000000000000000" pitchFamily="2" charset="2"/>
              </a:rPr>
              <a:t></a:t>
            </a:r>
            <a:r>
              <a:rPr lang="en-US" i="1" dirty="0"/>
              <a:t> {</a:t>
            </a:r>
            <a:r>
              <a:rPr lang="en-US" i="1" dirty="0" err="1"/>
              <a:t>product_name</a:t>
            </a:r>
            <a:r>
              <a:rPr lang="en-US" i="1" dirty="0"/>
              <a:t>, </a:t>
            </a:r>
            <a:r>
              <a:rPr lang="en-US" i="1" dirty="0" err="1"/>
              <a:t>seller_id</a:t>
            </a:r>
            <a:r>
              <a:rPr lang="en-US" i="1" dirty="0"/>
              <a:t>, </a:t>
            </a:r>
            <a:r>
              <a:rPr lang="en-US" i="1" dirty="0" err="1"/>
              <a:t>category_id</a:t>
            </a:r>
            <a:r>
              <a:rPr lang="en-US" i="1" dirty="0"/>
              <a:t>}</a:t>
            </a:r>
            <a:endParaRPr lang="en-US" dirty="0"/>
          </a:p>
        </p:txBody>
      </p:sp>
      <p:sp>
        <p:nvSpPr>
          <p:cNvPr id="6" name="TextBox 5"/>
          <p:cNvSpPr txBox="1"/>
          <p:nvPr/>
        </p:nvSpPr>
        <p:spPr>
          <a:xfrm>
            <a:off x="321624" y="1880938"/>
            <a:ext cx="1822862" cy="369332"/>
          </a:xfrm>
          <a:prstGeom prst="rect">
            <a:avLst/>
          </a:prstGeom>
          <a:noFill/>
        </p:spPr>
        <p:txBody>
          <a:bodyPr wrap="square" rtlCol="0">
            <a:spAutoFit/>
          </a:bodyPr>
          <a:lstStyle/>
          <a:p>
            <a:r>
              <a:rPr lang="en-US" dirty="0"/>
              <a:t>Full Dependency:</a:t>
            </a:r>
          </a:p>
        </p:txBody>
      </p:sp>
      <p:sp>
        <p:nvSpPr>
          <p:cNvPr id="7" name="TextBox 6"/>
          <p:cNvSpPr txBox="1"/>
          <p:nvPr/>
        </p:nvSpPr>
        <p:spPr>
          <a:xfrm>
            <a:off x="321624" y="2294596"/>
            <a:ext cx="2149432" cy="369332"/>
          </a:xfrm>
          <a:prstGeom prst="rect">
            <a:avLst/>
          </a:prstGeom>
          <a:noFill/>
        </p:spPr>
        <p:txBody>
          <a:bodyPr wrap="square" rtlCol="0">
            <a:spAutoFit/>
          </a:bodyPr>
          <a:lstStyle/>
          <a:p>
            <a:r>
              <a:rPr lang="en-US" dirty="0"/>
              <a:t>Partial Dependency:</a:t>
            </a:r>
          </a:p>
        </p:txBody>
      </p:sp>
      <p:graphicFrame>
        <p:nvGraphicFramePr>
          <p:cNvPr id="8" name="Table 7"/>
          <p:cNvGraphicFramePr>
            <a:graphicFrameLocks noGrp="1"/>
          </p:cNvGraphicFramePr>
          <p:nvPr>
            <p:extLst>
              <p:ext uri="{D42A27DB-BD31-4B8C-83A1-F6EECF244321}">
                <p14:modId xmlns:p14="http://schemas.microsoft.com/office/powerpoint/2010/main" val="1028086988"/>
              </p:ext>
            </p:extLst>
          </p:nvPr>
        </p:nvGraphicFramePr>
        <p:xfrm>
          <a:off x="102199" y="3525980"/>
          <a:ext cx="5474741" cy="3063138"/>
        </p:xfrm>
        <a:graphic>
          <a:graphicData uri="http://schemas.openxmlformats.org/drawingml/2006/table">
            <a:tbl>
              <a:tblPr firstRow="1" bandRow="1">
                <a:tableStyleId>{5C22544A-7EE6-4342-B048-85BDC9FD1C3A}</a:tableStyleId>
              </a:tblPr>
              <a:tblGrid>
                <a:gridCol w="819610">
                  <a:extLst>
                    <a:ext uri="{9D8B030D-6E8A-4147-A177-3AD203B41FA5}">
                      <a16:colId xmlns:a16="http://schemas.microsoft.com/office/drawing/2014/main" val="12228238"/>
                    </a:ext>
                  </a:extLst>
                </a:gridCol>
                <a:gridCol w="611455">
                  <a:extLst>
                    <a:ext uri="{9D8B030D-6E8A-4147-A177-3AD203B41FA5}">
                      <a16:colId xmlns:a16="http://schemas.microsoft.com/office/drawing/2014/main" val="31660248"/>
                    </a:ext>
                  </a:extLst>
                </a:gridCol>
                <a:gridCol w="1642840">
                  <a:extLst>
                    <a:ext uri="{9D8B030D-6E8A-4147-A177-3AD203B41FA5}">
                      <a16:colId xmlns:a16="http://schemas.microsoft.com/office/drawing/2014/main" val="74565234"/>
                    </a:ext>
                  </a:extLst>
                </a:gridCol>
                <a:gridCol w="683812">
                  <a:extLst>
                    <a:ext uri="{9D8B030D-6E8A-4147-A177-3AD203B41FA5}">
                      <a16:colId xmlns:a16="http://schemas.microsoft.com/office/drawing/2014/main" val="3669358134"/>
                    </a:ext>
                  </a:extLst>
                </a:gridCol>
                <a:gridCol w="842838">
                  <a:extLst>
                    <a:ext uri="{9D8B030D-6E8A-4147-A177-3AD203B41FA5}">
                      <a16:colId xmlns:a16="http://schemas.microsoft.com/office/drawing/2014/main" val="1231006591"/>
                    </a:ext>
                  </a:extLst>
                </a:gridCol>
                <a:gridCol w="874186">
                  <a:extLst>
                    <a:ext uri="{9D8B030D-6E8A-4147-A177-3AD203B41FA5}">
                      <a16:colId xmlns:a16="http://schemas.microsoft.com/office/drawing/2014/main" val="1483981108"/>
                    </a:ext>
                  </a:extLst>
                </a:gridCol>
              </a:tblGrid>
              <a:tr h="484611">
                <a:tc>
                  <a:txBody>
                    <a:bodyPr/>
                    <a:lstStyle/>
                    <a:p>
                      <a:pPr algn="ctr"/>
                      <a:r>
                        <a:rPr lang="en-US" u="sng" dirty="0" err="1"/>
                        <a:t>Product_id</a:t>
                      </a:r>
                      <a:endParaRPr lang="en-US" u="sng" dirty="0"/>
                    </a:p>
                  </a:txBody>
                  <a:tcPr/>
                </a:tc>
                <a:tc>
                  <a:txBody>
                    <a:bodyPr/>
                    <a:lstStyle/>
                    <a:p>
                      <a:pPr algn="ctr"/>
                      <a:r>
                        <a:rPr lang="en-US" u="sng" dirty="0" err="1"/>
                        <a:t>Tag_id</a:t>
                      </a:r>
                      <a:endParaRPr lang="en-US" u="sng" dirty="0"/>
                    </a:p>
                  </a:txBody>
                  <a:tcPr/>
                </a:tc>
                <a:tc>
                  <a:txBody>
                    <a:bodyPr/>
                    <a:lstStyle/>
                    <a:p>
                      <a:pPr algn="ctr"/>
                      <a:r>
                        <a:rPr lang="en-US" u="none" dirty="0" err="1"/>
                        <a:t>Product_name</a:t>
                      </a:r>
                      <a:endParaRPr lang="en-US" u="none" dirty="0"/>
                    </a:p>
                  </a:txBody>
                  <a:tcPr/>
                </a:tc>
                <a:tc>
                  <a:txBody>
                    <a:bodyPr/>
                    <a:lstStyle/>
                    <a:p>
                      <a:pPr algn="ctr"/>
                      <a:r>
                        <a:rPr lang="en-US" dirty="0" err="1"/>
                        <a:t>Seller_id</a:t>
                      </a:r>
                      <a:endParaRPr lang="en-US" dirty="0"/>
                    </a:p>
                  </a:txBody>
                  <a:tcPr/>
                </a:tc>
                <a:tc>
                  <a:txBody>
                    <a:bodyPr/>
                    <a:lstStyle/>
                    <a:p>
                      <a:pPr algn="ctr"/>
                      <a:r>
                        <a:rPr lang="en-US" dirty="0" err="1"/>
                        <a:t>Category_id</a:t>
                      </a:r>
                      <a:endParaRPr lang="en-US" dirty="0"/>
                    </a:p>
                  </a:txBody>
                  <a:tcPr/>
                </a:tc>
                <a:tc>
                  <a:txBody>
                    <a:bodyPr/>
                    <a:lstStyle/>
                    <a:p>
                      <a:pPr algn="ctr"/>
                      <a:r>
                        <a:rPr lang="en-US" dirty="0" err="1"/>
                        <a:t>Tag_name</a:t>
                      </a:r>
                      <a:endParaRPr lang="en-US" dirty="0"/>
                    </a:p>
                  </a:txBody>
                  <a:tcPr/>
                </a:tc>
                <a:extLst>
                  <a:ext uri="{0D108BD9-81ED-4DB2-BD59-A6C34878D82A}">
                    <a16:rowId xmlns:a16="http://schemas.microsoft.com/office/drawing/2014/main" val="779936975"/>
                  </a:ext>
                </a:extLst>
              </a:tr>
              <a:tr h="738456">
                <a:tc>
                  <a:txBody>
                    <a:bodyPr/>
                    <a:lstStyle/>
                    <a:p>
                      <a:pPr>
                        <a:buNone/>
                      </a:pPr>
                      <a:r>
                        <a:rPr lang="en-US">
                          <a:effectLst/>
                        </a:rPr>
                        <a:t>101</a:t>
                      </a:r>
                    </a:p>
                  </a:txBody>
                  <a:tcPr marL="114300" marR="114300" marT="76200" marB="76200" anchor="ctr"/>
                </a:tc>
                <a:tc>
                  <a:txBody>
                    <a:bodyPr/>
                    <a:lstStyle/>
                    <a:p>
                      <a:pPr>
                        <a:buNone/>
                      </a:pPr>
                      <a:r>
                        <a:rPr lang="en-US" dirty="0">
                          <a:effectLst/>
                        </a:rPr>
                        <a:t>1</a:t>
                      </a:r>
                    </a:p>
                  </a:txBody>
                  <a:tcPr marL="114300" marR="114300" marT="76200" marB="76200" anchor="ctr"/>
                </a:tc>
                <a:tc>
                  <a:txBody>
                    <a:bodyPr/>
                    <a:lstStyle/>
                    <a:p>
                      <a:pPr>
                        <a:buNone/>
                      </a:pPr>
                      <a:r>
                        <a:rPr lang="en-US" dirty="0">
                          <a:effectLst/>
                        </a:rPr>
                        <a:t>AI Resume Builder</a:t>
                      </a:r>
                    </a:p>
                  </a:txBody>
                  <a:tcPr marL="114300" marR="114300" marT="76200" marB="76200" anchor="ctr"/>
                </a:tc>
                <a:tc>
                  <a:txBody>
                    <a:bodyPr/>
                    <a:lstStyle/>
                    <a:p>
                      <a:pPr>
                        <a:buNone/>
                      </a:pPr>
                      <a:r>
                        <a:rPr lang="en-US">
                          <a:effectLst/>
                        </a:rPr>
                        <a:t>10</a:t>
                      </a:r>
                    </a:p>
                  </a:txBody>
                  <a:tcPr marL="114300" marR="114300" marT="76200" marB="76200" anchor="ctr"/>
                </a:tc>
                <a:tc>
                  <a:txBody>
                    <a:bodyPr/>
                    <a:lstStyle/>
                    <a:p>
                      <a:pPr>
                        <a:buNone/>
                      </a:pPr>
                      <a:r>
                        <a:rPr lang="en-US">
                          <a:effectLst/>
                        </a:rPr>
                        <a:t>2</a:t>
                      </a:r>
                    </a:p>
                  </a:txBody>
                  <a:tcPr marL="114300" marR="114300" marT="76200" marB="76200" anchor="ctr"/>
                </a:tc>
                <a:tc>
                  <a:txBody>
                    <a:bodyPr/>
                    <a:lstStyle/>
                    <a:p>
                      <a:pPr>
                        <a:buNone/>
                      </a:pPr>
                      <a:r>
                        <a:rPr lang="en-US" dirty="0">
                          <a:effectLst/>
                        </a:rPr>
                        <a:t>NLP</a:t>
                      </a:r>
                    </a:p>
                  </a:txBody>
                  <a:tcPr marL="114300" marR="114300" marT="76200" marB="76200" anchor="ctr"/>
                </a:tc>
                <a:extLst>
                  <a:ext uri="{0D108BD9-81ED-4DB2-BD59-A6C34878D82A}">
                    <a16:rowId xmlns:a16="http://schemas.microsoft.com/office/drawing/2014/main" val="1301581000"/>
                  </a:ext>
                </a:extLst>
              </a:tr>
              <a:tr h="946146">
                <a:tc>
                  <a:txBody>
                    <a:bodyPr/>
                    <a:lstStyle/>
                    <a:p>
                      <a:pPr>
                        <a:buNone/>
                      </a:pPr>
                      <a:r>
                        <a:rPr lang="en-US">
                          <a:effectLst/>
                        </a:rPr>
                        <a:t>101</a:t>
                      </a:r>
                    </a:p>
                  </a:txBody>
                  <a:tcPr marL="114300" marR="114300" marT="76200" marB="76200" anchor="ctr"/>
                </a:tc>
                <a:tc>
                  <a:txBody>
                    <a:bodyPr/>
                    <a:lstStyle/>
                    <a:p>
                      <a:pPr>
                        <a:buNone/>
                      </a:pPr>
                      <a:r>
                        <a:rPr lang="en-US">
                          <a:effectLst/>
                        </a:rPr>
                        <a:t>2</a:t>
                      </a:r>
                    </a:p>
                  </a:txBody>
                  <a:tcPr marL="114300" marR="114300" marT="76200" marB="76200" anchor="ctr"/>
                </a:tc>
                <a:tc>
                  <a:txBody>
                    <a:bodyPr/>
                    <a:lstStyle/>
                    <a:p>
                      <a:pPr>
                        <a:buNone/>
                      </a:pPr>
                      <a:r>
                        <a:rPr lang="en-US">
                          <a:effectLst/>
                        </a:rPr>
                        <a:t>AI Resume Builder</a:t>
                      </a:r>
                    </a:p>
                  </a:txBody>
                  <a:tcPr marL="114300" marR="114300" marT="76200" marB="76200" anchor="ctr"/>
                </a:tc>
                <a:tc>
                  <a:txBody>
                    <a:bodyPr/>
                    <a:lstStyle/>
                    <a:p>
                      <a:pPr>
                        <a:buNone/>
                      </a:pPr>
                      <a:r>
                        <a:rPr lang="en-US">
                          <a:effectLst/>
                        </a:rPr>
                        <a:t>10</a:t>
                      </a:r>
                    </a:p>
                  </a:txBody>
                  <a:tcPr marL="114300" marR="114300" marT="76200" marB="76200" anchor="ctr"/>
                </a:tc>
                <a:tc>
                  <a:txBody>
                    <a:bodyPr/>
                    <a:lstStyle/>
                    <a:p>
                      <a:pPr>
                        <a:buNone/>
                      </a:pPr>
                      <a:r>
                        <a:rPr lang="en-US" dirty="0">
                          <a:effectLst/>
                        </a:rPr>
                        <a:t>2</a:t>
                      </a:r>
                    </a:p>
                  </a:txBody>
                  <a:tcPr marL="114300" marR="114300" marT="76200" marB="76200" anchor="ctr"/>
                </a:tc>
                <a:tc>
                  <a:txBody>
                    <a:bodyPr/>
                    <a:lstStyle/>
                    <a:p>
                      <a:pPr>
                        <a:buNone/>
                      </a:pPr>
                      <a:r>
                        <a:rPr lang="en-US" dirty="0">
                          <a:effectLst/>
                        </a:rPr>
                        <a:t>Productivity</a:t>
                      </a:r>
                    </a:p>
                  </a:txBody>
                  <a:tcPr marL="114300" marR="114300" marT="76200" marB="76200" anchor="ctr"/>
                </a:tc>
                <a:extLst>
                  <a:ext uri="{0D108BD9-81ED-4DB2-BD59-A6C34878D82A}">
                    <a16:rowId xmlns:a16="http://schemas.microsoft.com/office/drawing/2014/main" val="2378749852"/>
                  </a:ext>
                </a:extLst>
              </a:tr>
              <a:tr h="738456">
                <a:tc>
                  <a:txBody>
                    <a:bodyPr/>
                    <a:lstStyle/>
                    <a:p>
                      <a:pPr>
                        <a:buNone/>
                      </a:pPr>
                      <a:r>
                        <a:rPr lang="en-US">
                          <a:effectLst/>
                        </a:rPr>
                        <a:t>102</a:t>
                      </a:r>
                    </a:p>
                  </a:txBody>
                  <a:tcPr marL="114300" marR="114300" marT="76200" marB="76200" anchor="ctr"/>
                </a:tc>
                <a:tc>
                  <a:txBody>
                    <a:bodyPr/>
                    <a:lstStyle/>
                    <a:p>
                      <a:pPr>
                        <a:buNone/>
                      </a:pPr>
                      <a:r>
                        <a:rPr lang="en-US">
                          <a:effectLst/>
                        </a:rPr>
                        <a:t>1</a:t>
                      </a:r>
                    </a:p>
                  </a:txBody>
                  <a:tcPr marL="114300" marR="114300" marT="76200" marB="76200" anchor="ctr"/>
                </a:tc>
                <a:tc>
                  <a:txBody>
                    <a:bodyPr/>
                    <a:lstStyle/>
                    <a:p>
                      <a:pPr>
                        <a:buNone/>
                      </a:pPr>
                      <a:r>
                        <a:rPr lang="en-US" dirty="0">
                          <a:effectLst/>
                        </a:rPr>
                        <a:t>Code Review Bot</a:t>
                      </a:r>
                    </a:p>
                  </a:txBody>
                  <a:tcPr marL="114300" marR="114300" marT="76200" marB="76200" anchor="ctr"/>
                </a:tc>
                <a:tc>
                  <a:txBody>
                    <a:bodyPr/>
                    <a:lstStyle/>
                    <a:p>
                      <a:pPr>
                        <a:buNone/>
                      </a:pPr>
                      <a:r>
                        <a:rPr lang="en-US">
                          <a:effectLst/>
                        </a:rPr>
                        <a:t>11</a:t>
                      </a:r>
                    </a:p>
                  </a:txBody>
                  <a:tcPr marL="114300" marR="114300" marT="76200" marB="76200" anchor="ctr"/>
                </a:tc>
                <a:tc>
                  <a:txBody>
                    <a:bodyPr/>
                    <a:lstStyle/>
                    <a:p>
                      <a:pPr>
                        <a:buNone/>
                      </a:pPr>
                      <a:r>
                        <a:rPr lang="en-US">
                          <a:effectLst/>
                        </a:rPr>
                        <a:t>3</a:t>
                      </a:r>
                    </a:p>
                  </a:txBody>
                  <a:tcPr marL="114300" marR="114300" marT="76200" marB="76200" anchor="ctr"/>
                </a:tc>
                <a:tc>
                  <a:txBody>
                    <a:bodyPr/>
                    <a:lstStyle/>
                    <a:p>
                      <a:pPr>
                        <a:buNone/>
                      </a:pPr>
                      <a:r>
                        <a:rPr lang="en-US" dirty="0">
                          <a:effectLst/>
                        </a:rPr>
                        <a:t>NLP</a:t>
                      </a:r>
                    </a:p>
                  </a:txBody>
                  <a:tcPr marL="114300" marR="114300" marT="76200" marB="76200" anchor="ctr"/>
                </a:tc>
                <a:extLst>
                  <a:ext uri="{0D108BD9-81ED-4DB2-BD59-A6C34878D82A}">
                    <a16:rowId xmlns:a16="http://schemas.microsoft.com/office/drawing/2014/main" val="549601472"/>
                  </a:ext>
                </a:extLst>
              </a:tr>
            </a:tbl>
          </a:graphicData>
        </a:graphic>
      </p:graphicFrame>
      <p:sp>
        <p:nvSpPr>
          <p:cNvPr id="9" name="Rectangle 8"/>
          <p:cNvSpPr/>
          <p:nvPr/>
        </p:nvSpPr>
        <p:spPr>
          <a:xfrm>
            <a:off x="186083" y="4255122"/>
            <a:ext cx="648804" cy="1313438"/>
          </a:xfrm>
          <a:prstGeom prst="rect">
            <a:avLst/>
          </a:prstGeom>
          <a:noFill/>
          <a:ln>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Rectangle 11"/>
          <p:cNvSpPr/>
          <p:nvPr/>
        </p:nvSpPr>
        <p:spPr>
          <a:xfrm>
            <a:off x="186083" y="5902263"/>
            <a:ext cx="648804" cy="625758"/>
          </a:xfrm>
          <a:prstGeom prst="rect">
            <a:avLst/>
          </a:prstGeom>
          <a:noFill/>
          <a:ln w="28575">
            <a:solidFill>
              <a:schemeClr val="accent6">
                <a:lumMod val="60000"/>
                <a:lumOff val="40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graphicFrame>
        <p:nvGraphicFramePr>
          <p:cNvPr id="15" name="Table 14"/>
          <p:cNvGraphicFramePr>
            <a:graphicFrameLocks noGrp="1"/>
          </p:cNvGraphicFramePr>
          <p:nvPr>
            <p:extLst>
              <p:ext uri="{D42A27DB-BD31-4B8C-83A1-F6EECF244321}">
                <p14:modId xmlns:p14="http://schemas.microsoft.com/office/powerpoint/2010/main" val="104901670"/>
              </p:ext>
            </p:extLst>
          </p:nvPr>
        </p:nvGraphicFramePr>
        <p:xfrm>
          <a:off x="6095999" y="3795408"/>
          <a:ext cx="2984391" cy="2865120"/>
        </p:xfrm>
        <a:graphic>
          <a:graphicData uri="http://schemas.openxmlformats.org/drawingml/2006/table">
            <a:tbl>
              <a:tblPr firstRow="1" bandRow="1">
                <a:tableStyleId>{5C22544A-7EE6-4342-B048-85BDC9FD1C3A}</a:tableStyleId>
              </a:tblPr>
              <a:tblGrid>
                <a:gridCol w="707852">
                  <a:extLst>
                    <a:ext uri="{9D8B030D-6E8A-4147-A177-3AD203B41FA5}">
                      <a16:colId xmlns:a16="http://schemas.microsoft.com/office/drawing/2014/main" val="12228238"/>
                    </a:ext>
                  </a:extLst>
                </a:gridCol>
                <a:gridCol w="992127">
                  <a:extLst>
                    <a:ext uri="{9D8B030D-6E8A-4147-A177-3AD203B41FA5}">
                      <a16:colId xmlns:a16="http://schemas.microsoft.com/office/drawing/2014/main" val="31660248"/>
                    </a:ext>
                  </a:extLst>
                </a:gridCol>
                <a:gridCol w="571465">
                  <a:extLst>
                    <a:ext uri="{9D8B030D-6E8A-4147-A177-3AD203B41FA5}">
                      <a16:colId xmlns:a16="http://schemas.microsoft.com/office/drawing/2014/main" val="74565234"/>
                    </a:ext>
                  </a:extLst>
                </a:gridCol>
                <a:gridCol w="712947">
                  <a:extLst>
                    <a:ext uri="{9D8B030D-6E8A-4147-A177-3AD203B41FA5}">
                      <a16:colId xmlns:a16="http://schemas.microsoft.com/office/drawing/2014/main" val="1231006591"/>
                    </a:ext>
                  </a:extLst>
                </a:gridCol>
              </a:tblGrid>
              <a:tr h="499946">
                <a:tc>
                  <a:txBody>
                    <a:bodyPr/>
                    <a:lstStyle/>
                    <a:p>
                      <a:pPr algn="ctr"/>
                      <a:r>
                        <a:rPr lang="en-US" u="sng" dirty="0" err="1"/>
                        <a:t>Product_id</a:t>
                      </a:r>
                      <a:endParaRPr lang="en-US" u="sng" dirty="0"/>
                    </a:p>
                  </a:txBody>
                  <a:tcPr/>
                </a:tc>
                <a:tc>
                  <a:txBody>
                    <a:bodyPr/>
                    <a:lstStyle/>
                    <a:p>
                      <a:pPr algn="ctr"/>
                      <a:r>
                        <a:rPr lang="en-US" u="none" dirty="0" err="1"/>
                        <a:t>Product_name</a:t>
                      </a:r>
                      <a:endParaRPr lang="en-US" u="none" dirty="0"/>
                    </a:p>
                  </a:txBody>
                  <a:tcPr/>
                </a:tc>
                <a:tc>
                  <a:txBody>
                    <a:bodyPr/>
                    <a:lstStyle/>
                    <a:p>
                      <a:pPr algn="ctr"/>
                      <a:r>
                        <a:rPr lang="en-US" u="none" dirty="0" err="1"/>
                        <a:t>seller_id</a:t>
                      </a:r>
                      <a:endParaRPr lang="en-US" u="none" dirty="0"/>
                    </a:p>
                  </a:txBody>
                  <a:tcPr/>
                </a:tc>
                <a:tc>
                  <a:txBody>
                    <a:bodyPr/>
                    <a:lstStyle/>
                    <a:p>
                      <a:pPr algn="ctr"/>
                      <a:r>
                        <a:rPr lang="en-US" dirty="0" err="1"/>
                        <a:t>Category_id</a:t>
                      </a:r>
                      <a:endParaRPr lang="en-US" dirty="0"/>
                    </a:p>
                  </a:txBody>
                  <a:tcPr/>
                </a:tc>
                <a:extLst>
                  <a:ext uri="{0D108BD9-81ED-4DB2-BD59-A6C34878D82A}">
                    <a16:rowId xmlns:a16="http://schemas.microsoft.com/office/drawing/2014/main" val="779936975"/>
                  </a:ext>
                </a:extLst>
              </a:tr>
              <a:tr h="499946">
                <a:tc>
                  <a:txBody>
                    <a:bodyPr/>
                    <a:lstStyle/>
                    <a:p>
                      <a:pPr>
                        <a:buNone/>
                      </a:pPr>
                      <a:r>
                        <a:rPr lang="en-US">
                          <a:effectLst/>
                        </a:rPr>
                        <a:t>101</a:t>
                      </a:r>
                    </a:p>
                  </a:txBody>
                  <a:tcPr marL="114300" marR="114300" marT="76200" marB="76200" anchor="ctr"/>
                </a:tc>
                <a:tc>
                  <a:txBody>
                    <a:bodyPr/>
                    <a:lstStyle/>
                    <a:p>
                      <a:pPr>
                        <a:buNone/>
                      </a:pPr>
                      <a:r>
                        <a:rPr lang="en-US">
                          <a:effectLst/>
                        </a:rPr>
                        <a:t>AI Resume Builder</a:t>
                      </a:r>
                    </a:p>
                  </a:txBody>
                  <a:tcPr marL="114300" marR="114300" marT="76200" marB="76200" anchor="ctr"/>
                </a:tc>
                <a:tc>
                  <a:txBody>
                    <a:bodyPr/>
                    <a:lstStyle/>
                    <a:p>
                      <a:pPr>
                        <a:buNone/>
                      </a:pPr>
                      <a:r>
                        <a:rPr lang="en-US" dirty="0">
                          <a:effectLst/>
                        </a:rPr>
                        <a:t>10</a:t>
                      </a:r>
                    </a:p>
                  </a:txBody>
                  <a:tcPr marL="114300" marR="114300" marT="76200" marB="76200" anchor="ctr"/>
                </a:tc>
                <a:tc>
                  <a:txBody>
                    <a:bodyPr/>
                    <a:lstStyle/>
                    <a:p>
                      <a:pPr>
                        <a:buNone/>
                      </a:pPr>
                      <a:r>
                        <a:rPr lang="en-US" dirty="0">
                          <a:effectLst/>
                        </a:rPr>
                        <a:t>2</a:t>
                      </a:r>
                    </a:p>
                  </a:txBody>
                  <a:tcPr marL="114300" marR="114300" marT="76200" marB="76200" anchor="ctr"/>
                </a:tc>
                <a:extLst>
                  <a:ext uri="{0D108BD9-81ED-4DB2-BD59-A6C34878D82A}">
                    <a16:rowId xmlns:a16="http://schemas.microsoft.com/office/drawing/2014/main" val="1301581000"/>
                  </a:ext>
                </a:extLst>
              </a:tr>
              <a:tr h="499946">
                <a:tc>
                  <a:txBody>
                    <a:bodyPr/>
                    <a:lstStyle/>
                    <a:p>
                      <a:pPr>
                        <a:buNone/>
                      </a:pPr>
                      <a:r>
                        <a:rPr lang="en-US">
                          <a:effectLst/>
                        </a:rPr>
                        <a:t>102</a:t>
                      </a:r>
                    </a:p>
                  </a:txBody>
                  <a:tcPr marL="114300" marR="114300" marT="76200" marB="76200" anchor="ctr"/>
                </a:tc>
                <a:tc>
                  <a:txBody>
                    <a:bodyPr/>
                    <a:lstStyle/>
                    <a:p>
                      <a:pPr>
                        <a:buNone/>
                      </a:pPr>
                      <a:r>
                        <a:rPr lang="en-US" dirty="0">
                          <a:effectLst/>
                        </a:rPr>
                        <a:t>Code Review Bot</a:t>
                      </a:r>
                    </a:p>
                  </a:txBody>
                  <a:tcPr marL="114300" marR="114300" marT="76200" marB="76200" anchor="ctr"/>
                </a:tc>
                <a:tc>
                  <a:txBody>
                    <a:bodyPr/>
                    <a:lstStyle/>
                    <a:p>
                      <a:pPr>
                        <a:buNone/>
                      </a:pPr>
                      <a:r>
                        <a:rPr lang="en-US">
                          <a:effectLst/>
                        </a:rPr>
                        <a:t>11</a:t>
                      </a:r>
                    </a:p>
                  </a:txBody>
                  <a:tcPr marL="114300" marR="114300" marT="76200" marB="76200" anchor="ctr"/>
                </a:tc>
                <a:tc>
                  <a:txBody>
                    <a:bodyPr/>
                    <a:lstStyle/>
                    <a:p>
                      <a:pPr>
                        <a:buNone/>
                      </a:pPr>
                      <a:r>
                        <a:rPr lang="en-US" dirty="0">
                          <a:effectLst/>
                        </a:rPr>
                        <a:t>3</a:t>
                      </a:r>
                    </a:p>
                  </a:txBody>
                  <a:tcPr marL="114300" marR="114300" marT="76200" marB="76200" anchor="ctr"/>
                </a:tc>
                <a:extLst>
                  <a:ext uri="{0D108BD9-81ED-4DB2-BD59-A6C34878D82A}">
                    <a16:rowId xmlns:a16="http://schemas.microsoft.com/office/drawing/2014/main" val="2378749852"/>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3890429581"/>
              </p:ext>
            </p:extLst>
          </p:nvPr>
        </p:nvGraphicFramePr>
        <p:xfrm>
          <a:off x="9220037" y="3795408"/>
          <a:ext cx="1296064" cy="2328746"/>
        </p:xfrm>
        <a:graphic>
          <a:graphicData uri="http://schemas.openxmlformats.org/drawingml/2006/table">
            <a:tbl>
              <a:tblPr firstRow="1" bandRow="1">
                <a:tableStyleId>{5C22544A-7EE6-4342-B048-85BDC9FD1C3A}</a:tableStyleId>
              </a:tblPr>
              <a:tblGrid>
                <a:gridCol w="648032">
                  <a:extLst>
                    <a:ext uri="{9D8B030D-6E8A-4147-A177-3AD203B41FA5}">
                      <a16:colId xmlns:a16="http://schemas.microsoft.com/office/drawing/2014/main" val="12228238"/>
                    </a:ext>
                  </a:extLst>
                </a:gridCol>
                <a:gridCol w="648032">
                  <a:extLst>
                    <a:ext uri="{9D8B030D-6E8A-4147-A177-3AD203B41FA5}">
                      <a16:colId xmlns:a16="http://schemas.microsoft.com/office/drawing/2014/main" val="31660248"/>
                    </a:ext>
                  </a:extLst>
                </a:gridCol>
              </a:tblGrid>
              <a:tr h="499946">
                <a:tc>
                  <a:txBody>
                    <a:bodyPr/>
                    <a:lstStyle/>
                    <a:p>
                      <a:pPr algn="ctr"/>
                      <a:r>
                        <a:rPr lang="en-US" u="sng" dirty="0" err="1"/>
                        <a:t>Tag_id</a:t>
                      </a:r>
                      <a:endParaRPr lang="en-US" u="sng" dirty="0"/>
                    </a:p>
                  </a:txBody>
                  <a:tcPr/>
                </a:tc>
                <a:tc>
                  <a:txBody>
                    <a:bodyPr/>
                    <a:lstStyle/>
                    <a:p>
                      <a:pPr algn="ctr"/>
                      <a:r>
                        <a:rPr lang="en-US" u="none" dirty="0" err="1"/>
                        <a:t>Tag_name</a:t>
                      </a:r>
                      <a:endParaRPr lang="en-US" u="none" dirty="0"/>
                    </a:p>
                  </a:txBody>
                  <a:tcPr/>
                </a:tc>
                <a:extLst>
                  <a:ext uri="{0D108BD9-81ED-4DB2-BD59-A6C34878D82A}">
                    <a16:rowId xmlns:a16="http://schemas.microsoft.com/office/drawing/2014/main" val="779936975"/>
                  </a:ext>
                </a:extLst>
              </a:tr>
              <a:tr h="499946">
                <a:tc>
                  <a:txBody>
                    <a:bodyPr/>
                    <a:lstStyle/>
                    <a:p>
                      <a:r>
                        <a:rPr lang="en-US" dirty="0"/>
                        <a:t>1</a:t>
                      </a:r>
                    </a:p>
                  </a:txBody>
                  <a:tcPr/>
                </a:tc>
                <a:tc>
                  <a:txBody>
                    <a:bodyPr/>
                    <a:lstStyle/>
                    <a:p>
                      <a:r>
                        <a:rPr lang="en-US" dirty="0"/>
                        <a:t>NLP</a:t>
                      </a:r>
                    </a:p>
                  </a:txBody>
                  <a:tcPr/>
                </a:tc>
                <a:extLst>
                  <a:ext uri="{0D108BD9-81ED-4DB2-BD59-A6C34878D82A}">
                    <a16:rowId xmlns:a16="http://schemas.microsoft.com/office/drawing/2014/main" val="1301581000"/>
                  </a:ext>
                </a:extLst>
              </a:tr>
              <a:tr h="499946">
                <a:tc>
                  <a:txBody>
                    <a:bodyPr/>
                    <a:lstStyle/>
                    <a:p>
                      <a:r>
                        <a:rPr lang="en-US" dirty="0"/>
                        <a:t>2</a:t>
                      </a:r>
                    </a:p>
                  </a:txBody>
                  <a:tcPr/>
                </a:tc>
                <a:tc>
                  <a:txBody>
                    <a:bodyPr/>
                    <a:lstStyle/>
                    <a:p>
                      <a:r>
                        <a:rPr lang="en-US" dirty="0"/>
                        <a:t>Productivity</a:t>
                      </a:r>
                    </a:p>
                  </a:txBody>
                  <a:tcPr/>
                </a:tc>
                <a:extLst>
                  <a:ext uri="{0D108BD9-81ED-4DB2-BD59-A6C34878D82A}">
                    <a16:rowId xmlns:a16="http://schemas.microsoft.com/office/drawing/2014/main" val="549601472"/>
                  </a:ext>
                </a:extLst>
              </a:tr>
            </a:tbl>
          </a:graphicData>
        </a:graphic>
      </p:graphicFrame>
      <p:sp>
        <p:nvSpPr>
          <p:cNvPr id="17" name="TextBox 16"/>
          <p:cNvSpPr txBox="1"/>
          <p:nvPr/>
        </p:nvSpPr>
        <p:spPr>
          <a:xfrm>
            <a:off x="217452" y="3085978"/>
            <a:ext cx="3135814" cy="369332"/>
          </a:xfrm>
          <a:prstGeom prst="rect">
            <a:avLst/>
          </a:prstGeom>
          <a:noFill/>
        </p:spPr>
        <p:txBody>
          <a:bodyPr wrap="square" rtlCol="0">
            <a:spAutoFit/>
          </a:bodyPr>
          <a:lstStyle/>
          <a:p>
            <a:r>
              <a:rPr lang="en-US" dirty="0"/>
              <a:t>PRODUCT_TAG_DETAILS</a:t>
            </a:r>
          </a:p>
        </p:txBody>
      </p:sp>
      <p:sp>
        <p:nvSpPr>
          <p:cNvPr id="18" name="TextBox 17"/>
          <p:cNvSpPr txBox="1"/>
          <p:nvPr/>
        </p:nvSpPr>
        <p:spPr>
          <a:xfrm>
            <a:off x="6095999" y="3426076"/>
            <a:ext cx="1313107" cy="369332"/>
          </a:xfrm>
          <a:prstGeom prst="rect">
            <a:avLst/>
          </a:prstGeom>
          <a:noFill/>
        </p:spPr>
        <p:txBody>
          <a:bodyPr wrap="square" rtlCol="0">
            <a:spAutoFit/>
          </a:bodyPr>
          <a:lstStyle/>
          <a:p>
            <a:r>
              <a:rPr lang="en-US" dirty="0"/>
              <a:t>PRODUCTS</a:t>
            </a:r>
          </a:p>
        </p:txBody>
      </p:sp>
      <p:sp>
        <p:nvSpPr>
          <p:cNvPr id="19" name="TextBox 18"/>
          <p:cNvSpPr txBox="1"/>
          <p:nvPr/>
        </p:nvSpPr>
        <p:spPr>
          <a:xfrm>
            <a:off x="9220037" y="3473199"/>
            <a:ext cx="1151906" cy="369332"/>
          </a:xfrm>
          <a:prstGeom prst="rect">
            <a:avLst/>
          </a:prstGeom>
          <a:noFill/>
        </p:spPr>
        <p:txBody>
          <a:bodyPr wrap="square" rtlCol="0">
            <a:spAutoFit/>
          </a:bodyPr>
          <a:lstStyle/>
          <a:p>
            <a:r>
              <a:rPr lang="en-US" dirty="0"/>
              <a:t>TAGS</a:t>
            </a:r>
          </a:p>
        </p:txBody>
      </p:sp>
      <p:sp>
        <p:nvSpPr>
          <p:cNvPr id="20" name="Right Arrow 19"/>
          <p:cNvSpPr/>
          <p:nvPr/>
        </p:nvSpPr>
        <p:spPr>
          <a:xfrm>
            <a:off x="5652184" y="4686703"/>
            <a:ext cx="357096" cy="369333"/>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170576A-18FD-8BFD-E634-F2ED388C588D}"/>
              </a:ext>
            </a:extLst>
          </p:cNvPr>
          <p:cNvSpPr/>
          <p:nvPr/>
        </p:nvSpPr>
        <p:spPr>
          <a:xfrm>
            <a:off x="2397434" y="2581491"/>
            <a:ext cx="2307170" cy="369332"/>
          </a:xfrm>
          <a:prstGeom prst="rect">
            <a:avLst/>
          </a:prstGeom>
        </p:spPr>
        <p:txBody>
          <a:bodyPr wrap="none">
            <a:spAutoFit/>
          </a:bodyPr>
          <a:lstStyle/>
          <a:p>
            <a:r>
              <a:rPr lang="en-US" i="1" dirty="0"/>
              <a:t>{</a:t>
            </a:r>
            <a:r>
              <a:rPr lang="en-US" i="1" dirty="0" err="1"/>
              <a:t>tag_id</a:t>
            </a:r>
            <a:r>
              <a:rPr lang="en-US" i="1" dirty="0"/>
              <a:t>}</a:t>
            </a:r>
            <a:r>
              <a:rPr lang="en-US" i="1" dirty="0">
                <a:sym typeface="Wingdings" panose="05000000000000000000" pitchFamily="2" charset="2"/>
              </a:rPr>
              <a:t></a:t>
            </a:r>
            <a:r>
              <a:rPr lang="en-US" i="1" dirty="0"/>
              <a:t> {</a:t>
            </a:r>
            <a:r>
              <a:rPr lang="en-US" i="1" dirty="0" err="1"/>
              <a:t>tag_name</a:t>
            </a:r>
            <a:r>
              <a:rPr lang="en-US" i="1" dirty="0"/>
              <a:t>}</a:t>
            </a:r>
            <a:endParaRPr lang="en-US" dirty="0"/>
          </a:p>
        </p:txBody>
      </p:sp>
      <p:graphicFrame>
        <p:nvGraphicFramePr>
          <p:cNvPr id="25" name="Table 24">
            <a:extLst>
              <a:ext uri="{FF2B5EF4-FFF2-40B4-BE49-F238E27FC236}">
                <a16:creationId xmlns:a16="http://schemas.microsoft.com/office/drawing/2014/main" id="{E995D4D0-089D-CC38-A0E3-E6E973E03B1C}"/>
              </a:ext>
            </a:extLst>
          </p:cNvPr>
          <p:cNvGraphicFramePr>
            <a:graphicFrameLocks noGrp="1"/>
          </p:cNvGraphicFramePr>
          <p:nvPr>
            <p:extLst>
              <p:ext uri="{D42A27DB-BD31-4B8C-83A1-F6EECF244321}">
                <p14:modId xmlns:p14="http://schemas.microsoft.com/office/powerpoint/2010/main" val="2818584690"/>
              </p:ext>
            </p:extLst>
          </p:nvPr>
        </p:nvGraphicFramePr>
        <p:xfrm>
          <a:off x="10781368" y="3795408"/>
          <a:ext cx="1296064" cy="2414238"/>
        </p:xfrm>
        <a:graphic>
          <a:graphicData uri="http://schemas.openxmlformats.org/drawingml/2006/table">
            <a:tbl>
              <a:tblPr firstRow="1" bandRow="1">
                <a:tableStyleId>{5C22544A-7EE6-4342-B048-85BDC9FD1C3A}</a:tableStyleId>
              </a:tblPr>
              <a:tblGrid>
                <a:gridCol w="648032">
                  <a:extLst>
                    <a:ext uri="{9D8B030D-6E8A-4147-A177-3AD203B41FA5}">
                      <a16:colId xmlns:a16="http://schemas.microsoft.com/office/drawing/2014/main" val="12228238"/>
                    </a:ext>
                  </a:extLst>
                </a:gridCol>
                <a:gridCol w="648032">
                  <a:extLst>
                    <a:ext uri="{9D8B030D-6E8A-4147-A177-3AD203B41FA5}">
                      <a16:colId xmlns:a16="http://schemas.microsoft.com/office/drawing/2014/main" val="31660248"/>
                    </a:ext>
                  </a:extLst>
                </a:gridCol>
              </a:tblGrid>
              <a:tr h="499946">
                <a:tc>
                  <a:txBody>
                    <a:bodyPr/>
                    <a:lstStyle/>
                    <a:p>
                      <a:pPr algn="ctr"/>
                      <a:r>
                        <a:rPr lang="en-US" u="sng" dirty="0" err="1"/>
                        <a:t>Product_id</a:t>
                      </a:r>
                      <a:endParaRPr lang="en-US" u="sng" dirty="0"/>
                    </a:p>
                  </a:txBody>
                  <a:tcPr/>
                </a:tc>
                <a:tc>
                  <a:txBody>
                    <a:bodyPr/>
                    <a:lstStyle/>
                    <a:p>
                      <a:pPr algn="ctr"/>
                      <a:r>
                        <a:rPr lang="en-US" u="none" dirty="0" err="1"/>
                        <a:t>Tag_id</a:t>
                      </a:r>
                      <a:endParaRPr lang="en-US" u="none" dirty="0"/>
                    </a:p>
                  </a:txBody>
                  <a:tcPr/>
                </a:tc>
                <a:extLst>
                  <a:ext uri="{0D108BD9-81ED-4DB2-BD59-A6C34878D82A}">
                    <a16:rowId xmlns:a16="http://schemas.microsoft.com/office/drawing/2014/main" val="779936975"/>
                  </a:ext>
                </a:extLst>
              </a:tr>
              <a:tr h="499946">
                <a:tc>
                  <a:txBody>
                    <a:bodyPr/>
                    <a:lstStyle/>
                    <a:p>
                      <a:r>
                        <a:rPr lang="en-US" dirty="0"/>
                        <a:t>101</a:t>
                      </a:r>
                    </a:p>
                  </a:txBody>
                  <a:tcPr/>
                </a:tc>
                <a:tc>
                  <a:txBody>
                    <a:bodyPr/>
                    <a:lstStyle/>
                    <a:p>
                      <a:r>
                        <a:rPr lang="en-US" dirty="0"/>
                        <a:t>1</a:t>
                      </a:r>
                    </a:p>
                  </a:txBody>
                  <a:tcPr/>
                </a:tc>
                <a:extLst>
                  <a:ext uri="{0D108BD9-81ED-4DB2-BD59-A6C34878D82A}">
                    <a16:rowId xmlns:a16="http://schemas.microsoft.com/office/drawing/2014/main" val="1301581000"/>
                  </a:ext>
                </a:extLst>
              </a:tr>
              <a:tr h="499946">
                <a:tc>
                  <a:txBody>
                    <a:bodyPr/>
                    <a:lstStyle/>
                    <a:p>
                      <a:r>
                        <a:rPr lang="en-US" dirty="0"/>
                        <a:t>101</a:t>
                      </a:r>
                    </a:p>
                  </a:txBody>
                  <a:tcPr/>
                </a:tc>
                <a:tc>
                  <a:txBody>
                    <a:bodyPr/>
                    <a:lstStyle/>
                    <a:p>
                      <a:r>
                        <a:rPr lang="en-US" dirty="0"/>
                        <a:t>2</a:t>
                      </a:r>
                    </a:p>
                  </a:txBody>
                  <a:tcPr/>
                </a:tc>
                <a:extLst>
                  <a:ext uri="{0D108BD9-81ED-4DB2-BD59-A6C34878D82A}">
                    <a16:rowId xmlns:a16="http://schemas.microsoft.com/office/drawing/2014/main" val="549601472"/>
                  </a:ext>
                </a:extLst>
              </a:tr>
              <a:tr h="499946">
                <a:tc>
                  <a:txBody>
                    <a:bodyPr/>
                    <a:lstStyle/>
                    <a:p>
                      <a:r>
                        <a:rPr lang="en-US" dirty="0"/>
                        <a:t>102</a:t>
                      </a:r>
                    </a:p>
                  </a:txBody>
                  <a:tcPr/>
                </a:tc>
                <a:tc>
                  <a:txBody>
                    <a:bodyPr/>
                    <a:lstStyle/>
                    <a:p>
                      <a:r>
                        <a:rPr lang="en-US" dirty="0"/>
                        <a:t>1</a:t>
                      </a:r>
                    </a:p>
                  </a:txBody>
                  <a:tcPr/>
                </a:tc>
                <a:extLst>
                  <a:ext uri="{0D108BD9-81ED-4DB2-BD59-A6C34878D82A}">
                    <a16:rowId xmlns:a16="http://schemas.microsoft.com/office/drawing/2014/main" val="471658178"/>
                  </a:ext>
                </a:extLst>
              </a:tr>
            </a:tbl>
          </a:graphicData>
        </a:graphic>
      </p:graphicFrame>
      <p:sp>
        <p:nvSpPr>
          <p:cNvPr id="26" name="TextBox 25">
            <a:extLst>
              <a:ext uri="{FF2B5EF4-FFF2-40B4-BE49-F238E27FC236}">
                <a16:creationId xmlns:a16="http://schemas.microsoft.com/office/drawing/2014/main" id="{B733E9D5-5D02-2F56-5282-F2288F95A9A2}"/>
              </a:ext>
            </a:extLst>
          </p:cNvPr>
          <p:cNvSpPr txBox="1"/>
          <p:nvPr/>
        </p:nvSpPr>
        <p:spPr>
          <a:xfrm>
            <a:off x="10556175" y="3426076"/>
            <a:ext cx="1705489" cy="369332"/>
          </a:xfrm>
          <a:prstGeom prst="rect">
            <a:avLst/>
          </a:prstGeom>
          <a:noFill/>
        </p:spPr>
        <p:txBody>
          <a:bodyPr wrap="square" rtlCol="0">
            <a:spAutoFit/>
          </a:bodyPr>
          <a:lstStyle/>
          <a:p>
            <a:r>
              <a:rPr lang="en-US" dirty="0"/>
              <a:t>PRODUCT_TAGS</a:t>
            </a:r>
          </a:p>
        </p:txBody>
      </p:sp>
      <p:sp>
        <p:nvSpPr>
          <p:cNvPr id="28" name="TextBox 27">
            <a:extLst>
              <a:ext uri="{FF2B5EF4-FFF2-40B4-BE49-F238E27FC236}">
                <a16:creationId xmlns:a16="http://schemas.microsoft.com/office/drawing/2014/main" id="{CC36D490-5FAC-B3AB-8D67-8CE6B9DF3318}"/>
              </a:ext>
            </a:extLst>
          </p:cNvPr>
          <p:cNvSpPr txBox="1"/>
          <p:nvPr/>
        </p:nvSpPr>
        <p:spPr>
          <a:xfrm>
            <a:off x="1918915" y="123756"/>
            <a:ext cx="10087555" cy="1384995"/>
          </a:xfrm>
          <a:prstGeom prst="rect">
            <a:avLst/>
          </a:prstGeom>
          <a:noFill/>
        </p:spPr>
        <p:txBody>
          <a:bodyPr wrap="square">
            <a:spAutoFit/>
          </a:bodyPr>
          <a:lstStyle/>
          <a:p>
            <a:r>
              <a:rPr lang="en-US" sz="1400" dirty="0"/>
              <a:t>For 2NF, we looked at a </a:t>
            </a:r>
            <a:r>
              <a:rPr lang="en-US" sz="1400" dirty="0" err="1"/>
              <a:t>Product_Tag_Details</a:t>
            </a:r>
            <a:r>
              <a:rPr lang="en-US" sz="1400" dirty="0"/>
              <a:t> table that used a composite key made of </a:t>
            </a:r>
            <a:r>
              <a:rPr lang="en-US" sz="1400" dirty="0" err="1"/>
              <a:t>product_id</a:t>
            </a:r>
            <a:r>
              <a:rPr lang="en-US" sz="1400" dirty="0"/>
              <a:t> and </a:t>
            </a:r>
            <a:r>
              <a:rPr lang="en-US" sz="1400" dirty="0" err="1"/>
              <a:t>tag_id</a:t>
            </a:r>
            <a:r>
              <a:rPr lang="en-US" sz="1400" dirty="0"/>
              <a:t>. This table had partial dependencies because </a:t>
            </a:r>
            <a:r>
              <a:rPr lang="en-US" sz="1400" dirty="0" err="1"/>
              <a:t>product_name</a:t>
            </a:r>
            <a:r>
              <a:rPr lang="en-US" sz="1400" dirty="0"/>
              <a:t>, </a:t>
            </a:r>
            <a:r>
              <a:rPr lang="en-US" sz="1400" dirty="0" err="1"/>
              <a:t>seller_id</a:t>
            </a:r>
            <a:r>
              <a:rPr lang="en-US" sz="1400" dirty="0"/>
              <a:t>, and </a:t>
            </a:r>
            <a:r>
              <a:rPr lang="en-US" sz="1400" dirty="0" err="1"/>
              <a:t>category_id</a:t>
            </a:r>
            <a:r>
              <a:rPr lang="en-US" sz="1400" dirty="0"/>
              <a:t> depended only on </a:t>
            </a:r>
            <a:r>
              <a:rPr lang="en-US" sz="1400" dirty="0" err="1"/>
              <a:t>product_id</a:t>
            </a:r>
            <a:r>
              <a:rPr lang="en-US" sz="1400" dirty="0"/>
              <a:t>, while </a:t>
            </a:r>
            <a:r>
              <a:rPr lang="en-US" sz="1400" dirty="0" err="1"/>
              <a:t>tag_name</a:t>
            </a:r>
            <a:r>
              <a:rPr lang="en-US" sz="1400" dirty="0"/>
              <a:t> depended only on </a:t>
            </a:r>
            <a:r>
              <a:rPr lang="en-US" sz="1400" dirty="0" err="1"/>
              <a:t>tag_id</a:t>
            </a:r>
            <a:r>
              <a:rPr lang="en-US" sz="1400" dirty="0"/>
              <a:t>. These attributes did not depend on the whole composite key, so the table violated 2NF.</a:t>
            </a:r>
          </a:p>
          <a:p>
            <a:endParaRPr lang="en-US" sz="1400" dirty="0"/>
          </a:p>
          <a:p>
            <a:r>
              <a:rPr lang="en-US" sz="1400" dirty="0"/>
              <a:t>To normalize it, we moved product-specific attributes into the Products table and tag-specific attributes into the Tags table. Then we kept </a:t>
            </a:r>
            <a:r>
              <a:rPr lang="en-US" sz="1400" dirty="0" err="1"/>
              <a:t>Product_Tags</a:t>
            </a:r>
            <a:r>
              <a:rPr lang="en-US" sz="1400" dirty="0"/>
              <a:t> as a bridge table with only </a:t>
            </a:r>
            <a:r>
              <a:rPr lang="en-US" sz="1400" dirty="0" err="1"/>
              <a:t>product_id</a:t>
            </a:r>
            <a:r>
              <a:rPr lang="en-US" sz="1400" dirty="0"/>
              <a:t> and </a:t>
            </a:r>
            <a:r>
              <a:rPr lang="en-US" sz="1400" dirty="0" err="1"/>
              <a:t>tag_id</a:t>
            </a:r>
            <a:r>
              <a:rPr lang="en-US" sz="1400" dirty="0"/>
              <a:t> to preserve the many-to-many relationship between products and tags.</a:t>
            </a:r>
          </a:p>
        </p:txBody>
      </p:sp>
    </p:spTree>
    <p:extLst>
      <p:ext uri="{BB962C8B-B14F-4D97-AF65-F5344CB8AC3E}">
        <p14:creationId xmlns:p14="http://schemas.microsoft.com/office/powerpoint/2010/main" val="16125182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681" y="62305"/>
            <a:ext cx="10515600" cy="739280"/>
          </a:xfrm>
        </p:spPr>
        <p:txBody>
          <a:bodyPr/>
          <a:lstStyle/>
          <a:p>
            <a:r>
              <a:rPr lang="en-US" dirty="0"/>
              <a:t>3NF</a:t>
            </a:r>
          </a:p>
        </p:txBody>
      </p:sp>
      <p:sp>
        <p:nvSpPr>
          <p:cNvPr id="4" name="Rectangle 3"/>
          <p:cNvSpPr/>
          <p:nvPr/>
        </p:nvSpPr>
        <p:spPr>
          <a:xfrm>
            <a:off x="818210" y="1894212"/>
            <a:ext cx="6092245" cy="369332"/>
          </a:xfrm>
          <a:prstGeom prst="rect">
            <a:avLst/>
          </a:prstGeom>
        </p:spPr>
        <p:txBody>
          <a:bodyPr wrap="none">
            <a:spAutoFit/>
          </a:bodyPr>
          <a:lstStyle/>
          <a:p>
            <a:r>
              <a:rPr lang="en-US" dirty="0"/>
              <a:t>Transitive FD: </a:t>
            </a:r>
            <a:r>
              <a:rPr lang="en-US" i="1" dirty="0"/>
              <a:t>{</a:t>
            </a:r>
            <a:r>
              <a:rPr lang="en-US" i="1" u="sng" dirty="0" err="1"/>
              <a:t>payment_id</a:t>
            </a:r>
            <a:r>
              <a:rPr lang="en-US" i="1" dirty="0"/>
              <a:t>} </a:t>
            </a:r>
            <a:r>
              <a:rPr lang="en-US" i="1" dirty="0">
                <a:sym typeface="Wingdings" panose="05000000000000000000" pitchFamily="2" charset="2"/>
              </a:rPr>
              <a:t></a:t>
            </a:r>
            <a:r>
              <a:rPr lang="en-US" i="1" dirty="0"/>
              <a:t> {</a:t>
            </a:r>
            <a:r>
              <a:rPr lang="en-US" i="1" dirty="0" err="1"/>
              <a:t>product_id</a:t>
            </a:r>
            <a:r>
              <a:rPr lang="en-US" i="1" dirty="0"/>
              <a:t>} </a:t>
            </a:r>
            <a:r>
              <a:rPr lang="en-US" i="1" dirty="0">
                <a:sym typeface="Wingdings" panose="05000000000000000000" pitchFamily="2" charset="2"/>
              </a:rPr>
              <a:t> </a:t>
            </a:r>
            <a:r>
              <a:rPr lang="en-US" i="1" dirty="0"/>
              <a:t>{</a:t>
            </a:r>
            <a:r>
              <a:rPr lang="en-US" i="1" dirty="0" err="1"/>
              <a:t>product_name</a:t>
            </a:r>
            <a:r>
              <a:rPr lang="en-US" i="1" dirty="0"/>
              <a:t>}</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799175302"/>
              </p:ext>
            </p:extLst>
          </p:nvPr>
        </p:nvGraphicFramePr>
        <p:xfrm>
          <a:off x="389614" y="3449641"/>
          <a:ext cx="5754115" cy="1999784"/>
        </p:xfrm>
        <a:graphic>
          <a:graphicData uri="http://schemas.openxmlformats.org/drawingml/2006/table">
            <a:tbl>
              <a:tblPr firstRow="1" bandRow="1">
                <a:tableStyleId>{5C22544A-7EE6-4342-B048-85BDC9FD1C3A}</a:tableStyleId>
              </a:tblPr>
              <a:tblGrid>
                <a:gridCol w="1361250">
                  <a:extLst>
                    <a:ext uri="{9D8B030D-6E8A-4147-A177-3AD203B41FA5}">
                      <a16:colId xmlns:a16="http://schemas.microsoft.com/office/drawing/2014/main" val="12228238"/>
                    </a:ext>
                  </a:extLst>
                </a:gridCol>
                <a:gridCol w="1269111">
                  <a:extLst>
                    <a:ext uri="{9D8B030D-6E8A-4147-A177-3AD203B41FA5}">
                      <a16:colId xmlns:a16="http://schemas.microsoft.com/office/drawing/2014/main" val="31660248"/>
                    </a:ext>
                  </a:extLst>
                </a:gridCol>
                <a:gridCol w="1978787">
                  <a:extLst>
                    <a:ext uri="{9D8B030D-6E8A-4147-A177-3AD203B41FA5}">
                      <a16:colId xmlns:a16="http://schemas.microsoft.com/office/drawing/2014/main" val="1231006591"/>
                    </a:ext>
                  </a:extLst>
                </a:gridCol>
                <a:gridCol w="1144967">
                  <a:extLst>
                    <a:ext uri="{9D8B030D-6E8A-4147-A177-3AD203B41FA5}">
                      <a16:colId xmlns:a16="http://schemas.microsoft.com/office/drawing/2014/main" val="1483981108"/>
                    </a:ext>
                  </a:extLst>
                </a:gridCol>
              </a:tblGrid>
              <a:tr h="499946">
                <a:tc>
                  <a:txBody>
                    <a:bodyPr/>
                    <a:lstStyle/>
                    <a:p>
                      <a:pPr algn="ctr"/>
                      <a:r>
                        <a:rPr lang="en-US" u="sng" dirty="0" err="1"/>
                        <a:t>Payment_id</a:t>
                      </a:r>
                      <a:endParaRPr lang="en-US" u="sng" dirty="0"/>
                    </a:p>
                  </a:txBody>
                  <a:tcPr/>
                </a:tc>
                <a:tc>
                  <a:txBody>
                    <a:bodyPr/>
                    <a:lstStyle/>
                    <a:p>
                      <a:pPr algn="ctr"/>
                      <a:r>
                        <a:rPr lang="en-US" u="none" dirty="0" err="1"/>
                        <a:t>Product_id</a:t>
                      </a:r>
                      <a:endParaRPr lang="en-US" u="none" dirty="0"/>
                    </a:p>
                  </a:txBody>
                  <a:tcPr/>
                </a:tc>
                <a:tc>
                  <a:txBody>
                    <a:bodyPr/>
                    <a:lstStyle/>
                    <a:p>
                      <a:pPr algn="ctr"/>
                      <a:r>
                        <a:rPr lang="en-US" dirty="0" err="1"/>
                        <a:t>Product_name</a:t>
                      </a:r>
                      <a:endParaRPr lang="en-US" dirty="0"/>
                    </a:p>
                  </a:txBody>
                  <a:tcPr/>
                </a:tc>
                <a:tc>
                  <a:txBody>
                    <a:bodyPr/>
                    <a:lstStyle/>
                    <a:p>
                      <a:pPr algn="ctr"/>
                      <a:r>
                        <a:rPr lang="en-US" dirty="0"/>
                        <a:t>amount</a:t>
                      </a:r>
                    </a:p>
                  </a:txBody>
                  <a:tcPr/>
                </a:tc>
                <a:extLst>
                  <a:ext uri="{0D108BD9-81ED-4DB2-BD59-A6C34878D82A}">
                    <a16:rowId xmlns:a16="http://schemas.microsoft.com/office/drawing/2014/main" val="779936975"/>
                  </a:ext>
                </a:extLst>
              </a:tr>
              <a:tr h="499946">
                <a:tc>
                  <a:txBody>
                    <a:bodyPr/>
                    <a:lstStyle/>
                    <a:p>
                      <a:pPr>
                        <a:buNone/>
                      </a:pPr>
                      <a:r>
                        <a:rPr lang="en-US">
                          <a:effectLst/>
                        </a:rPr>
                        <a:t>501</a:t>
                      </a:r>
                    </a:p>
                  </a:txBody>
                  <a:tcPr marL="114300" marR="114300" marT="76200" marB="76200" anchor="ctr"/>
                </a:tc>
                <a:tc>
                  <a:txBody>
                    <a:bodyPr/>
                    <a:lstStyle/>
                    <a:p>
                      <a:pPr>
                        <a:buNone/>
                      </a:pPr>
                      <a:r>
                        <a:rPr lang="en-US">
                          <a:effectLst/>
                        </a:rPr>
                        <a:t>101</a:t>
                      </a:r>
                    </a:p>
                  </a:txBody>
                  <a:tcPr marL="114300" marR="114300" marT="76200" marB="76200" anchor="ctr"/>
                </a:tc>
                <a:tc>
                  <a:txBody>
                    <a:bodyPr/>
                    <a:lstStyle/>
                    <a:p>
                      <a:pPr>
                        <a:buNone/>
                      </a:pPr>
                      <a:r>
                        <a:rPr lang="en-US">
                          <a:effectLst/>
                        </a:rPr>
                        <a:t>AI Resume Builder</a:t>
                      </a:r>
                    </a:p>
                  </a:txBody>
                  <a:tcPr marL="114300" marR="114300" marT="76200" marB="76200" anchor="ctr"/>
                </a:tc>
                <a:tc>
                  <a:txBody>
                    <a:bodyPr/>
                    <a:lstStyle/>
                    <a:p>
                      <a:pPr>
                        <a:buNone/>
                      </a:pPr>
                      <a:r>
                        <a:rPr lang="en-US">
                          <a:effectLst/>
                        </a:rPr>
                        <a:t>20.00</a:t>
                      </a:r>
                    </a:p>
                  </a:txBody>
                  <a:tcPr marL="114300" marR="114300" marT="76200" marB="76200" anchor="ctr"/>
                </a:tc>
                <a:extLst>
                  <a:ext uri="{0D108BD9-81ED-4DB2-BD59-A6C34878D82A}">
                    <a16:rowId xmlns:a16="http://schemas.microsoft.com/office/drawing/2014/main" val="1301581000"/>
                  </a:ext>
                </a:extLst>
              </a:tr>
              <a:tr h="499946">
                <a:tc>
                  <a:txBody>
                    <a:bodyPr/>
                    <a:lstStyle/>
                    <a:p>
                      <a:pPr>
                        <a:buNone/>
                      </a:pPr>
                      <a:r>
                        <a:rPr lang="en-US">
                          <a:effectLst/>
                        </a:rPr>
                        <a:t>502</a:t>
                      </a:r>
                    </a:p>
                  </a:txBody>
                  <a:tcPr marL="114300" marR="114300" marT="76200" marB="76200" anchor="ctr"/>
                </a:tc>
                <a:tc>
                  <a:txBody>
                    <a:bodyPr/>
                    <a:lstStyle/>
                    <a:p>
                      <a:pPr>
                        <a:buNone/>
                      </a:pPr>
                      <a:r>
                        <a:rPr lang="en-US" dirty="0">
                          <a:effectLst/>
                        </a:rPr>
                        <a:t>102</a:t>
                      </a:r>
                    </a:p>
                  </a:txBody>
                  <a:tcPr marL="114300" marR="114300" marT="76200" marB="76200" anchor="ctr"/>
                </a:tc>
                <a:tc>
                  <a:txBody>
                    <a:bodyPr/>
                    <a:lstStyle/>
                    <a:p>
                      <a:pPr>
                        <a:buNone/>
                      </a:pPr>
                      <a:r>
                        <a:rPr lang="en-US" dirty="0">
                          <a:effectLst/>
                        </a:rPr>
                        <a:t>Code Review Bot</a:t>
                      </a:r>
                    </a:p>
                  </a:txBody>
                  <a:tcPr marL="114300" marR="114300" marT="76200" marB="76200" anchor="ctr"/>
                </a:tc>
                <a:tc>
                  <a:txBody>
                    <a:bodyPr/>
                    <a:lstStyle/>
                    <a:p>
                      <a:pPr>
                        <a:buNone/>
                      </a:pPr>
                      <a:r>
                        <a:rPr lang="en-US" dirty="0">
                          <a:effectLst/>
                        </a:rPr>
                        <a:t>35.00</a:t>
                      </a:r>
                    </a:p>
                  </a:txBody>
                  <a:tcPr marL="114300" marR="114300" marT="76200" marB="76200" anchor="ctr"/>
                </a:tc>
                <a:extLst>
                  <a:ext uri="{0D108BD9-81ED-4DB2-BD59-A6C34878D82A}">
                    <a16:rowId xmlns:a16="http://schemas.microsoft.com/office/drawing/2014/main" val="2378749852"/>
                  </a:ext>
                </a:extLst>
              </a:tr>
              <a:tr h="499946">
                <a:tc>
                  <a:txBody>
                    <a:bodyPr/>
                    <a:lstStyle/>
                    <a:p>
                      <a:pPr>
                        <a:buNone/>
                      </a:pPr>
                      <a:r>
                        <a:rPr lang="en-US">
                          <a:effectLst/>
                        </a:rPr>
                        <a:t>503</a:t>
                      </a:r>
                    </a:p>
                  </a:txBody>
                  <a:tcPr marL="114300" marR="114300" marT="76200" marB="76200" anchor="ctr"/>
                </a:tc>
                <a:tc>
                  <a:txBody>
                    <a:bodyPr/>
                    <a:lstStyle/>
                    <a:p>
                      <a:pPr>
                        <a:buNone/>
                      </a:pPr>
                      <a:r>
                        <a:rPr lang="en-US">
                          <a:effectLst/>
                        </a:rPr>
                        <a:t>101</a:t>
                      </a:r>
                    </a:p>
                  </a:txBody>
                  <a:tcPr marL="114300" marR="114300" marT="76200" marB="76200" anchor="ctr"/>
                </a:tc>
                <a:tc>
                  <a:txBody>
                    <a:bodyPr/>
                    <a:lstStyle/>
                    <a:p>
                      <a:pPr>
                        <a:buNone/>
                      </a:pPr>
                      <a:r>
                        <a:rPr lang="en-US">
                          <a:effectLst/>
                        </a:rPr>
                        <a:t>AI Resume Builder</a:t>
                      </a:r>
                    </a:p>
                  </a:txBody>
                  <a:tcPr marL="114300" marR="114300" marT="76200" marB="76200" anchor="ctr"/>
                </a:tc>
                <a:tc>
                  <a:txBody>
                    <a:bodyPr/>
                    <a:lstStyle/>
                    <a:p>
                      <a:pPr>
                        <a:buNone/>
                      </a:pPr>
                      <a:r>
                        <a:rPr lang="en-US" dirty="0">
                          <a:effectLst/>
                        </a:rPr>
                        <a:t>20.00</a:t>
                      </a:r>
                    </a:p>
                  </a:txBody>
                  <a:tcPr marL="114300" marR="114300" marT="76200" marB="76200" anchor="ctr"/>
                </a:tc>
                <a:extLst>
                  <a:ext uri="{0D108BD9-81ED-4DB2-BD59-A6C34878D82A}">
                    <a16:rowId xmlns:a16="http://schemas.microsoft.com/office/drawing/2014/main" val="549601472"/>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976464039"/>
              </p:ext>
            </p:extLst>
          </p:nvPr>
        </p:nvGraphicFramePr>
        <p:xfrm>
          <a:off x="7496357" y="2750685"/>
          <a:ext cx="3730089" cy="1999784"/>
        </p:xfrm>
        <a:graphic>
          <a:graphicData uri="http://schemas.openxmlformats.org/drawingml/2006/table">
            <a:tbl>
              <a:tblPr firstRow="1" bandRow="1">
                <a:tableStyleId>{5C22544A-7EE6-4342-B048-85BDC9FD1C3A}</a:tableStyleId>
              </a:tblPr>
              <a:tblGrid>
                <a:gridCol w="1361250">
                  <a:extLst>
                    <a:ext uri="{9D8B030D-6E8A-4147-A177-3AD203B41FA5}">
                      <a16:colId xmlns:a16="http://schemas.microsoft.com/office/drawing/2014/main" val="12228238"/>
                    </a:ext>
                  </a:extLst>
                </a:gridCol>
                <a:gridCol w="1269111">
                  <a:extLst>
                    <a:ext uri="{9D8B030D-6E8A-4147-A177-3AD203B41FA5}">
                      <a16:colId xmlns:a16="http://schemas.microsoft.com/office/drawing/2014/main" val="31660248"/>
                    </a:ext>
                  </a:extLst>
                </a:gridCol>
                <a:gridCol w="1099728">
                  <a:extLst>
                    <a:ext uri="{9D8B030D-6E8A-4147-A177-3AD203B41FA5}">
                      <a16:colId xmlns:a16="http://schemas.microsoft.com/office/drawing/2014/main" val="1231006591"/>
                    </a:ext>
                  </a:extLst>
                </a:gridCol>
              </a:tblGrid>
              <a:tr h="499946">
                <a:tc>
                  <a:txBody>
                    <a:bodyPr/>
                    <a:lstStyle/>
                    <a:p>
                      <a:pPr algn="ctr"/>
                      <a:r>
                        <a:rPr lang="en-US" u="sng" dirty="0" err="1"/>
                        <a:t>Payment_id</a:t>
                      </a:r>
                      <a:endParaRPr lang="en-US" u="sng" dirty="0"/>
                    </a:p>
                  </a:txBody>
                  <a:tcPr/>
                </a:tc>
                <a:tc>
                  <a:txBody>
                    <a:bodyPr/>
                    <a:lstStyle/>
                    <a:p>
                      <a:pPr algn="ctr"/>
                      <a:r>
                        <a:rPr lang="en-US" u="none" dirty="0" err="1"/>
                        <a:t>Product_id</a:t>
                      </a:r>
                      <a:endParaRPr lang="en-US" u="none" dirty="0"/>
                    </a:p>
                  </a:txBody>
                  <a:tcPr/>
                </a:tc>
                <a:tc>
                  <a:txBody>
                    <a:bodyPr/>
                    <a:lstStyle/>
                    <a:p>
                      <a:pPr algn="ctr"/>
                      <a:r>
                        <a:rPr lang="en-US" dirty="0"/>
                        <a:t>amount</a:t>
                      </a:r>
                    </a:p>
                  </a:txBody>
                  <a:tcPr/>
                </a:tc>
                <a:extLst>
                  <a:ext uri="{0D108BD9-81ED-4DB2-BD59-A6C34878D82A}">
                    <a16:rowId xmlns:a16="http://schemas.microsoft.com/office/drawing/2014/main" val="779936975"/>
                  </a:ext>
                </a:extLst>
              </a:tr>
              <a:tr h="499946">
                <a:tc>
                  <a:txBody>
                    <a:bodyPr/>
                    <a:lstStyle/>
                    <a:p>
                      <a:pPr>
                        <a:buNone/>
                      </a:pPr>
                      <a:r>
                        <a:rPr lang="en-US">
                          <a:effectLst/>
                        </a:rPr>
                        <a:t>501</a:t>
                      </a:r>
                    </a:p>
                  </a:txBody>
                  <a:tcPr marL="114300" marR="114300" marT="76200" marB="76200" anchor="ctr"/>
                </a:tc>
                <a:tc>
                  <a:txBody>
                    <a:bodyPr/>
                    <a:lstStyle/>
                    <a:p>
                      <a:pPr>
                        <a:buNone/>
                      </a:pPr>
                      <a:r>
                        <a:rPr lang="en-US">
                          <a:effectLst/>
                        </a:rPr>
                        <a:t>101</a:t>
                      </a:r>
                    </a:p>
                  </a:txBody>
                  <a:tcPr marL="114300" marR="114300" marT="76200" marB="76200" anchor="ctr"/>
                </a:tc>
                <a:tc>
                  <a:txBody>
                    <a:bodyPr/>
                    <a:lstStyle/>
                    <a:p>
                      <a:pPr>
                        <a:buNone/>
                      </a:pPr>
                      <a:r>
                        <a:rPr lang="en-US">
                          <a:effectLst/>
                        </a:rPr>
                        <a:t>20.00</a:t>
                      </a:r>
                    </a:p>
                  </a:txBody>
                  <a:tcPr marL="114300" marR="114300" marT="76200" marB="76200" anchor="ctr"/>
                </a:tc>
                <a:extLst>
                  <a:ext uri="{0D108BD9-81ED-4DB2-BD59-A6C34878D82A}">
                    <a16:rowId xmlns:a16="http://schemas.microsoft.com/office/drawing/2014/main" val="1301581000"/>
                  </a:ext>
                </a:extLst>
              </a:tr>
              <a:tr h="499946">
                <a:tc>
                  <a:txBody>
                    <a:bodyPr/>
                    <a:lstStyle/>
                    <a:p>
                      <a:pPr>
                        <a:buNone/>
                      </a:pPr>
                      <a:r>
                        <a:rPr lang="en-US">
                          <a:effectLst/>
                        </a:rPr>
                        <a:t>502</a:t>
                      </a:r>
                    </a:p>
                  </a:txBody>
                  <a:tcPr marL="114300" marR="114300" marT="76200" marB="76200" anchor="ctr"/>
                </a:tc>
                <a:tc>
                  <a:txBody>
                    <a:bodyPr/>
                    <a:lstStyle/>
                    <a:p>
                      <a:pPr>
                        <a:buNone/>
                      </a:pPr>
                      <a:r>
                        <a:rPr lang="en-US">
                          <a:effectLst/>
                        </a:rPr>
                        <a:t>102</a:t>
                      </a:r>
                    </a:p>
                  </a:txBody>
                  <a:tcPr marL="114300" marR="114300" marT="76200" marB="76200" anchor="ctr"/>
                </a:tc>
                <a:tc>
                  <a:txBody>
                    <a:bodyPr/>
                    <a:lstStyle/>
                    <a:p>
                      <a:pPr>
                        <a:buNone/>
                      </a:pPr>
                      <a:r>
                        <a:rPr lang="en-US">
                          <a:effectLst/>
                        </a:rPr>
                        <a:t>35.00</a:t>
                      </a:r>
                    </a:p>
                  </a:txBody>
                  <a:tcPr marL="114300" marR="114300" marT="76200" marB="76200" anchor="ctr"/>
                </a:tc>
                <a:extLst>
                  <a:ext uri="{0D108BD9-81ED-4DB2-BD59-A6C34878D82A}">
                    <a16:rowId xmlns:a16="http://schemas.microsoft.com/office/drawing/2014/main" val="2378749852"/>
                  </a:ext>
                </a:extLst>
              </a:tr>
              <a:tr h="499946">
                <a:tc>
                  <a:txBody>
                    <a:bodyPr/>
                    <a:lstStyle/>
                    <a:p>
                      <a:pPr>
                        <a:buNone/>
                      </a:pPr>
                      <a:r>
                        <a:rPr lang="en-US">
                          <a:effectLst/>
                        </a:rPr>
                        <a:t>503</a:t>
                      </a:r>
                    </a:p>
                  </a:txBody>
                  <a:tcPr marL="114300" marR="114300" marT="76200" marB="76200" anchor="ctr"/>
                </a:tc>
                <a:tc>
                  <a:txBody>
                    <a:bodyPr/>
                    <a:lstStyle/>
                    <a:p>
                      <a:pPr>
                        <a:buNone/>
                      </a:pPr>
                      <a:r>
                        <a:rPr lang="en-US">
                          <a:effectLst/>
                        </a:rPr>
                        <a:t>101</a:t>
                      </a:r>
                    </a:p>
                  </a:txBody>
                  <a:tcPr marL="114300" marR="114300" marT="76200" marB="76200" anchor="ctr"/>
                </a:tc>
                <a:tc>
                  <a:txBody>
                    <a:bodyPr/>
                    <a:lstStyle/>
                    <a:p>
                      <a:pPr>
                        <a:buNone/>
                      </a:pPr>
                      <a:r>
                        <a:rPr lang="en-US" dirty="0">
                          <a:effectLst/>
                        </a:rPr>
                        <a:t>20.00</a:t>
                      </a:r>
                    </a:p>
                  </a:txBody>
                  <a:tcPr marL="114300" marR="114300" marT="76200" marB="76200" anchor="ctr"/>
                </a:tc>
                <a:extLst>
                  <a:ext uri="{0D108BD9-81ED-4DB2-BD59-A6C34878D82A}">
                    <a16:rowId xmlns:a16="http://schemas.microsoft.com/office/drawing/2014/main" val="549601472"/>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864630112"/>
              </p:ext>
            </p:extLst>
          </p:nvPr>
        </p:nvGraphicFramePr>
        <p:xfrm>
          <a:off x="7496357" y="5314339"/>
          <a:ext cx="4507862" cy="1307073"/>
        </p:xfrm>
        <a:graphic>
          <a:graphicData uri="http://schemas.openxmlformats.org/drawingml/2006/table">
            <a:tbl>
              <a:tblPr firstRow="1" bandRow="1">
                <a:tableStyleId>{5C22544A-7EE6-4342-B048-85BDC9FD1C3A}</a:tableStyleId>
              </a:tblPr>
              <a:tblGrid>
                <a:gridCol w="2385861">
                  <a:extLst>
                    <a:ext uri="{9D8B030D-6E8A-4147-A177-3AD203B41FA5}">
                      <a16:colId xmlns:a16="http://schemas.microsoft.com/office/drawing/2014/main" val="12228238"/>
                    </a:ext>
                  </a:extLst>
                </a:gridCol>
                <a:gridCol w="2122001">
                  <a:extLst>
                    <a:ext uri="{9D8B030D-6E8A-4147-A177-3AD203B41FA5}">
                      <a16:colId xmlns:a16="http://schemas.microsoft.com/office/drawing/2014/main" val="1483981108"/>
                    </a:ext>
                  </a:extLst>
                </a:gridCol>
              </a:tblGrid>
              <a:tr h="435691">
                <a:tc>
                  <a:txBody>
                    <a:bodyPr/>
                    <a:lstStyle/>
                    <a:p>
                      <a:pPr algn="ctr"/>
                      <a:r>
                        <a:rPr lang="en-US" u="sng" dirty="0" err="1"/>
                        <a:t>Product_id</a:t>
                      </a:r>
                      <a:endParaRPr lang="en-US" u="sng" dirty="0"/>
                    </a:p>
                  </a:txBody>
                  <a:tcPr/>
                </a:tc>
                <a:tc>
                  <a:txBody>
                    <a:bodyPr/>
                    <a:lstStyle/>
                    <a:p>
                      <a:pPr algn="ctr"/>
                      <a:r>
                        <a:rPr lang="en-US" dirty="0" err="1"/>
                        <a:t>Product_name</a:t>
                      </a:r>
                      <a:endParaRPr lang="en-US" dirty="0"/>
                    </a:p>
                  </a:txBody>
                  <a:tcPr/>
                </a:tc>
                <a:extLst>
                  <a:ext uri="{0D108BD9-81ED-4DB2-BD59-A6C34878D82A}">
                    <a16:rowId xmlns:a16="http://schemas.microsoft.com/office/drawing/2014/main" val="779936975"/>
                  </a:ext>
                </a:extLst>
              </a:tr>
              <a:tr h="435691">
                <a:tc>
                  <a:txBody>
                    <a:bodyPr/>
                    <a:lstStyle/>
                    <a:p>
                      <a:pPr>
                        <a:buNone/>
                      </a:pPr>
                      <a:r>
                        <a:rPr lang="en-US">
                          <a:effectLst/>
                        </a:rPr>
                        <a:t>101</a:t>
                      </a:r>
                    </a:p>
                  </a:txBody>
                  <a:tcPr marL="114300" marR="114300" marT="76200" marB="76200" anchor="ctr"/>
                </a:tc>
                <a:tc>
                  <a:txBody>
                    <a:bodyPr/>
                    <a:lstStyle/>
                    <a:p>
                      <a:pPr>
                        <a:buNone/>
                      </a:pPr>
                      <a:r>
                        <a:rPr lang="en-US" dirty="0">
                          <a:effectLst/>
                        </a:rPr>
                        <a:t>AI Resume Builder</a:t>
                      </a:r>
                    </a:p>
                  </a:txBody>
                  <a:tcPr marL="114300" marR="114300" marT="76200" marB="76200" anchor="ctr"/>
                </a:tc>
                <a:extLst>
                  <a:ext uri="{0D108BD9-81ED-4DB2-BD59-A6C34878D82A}">
                    <a16:rowId xmlns:a16="http://schemas.microsoft.com/office/drawing/2014/main" val="1301581000"/>
                  </a:ext>
                </a:extLst>
              </a:tr>
              <a:tr h="435691">
                <a:tc>
                  <a:txBody>
                    <a:bodyPr/>
                    <a:lstStyle/>
                    <a:p>
                      <a:pPr>
                        <a:buNone/>
                      </a:pPr>
                      <a:r>
                        <a:rPr lang="en-US" dirty="0">
                          <a:effectLst/>
                        </a:rPr>
                        <a:t>102</a:t>
                      </a:r>
                    </a:p>
                  </a:txBody>
                  <a:tcPr marL="114300" marR="114300" marT="76200" marB="76200" anchor="ctr"/>
                </a:tc>
                <a:tc>
                  <a:txBody>
                    <a:bodyPr/>
                    <a:lstStyle/>
                    <a:p>
                      <a:pPr>
                        <a:buNone/>
                      </a:pPr>
                      <a:r>
                        <a:rPr lang="en-US" dirty="0">
                          <a:effectLst/>
                        </a:rPr>
                        <a:t>Code Review Bot</a:t>
                      </a:r>
                    </a:p>
                  </a:txBody>
                  <a:tcPr marL="114300" marR="114300" marT="76200" marB="76200" anchor="ctr"/>
                </a:tc>
                <a:extLst>
                  <a:ext uri="{0D108BD9-81ED-4DB2-BD59-A6C34878D82A}">
                    <a16:rowId xmlns:a16="http://schemas.microsoft.com/office/drawing/2014/main" val="549601472"/>
                  </a:ext>
                </a:extLst>
              </a:tr>
            </a:tbl>
          </a:graphicData>
        </a:graphic>
      </p:graphicFrame>
      <p:sp>
        <p:nvSpPr>
          <p:cNvPr id="17" name="TextBox 16"/>
          <p:cNvSpPr txBox="1"/>
          <p:nvPr/>
        </p:nvSpPr>
        <p:spPr>
          <a:xfrm>
            <a:off x="389614" y="3039027"/>
            <a:ext cx="2225849" cy="369332"/>
          </a:xfrm>
          <a:prstGeom prst="rect">
            <a:avLst/>
          </a:prstGeom>
          <a:noFill/>
        </p:spPr>
        <p:txBody>
          <a:bodyPr wrap="square" rtlCol="0">
            <a:spAutoFit/>
          </a:bodyPr>
          <a:lstStyle/>
          <a:p>
            <a:r>
              <a:rPr lang="en-US" dirty="0"/>
              <a:t>PAYMENT_DETAILS</a:t>
            </a:r>
          </a:p>
        </p:txBody>
      </p:sp>
      <p:sp>
        <p:nvSpPr>
          <p:cNvPr id="18" name="TextBox 17"/>
          <p:cNvSpPr txBox="1"/>
          <p:nvPr/>
        </p:nvSpPr>
        <p:spPr>
          <a:xfrm>
            <a:off x="7391231" y="2409028"/>
            <a:ext cx="1430776" cy="369332"/>
          </a:xfrm>
          <a:prstGeom prst="rect">
            <a:avLst/>
          </a:prstGeom>
          <a:noFill/>
        </p:spPr>
        <p:txBody>
          <a:bodyPr wrap="square" rtlCol="0">
            <a:spAutoFit/>
          </a:bodyPr>
          <a:lstStyle/>
          <a:p>
            <a:r>
              <a:rPr lang="en-US" dirty="0"/>
              <a:t>PAYMENTS</a:t>
            </a:r>
          </a:p>
        </p:txBody>
      </p:sp>
      <p:sp>
        <p:nvSpPr>
          <p:cNvPr id="19" name="TextBox 18"/>
          <p:cNvSpPr txBox="1"/>
          <p:nvPr/>
        </p:nvSpPr>
        <p:spPr>
          <a:xfrm>
            <a:off x="7496357" y="4945007"/>
            <a:ext cx="1581286" cy="369332"/>
          </a:xfrm>
          <a:prstGeom prst="rect">
            <a:avLst/>
          </a:prstGeom>
          <a:noFill/>
        </p:spPr>
        <p:txBody>
          <a:bodyPr wrap="square" rtlCol="0">
            <a:spAutoFit/>
          </a:bodyPr>
          <a:lstStyle/>
          <a:p>
            <a:r>
              <a:rPr lang="en-US" dirty="0"/>
              <a:t>PRODUCTS</a:t>
            </a:r>
          </a:p>
        </p:txBody>
      </p:sp>
      <p:sp>
        <p:nvSpPr>
          <p:cNvPr id="26" name="Right Arrow 25"/>
          <p:cNvSpPr/>
          <p:nvPr/>
        </p:nvSpPr>
        <p:spPr>
          <a:xfrm>
            <a:off x="6399895" y="4410619"/>
            <a:ext cx="510639" cy="534388"/>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0A6BB23-8620-B5C0-A1E3-4BCA1B9FF5D6}"/>
              </a:ext>
            </a:extLst>
          </p:cNvPr>
          <p:cNvSpPr txBox="1"/>
          <p:nvPr/>
        </p:nvSpPr>
        <p:spPr>
          <a:xfrm>
            <a:off x="1403706" y="48050"/>
            <a:ext cx="10662613" cy="1600438"/>
          </a:xfrm>
          <a:prstGeom prst="rect">
            <a:avLst/>
          </a:prstGeom>
          <a:noFill/>
        </p:spPr>
        <p:txBody>
          <a:bodyPr wrap="square">
            <a:spAutoFit/>
          </a:bodyPr>
          <a:lstStyle/>
          <a:p>
            <a:r>
              <a:rPr lang="en-US" sz="1400" dirty="0"/>
              <a:t>For 3NF, we used a simplified </a:t>
            </a:r>
            <a:r>
              <a:rPr lang="en-US" sz="1400" dirty="0" err="1"/>
              <a:t>Payment_Details</a:t>
            </a:r>
            <a:r>
              <a:rPr lang="en-US" sz="1400" dirty="0"/>
              <a:t> table to show a transitive dependency. Before normalization, the table stored payment information and product information together. The primary key was </a:t>
            </a:r>
            <a:r>
              <a:rPr lang="en-US" sz="1400" dirty="0" err="1"/>
              <a:t>payment_id</a:t>
            </a:r>
            <a:r>
              <a:rPr lang="en-US" sz="1400" dirty="0"/>
              <a:t>. Since </a:t>
            </a:r>
            <a:r>
              <a:rPr lang="en-US" sz="1400" dirty="0" err="1"/>
              <a:t>payment_id</a:t>
            </a:r>
            <a:r>
              <a:rPr lang="en-US" sz="1400" dirty="0"/>
              <a:t> identifies the payment row, it determines </a:t>
            </a:r>
            <a:r>
              <a:rPr lang="en-US" sz="1400" dirty="0" err="1"/>
              <a:t>product_id</a:t>
            </a:r>
            <a:r>
              <a:rPr lang="en-US" sz="1400" dirty="0"/>
              <a:t>. Then </a:t>
            </a:r>
            <a:r>
              <a:rPr lang="en-US" sz="1400" dirty="0" err="1"/>
              <a:t>product_id</a:t>
            </a:r>
            <a:r>
              <a:rPr lang="en-US" sz="1400" dirty="0"/>
              <a:t> determines </a:t>
            </a:r>
            <a:r>
              <a:rPr lang="en-US" sz="1400" dirty="0" err="1"/>
              <a:t>product_name</a:t>
            </a:r>
            <a:r>
              <a:rPr lang="en-US" sz="1400" dirty="0"/>
              <a:t>. </a:t>
            </a:r>
          </a:p>
          <a:p>
            <a:endParaRPr lang="en-US" sz="1400" dirty="0"/>
          </a:p>
          <a:p>
            <a:r>
              <a:rPr lang="en-US" sz="1400" dirty="0"/>
              <a:t>To apply 3NF, we separated the product information from the payment information. The Payments table keeps payment-specific data such as </a:t>
            </a:r>
            <a:r>
              <a:rPr lang="en-US" sz="1400" dirty="0" err="1"/>
              <a:t>payment_id</a:t>
            </a:r>
            <a:r>
              <a:rPr lang="en-US" sz="1400" dirty="0"/>
              <a:t>, </a:t>
            </a:r>
            <a:r>
              <a:rPr lang="en-US" sz="1400" dirty="0" err="1"/>
              <a:t>product_id</a:t>
            </a:r>
            <a:r>
              <a:rPr lang="en-US" sz="1400" dirty="0"/>
              <a:t>, and amount. The Products table stores product-specific data such as </a:t>
            </a:r>
            <a:r>
              <a:rPr lang="en-US" sz="1400" dirty="0" err="1"/>
              <a:t>product_id</a:t>
            </a:r>
            <a:r>
              <a:rPr lang="en-US" sz="1400" dirty="0"/>
              <a:t> and </a:t>
            </a:r>
            <a:r>
              <a:rPr lang="en-US" sz="1400" dirty="0" err="1"/>
              <a:t>product_name</a:t>
            </a:r>
            <a:r>
              <a:rPr lang="en-US" sz="1400" dirty="0"/>
              <a:t>. This removes repeated product names from the payment table and keeps non-key attributes dependent on the key instead of another non-key attribute.</a:t>
            </a:r>
          </a:p>
        </p:txBody>
      </p:sp>
    </p:spTree>
    <p:extLst>
      <p:ext uri="{BB962C8B-B14F-4D97-AF65-F5344CB8AC3E}">
        <p14:creationId xmlns:p14="http://schemas.microsoft.com/office/powerpoint/2010/main" val="11545466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705531"/>
            <a:ext cx="10515600" cy="2852737"/>
          </a:xfrm>
        </p:spPr>
        <p:txBody>
          <a:bodyPr/>
          <a:lstStyle/>
          <a:p>
            <a:r>
              <a:rPr lang="en-US" dirty="0"/>
              <a:t>ANALYSIS OF DATA</a:t>
            </a:r>
          </a:p>
        </p:txBody>
      </p:sp>
      <p:sp>
        <p:nvSpPr>
          <p:cNvPr id="3" name="Content Placeholder 2"/>
          <p:cNvSpPr>
            <a:spLocks noGrp="1"/>
          </p:cNvSpPr>
          <p:nvPr>
            <p:ph type="body" idx="1"/>
          </p:nvPr>
        </p:nvSpPr>
        <p:spPr>
          <a:xfrm>
            <a:off x="831850" y="3585256"/>
            <a:ext cx="5756729" cy="505051"/>
          </a:xfrm>
        </p:spPr>
        <p:txBody>
          <a:bodyPr>
            <a:normAutofit/>
          </a:bodyPr>
          <a:lstStyle/>
          <a:p>
            <a:r>
              <a:rPr lang="en-US" i="1" dirty="0"/>
              <a:t>Discuss Possible Anomalies and Remedies</a:t>
            </a:r>
            <a:endParaRPr lang="en-US" dirty="0"/>
          </a:p>
          <a:p>
            <a:endParaRPr lang="en-US" dirty="0"/>
          </a:p>
        </p:txBody>
      </p:sp>
      <p:sp>
        <p:nvSpPr>
          <p:cNvPr id="4" name="Content Placeholder 2"/>
          <p:cNvSpPr txBox="1">
            <a:spLocks/>
          </p:cNvSpPr>
          <p:nvPr/>
        </p:nvSpPr>
        <p:spPr>
          <a:xfrm>
            <a:off x="911678" y="4211473"/>
            <a:ext cx="10665280" cy="1403881"/>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fontScale="775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b="1" i="1" dirty="0"/>
              <a:t>Instructions:</a:t>
            </a:r>
          </a:p>
          <a:p>
            <a:pPr marL="342900" indent="-342900">
              <a:buFontTx/>
              <a:buChar char="-"/>
            </a:pPr>
            <a:r>
              <a:rPr lang="en-US" i="1" dirty="0"/>
              <a:t>Provide some sample tuples of </a:t>
            </a:r>
            <a:r>
              <a:rPr lang="en-US" b="1" i="1" dirty="0">
                <a:solidFill>
                  <a:srgbClr val="FF0000"/>
                </a:solidFill>
              </a:rPr>
              <a:t>your</a:t>
            </a:r>
            <a:r>
              <a:rPr lang="en-US" i="1" dirty="0"/>
              <a:t> database to discuss possible anomaly issues related to data insertion, update, delete anomalies existing in </a:t>
            </a:r>
            <a:r>
              <a:rPr lang="en-US" i="1" u="sng" dirty="0"/>
              <a:t>your database</a:t>
            </a:r>
            <a:r>
              <a:rPr lang="en-US" i="1" dirty="0"/>
              <a:t>. If </a:t>
            </a:r>
            <a:r>
              <a:rPr lang="en-US" b="1" i="1" dirty="0">
                <a:solidFill>
                  <a:srgbClr val="FF0000"/>
                </a:solidFill>
              </a:rPr>
              <a:t>does not exist</a:t>
            </a:r>
            <a:r>
              <a:rPr lang="en-US" i="1" dirty="0"/>
              <a:t>, then add some sample tuples to your tables in your database so that an insertion, an update, and a delete anomaly exist.</a:t>
            </a:r>
          </a:p>
          <a:p>
            <a:pPr marL="342900" indent="-342900">
              <a:buFontTx/>
              <a:buChar char="-"/>
            </a:pPr>
            <a:r>
              <a:rPr lang="en-US" i="1" dirty="0"/>
              <a:t>Propose remedies </a:t>
            </a:r>
            <a:r>
              <a:rPr lang="en-US" i="1" u="sng" dirty="0"/>
              <a:t>with some examples</a:t>
            </a:r>
            <a:r>
              <a:rPr lang="en-US" i="1" dirty="0"/>
              <a:t>  for anomalies existing in the database.</a:t>
            </a:r>
            <a:endParaRPr lang="en-US" dirty="0"/>
          </a:p>
        </p:txBody>
      </p:sp>
    </p:spTree>
    <p:extLst>
      <p:ext uri="{BB962C8B-B14F-4D97-AF65-F5344CB8AC3E}">
        <p14:creationId xmlns:p14="http://schemas.microsoft.com/office/powerpoint/2010/main" val="40257150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5056" y="104838"/>
            <a:ext cx="3170465" cy="499319"/>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dirty="0"/>
              <a:t>Update Anomaly</a:t>
            </a:r>
          </a:p>
        </p:txBody>
      </p:sp>
      <p:sp>
        <p:nvSpPr>
          <p:cNvPr id="5" name="TextBox 4"/>
          <p:cNvSpPr txBox="1"/>
          <p:nvPr/>
        </p:nvSpPr>
        <p:spPr>
          <a:xfrm>
            <a:off x="803082" y="2434610"/>
            <a:ext cx="1151906" cy="369332"/>
          </a:xfrm>
          <a:prstGeom prst="rect">
            <a:avLst/>
          </a:prstGeom>
          <a:noFill/>
        </p:spPr>
        <p:txBody>
          <a:bodyPr wrap="square" rtlCol="0">
            <a:spAutoFit/>
          </a:bodyPr>
          <a:lstStyle/>
          <a:p>
            <a:r>
              <a:rPr lang="en-US" dirty="0"/>
              <a:t>Products</a:t>
            </a:r>
          </a:p>
        </p:txBody>
      </p:sp>
      <p:graphicFrame>
        <p:nvGraphicFramePr>
          <p:cNvPr id="9" name="Table 8"/>
          <p:cNvGraphicFramePr>
            <a:graphicFrameLocks noGrp="1"/>
          </p:cNvGraphicFramePr>
          <p:nvPr>
            <p:extLst>
              <p:ext uri="{D42A27DB-BD31-4B8C-83A1-F6EECF244321}">
                <p14:modId xmlns:p14="http://schemas.microsoft.com/office/powerpoint/2010/main" val="3731462101"/>
              </p:ext>
            </p:extLst>
          </p:nvPr>
        </p:nvGraphicFramePr>
        <p:xfrm>
          <a:off x="803082" y="2803942"/>
          <a:ext cx="5406886" cy="1902026"/>
        </p:xfrm>
        <a:graphic>
          <a:graphicData uri="http://schemas.openxmlformats.org/drawingml/2006/table">
            <a:tbl>
              <a:tblPr firstRow="1" bandRow="1">
                <a:tableStyleId>{5C22544A-7EE6-4342-B048-85BDC9FD1C3A}</a:tableStyleId>
              </a:tblPr>
              <a:tblGrid>
                <a:gridCol w="1192695">
                  <a:extLst>
                    <a:ext uri="{9D8B030D-6E8A-4147-A177-3AD203B41FA5}">
                      <a16:colId xmlns:a16="http://schemas.microsoft.com/office/drawing/2014/main" val="12228238"/>
                    </a:ext>
                  </a:extLst>
                </a:gridCol>
                <a:gridCol w="1598213">
                  <a:extLst>
                    <a:ext uri="{9D8B030D-6E8A-4147-A177-3AD203B41FA5}">
                      <a16:colId xmlns:a16="http://schemas.microsoft.com/office/drawing/2014/main" val="31660248"/>
                    </a:ext>
                  </a:extLst>
                </a:gridCol>
                <a:gridCol w="1160890">
                  <a:extLst>
                    <a:ext uri="{9D8B030D-6E8A-4147-A177-3AD203B41FA5}">
                      <a16:colId xmlns:a16="http://schemas.microsoft.com/office/drawing/2014/main" val="1231006591"/>
                    </a:ext>
                  </a:extLst>
                </a:gridCol>
                <a:gridCol w="1455088">
                  <a:extLst>
                    <a:ext uri="{9D8B030D-6E8A-4147-A177-3AD203B41FA5}">
                      <a16:colId xmlns:a16="http://schemas.microsoft.com/office/drawing/2014/main" val="4172447800"/>
                    </a:ext>
                  </a:extLst>
                </a:gridCol>
              </a:tblGrid>
              <a:tr h="499946">
                <a:tc>
                  <a:txBody>
                    <a:bodyPr/>
                    <a:lstStyle/>
                    <a:p>
                      <a:pPr>
                        <a:buNone/>
                      </a:pPr>
                      <a:r>
                        <a:rPr lang="en-US" b="1" u="sng" dirty="0" err="1">
                          <a:effectLst/>
                        </a:rPr>
                        <a:t>ProductID</a:t>
                      </a:r>
                      <a:endParaRPr lang="en-US" u="sng" dirty="0">
                        <a:effectLst/>
                      </a:endParaRPr>
                    </a:p>
                  </a:txBody>
                  <a:tcPr marL="114300" marR="114300" marT="76200" marB="76200" anchor="ctr"/>
                </a:tc>
                <a:tc>
                  <a:txBody>
                    <a:bodyPr/>
                    <a:lstStyle/>
                    <a:p>
                      <a:pPr>
                        <a:buNone/>
                      </a:pPr>
                      <a:r>
                        <a:rPr lang="en-US" b="1" dirty="0">
                          <a:effectLst/>
                        </a:rPr>
                        <a:t>ProductName</a:t>
                      </a:r>
                      <a:endParaRPr lang="en-US" dirty="0">
                        <a:effectLst/>
                      </a:endParaRPr>
                    </a:p>
                  </a:txBody>
                  <a:tcPr marL="114300" marR="114300" marT="76200" marB="76200" anchor="ctr"/>
                </a:tc>
                <a:tc>
                  <a:txBody>
                    <a:bodyPr/>
                    <a:lstStyle/>
                    <a:p>
                      <a:pPr>
                        <a:buNone/>
                      </a:pPr>
                      <a:r>
                        <a:rPr lang="en-US" b="1" dirty="0" err="1">
                          <a:effectLst/>
                        </a:rPr>
                        <a:t>VendorID</a:t>
                      </a:r>
                      <a:endParaRPr lang="en-US" dirty="0">
                        <a:effectLst/>
                      </a:endParaRPr>
                    </a:p>
                  </a:txBody>
                  <a:tcPr marL="114300" marR="114300" marT="76200" marB="76200" anchor="ctr"/>
                </a:tc>
                <a:tc>
                  <a:txBody>
                    <a:bodyPr/>
                    <a:lstStyle/>
                    <a:p>
                      <a:pPr>
                        <a:buNone/>
                      </a:pPr>
                      <a:r>
                        <a:rPr lang="en-US" dirty="0" err="1">
                          <a:effectLst/>
                        </a:rPr>
                        <a:t>VendorEmail</a:t>
                      </a:r>
                      <a:endParaRPr lang="en-US" dirty="0">
                        <a:effectLst/>
                      </a:endParaRPr>
                    </a:p>
                  </a:txBody>
                  <a:tcPr marL="114300" marR="114300" marT="76200" marB="76200" anchor="ctr"/>
                </a:tc>
                <a:extLst>
                  <a:ext uri="{0D108BD9-81ED-4DB2-BD59-A6C34878D82A}">
                    <a16:rowId xmlns:a16="http://schemas.microsoft.com/office/drawing/2014/main" val="779936975"/>
                  </a:ext>
                </a:extLst>
              </a:tr>
              <a:tr h="499946">
                <a:tc>
                  <a:txBody>
                    <a:bodyPr/>
                    <a:lstStyle/>
                    <a:p>
                      <a:pPr>
                        <a:buNone/>
                      </a:pPr>
                      <a:r>
                        <a:rPr lang="en-US">
                          <a:effectLst/>
                        </a:rPr>
                        <a:t>P1</a:t>
                      </a:r>
                    </a:p>
                  </a:txBody>
                  <a:tcPr marL="114300" marR="114300" marT="76200" marB="76200" anchor="ctr"/>
                </a:tc>
                <a:tc>
                  <a:txBody>
                    <a:bodyPr/>
                    <a:lstStyle/>
                    <a:p>
                      <a:pPr>
                        <a:buNone/>
                      </a:pPr>
                      <a:r>
                        <a:rPr lang="en-US">
                          <a:effectLst/>
                        </a:rPr>
                        <a:t>ChatBot</a:t>
                      </a:r>
                    </a:p>
                  </a:txBody>
                  <a:tcPr marL="114300" marR="114300" marT="76200" marB="76200" anchor="ctr"/>
                </a:tc>
                <a:tc>
                  <a:txBody>
                    <a:bodyPr/>
                    <a:lstStyle/>
                    <a:p>
                      <a:pPr>
                        <a:buNone/>
                      </a:pPr>
                      <a:r>
                        <a:rPr lang="en-US" dirty="0">
                          <a:effectLst/>
                        </a:rPr>
                        <a:t>V1</a:t>
                      </a:r>
                    </a:p>
                  </a:txBody>
                  <a:tcPr marL="114300" marR="114300" marT="76200" marB="76200" anchor="ctr"/>
                </a:tc>
                <a:tc>
                  <a:txBody>
                    <a:bodyPr/>
                    <a:lstStyle/>
                    <a:p>
                      <a:pPr>
                        <a:buNone/>
                      </a:pPr>
                      <a:r>
                        <a:rPr lang="en-US" dirty="0" err="1">
                          <a:effectLst/>
                        </a:rPr>
                        <a:t>vendor@gmail.com</a:t>
                      </a:r>
                      <a:endParaRPr lang="en-US" dirty="0">
                        <a:effectLst/>
                      </a:endParaRPr>
                    </a:p>
                  </a:txBody>
                  <a:tcPr marL="114300" marR="114300" marT="76200" marB="76200" anchor="ctr"/>
                </a:tc>
                <a:extLst>
                  <a:ext uri="{0D108BD9-81ED-4DB2-BD59-A6C34878D82A}">
                    <a16:rowId xmlns:a16="http://schemas.microsoft.com/office/drawing/2014/main" val="1301581000"/>
                  </a:ext>
                </a:extLst>
              </a:tr>
              <a:tr h="499946">
                <a:tc>
                  <a:txBody>
                    <a:bodyPr/>
                    <a:lstStyle/>
                    <a:p>
                      <a:pPr>
                        <a:buNone/>
                      </a:pPr>
                      <a:r>
                        <a:rPr lang="en-US">
                          <a:effectLst/>
                        </a:rPr>
                        <a:t>P2</a:t>
                      </a:r>
                    </a:p>
                  </a:txBody>
                  <a:tcPr marL="114300" marR="114300" marT="76200" marB="76200" anchor="ctr"/>
                </a:tc>
                <a:tc>
                  <a:txBody>
                    <a:bodyPr/>
                    <a:lstStyle/>
                    <a:p>
                      <a:pPr>
                        <a:buNone/>
                      </a:pPr>
                      <a:r>
                        <a:rPr lang="en-US" dirty="0" err="1">
                          <a:effectLst/>
                        </a:rPr>
                        <a:t>ImageBot</a:t>
                      </a:r>
                      <a:endParaRPr lang="en-US" dirty="0">
                        <a:effectLst/>
                      </a:endParaRPr>
                    </a:p>
                  </a:txBody>
                  <a:tcPr marL="114300" marR="114300" marT="76200" marB="76200" anchor="ctr"/>
                </a:tc>
                <a:tc>
                  <a:txBody>
                    <a:bodyPr/>
                    <a:lstStyle/>
                    <a:p>
                      <a:pPr>
                        <a:buNone/>
                      </a:pPr>
                      <a:r>
                        <a:rPr lang="en-US" dirty="0">
                          <a:effectLst/>
                        </a:rPr>
                        <a:t>V1</a:t>
                      </a:r>
                    </a:p>
                  </a:txBody>
                  <a:tcPr marL="114300" marR="114300" marT="76200" marB="76200" anchor="ctr"/>
                </a:tc>
                <a:tc>
                  <a:txBody>
                    <a:bodyPr/>
                    <a:lstStyle/>
                    <a:p>
                      <a:pPr>
                        <a:buNone/>
                      </a:pPr>
                      <a:r>
                        <a:rPr lang="en-US" dirty="0" err="1">
                          <a:effectLst/>
                        </a:rPr>
                        <a:t>vendor@gmail.com</a:t>
                      </a:r>
                      <a:endParaRPr lang="en-US" dirty="0">
                        <a:effectLst/>
                      </a:endParaRPr>
                    </a:p>
                  </a:txBody>
                  <a:tcPr marL="114300" marR="114300" marT="76200" marB="76200" anchor="ctr"/>
                </a:tc>
                <a:extLst>
                  <a:ext uri="{0D108BD9-81ED-4DB2-BD59-A6C34878D82A}">
                    <a16:rowId xmlns:a16="http://schemas.microsoft.com/office/drawing/2014/main" val="2378749852"/>
                  </a:ext>
                </a:extLst>
              </a:tr>
            </a:tbl>
          </a:graphicData>
        </a:graphic>
      </p:graphicFrame>
      <p:sp>
        <p:nvSpPr>
          <p:cNvPr id="6" name="Line Callout 2 5"/>
          <p:cNvSpPr/>
          <p:nvPr/>
        </p:nvSpPr>
        <p:spPr>
          <a:xfrm>
            <a:off x="7831033" y="2503190"/>
            <a:ext cx="3769919" cy="1591732"/>
          </a:xfrm>
          <a:prstGeom prst="borderCallout2">
            <a:avLst>
              <a:gd name="adj1" fmla="val 18750"/>
              <a:gd name="adj2" fmla="val -8333"/>
              <a:gd name="adj3" fmla="val 18750"/>
              <a:gd name="adj4" fmla="val -16667"/>
              <a:gd name="adj5" fmla="val 66632"/>
              <a:gd name="adj6" fmla="val -41949"/>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If Vendor V1 changes their email, both rows must be updated. If only one row is updated, the same vendor will have two different emails.</a:t>
            </a:r>
          </a:p>
        </p:txBody>
      </p:sp>
    </p:spTree>
    <p:extLst>
      <p:ext uri="{BB962C8B-B14F-4D97-AF65-F5344CB8AC3E}">
        <p14:creationId xmlns:p14="http://schemas.microsoft.com/office/powerpoint/2010/main" val="13986064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85056" y="104838"/>
            <a:ext cx="4770665" cy="499319"/>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buFont typeface="Arial" panose="020B0604020202020204" pitchFamily="34" charset="0"/>
              <a:buNone/>
            </a:pPr>
            <a:r>
              <a:rPr lang="en-US" dirty="0"/>
              <a:t>Remedy for the Update Anomaly</a:t>
            </a:r>
          </a:p>
        </p:txBody>
      </p:sp>
      <p:sp>
        <p:nvSpPr>
          <p:cNvPr id="6" name="Content Placeholder 5"/>
          <p:cNvSpPr>
            <a:spLocks noGrp="1"/>
          </p:cNvSpPr>
          <p:nvPr>
            <p:ph idx="1"/>
          </p:nvPr>
        </p:nvSpPr>
        <p:spPr>
          <a:xfrm>
            <a:off x="185056" y="845909"/>
            <a:ext cx="4770665" cy="5644697"/>
          </a:xfrm>
        </p:spPr>
        <p:style>
          <a:lnRef idx="2">
            <a:schemeClr val="accent2"/>
          </a:lnRef>
          <a:fillRef idx="1">
            <a:schemeClr val="lt1"/>
          </a:fillRef>
          <a:effectRef idx="0">
            <a:schemeClr val="accent2"/>
          </a:effectRef>
          <a:fontRef idx="minor">
            <a:schemeClr val="dk1"/>
          </a:fontRef>
        </p:style>
        <p:txBody>
          <a:bodyPr/>
          <a:lstStyle/>
          <a:p>
            <a:r>
              <a:rPr lang="en-US" dirty="0"/>
              <a:t>Explanation:</a:t>
            </a:r>
          </a:p>
          <a:p>
            <a:pPr marL="0" indent="0">
              <a:buNone/>
            </a:pPr>
            <a:endParaRPr lang="en-US" dirty="0"/>
          </a:p>
          <a:p>
            <a:pPr marL="0" indent="0">
              <a:buNone/>
            </a:pPr>
            <a:r>
              <a:rPr lang="en-US" dirty="0"/>
              <a:t>Store the vendor email once in the Vendors table. Products only store </a:t>
            </a:r>
            <a:r>
              <a:rPr lang="en-US" dirty="0" err="1"/>
              <a:t>VendorID</a:t>
            </a:r>
            <a:r>
              <a:rPr lang="en-US" dirty="0"/>
              <a:t>. Now the email only needs to be updated in one place.</a:t>
            </a:r>
          </a:p>
          <a:p>
            <a:pPr marL="0" indent="0">
              <a:buNone/>
            </a:pPr>
            <a:endParaRPr lang="en-US" dirty="0"/>
          </a:p>
        </p:txBody>
      </p:sp>
      <p:sp>
        <p:nvSpPr>
          <p:cNvPr id="7" name="Rectangle 6"/>
          <p:cNvSpPr/>
          <p:nvPr/>
        </p:nvSpPr>
        <p:spPr>
          <a:xfrm>
            <a:off x="5331279" y="845909"/>
            <a:ext cx="6457950" cy="56446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5224692" y="476577"/>
            <a:ext cx="2099486" cy="369332"/>
          </a:xfrm>
          <a:prstGeom prst="rect">
            <a:avLst/>
          </a:prstGeom>
        </p:spPr>
        <p:txBody>
          <a:bodyPr wrap="none">
            <a:spAutoFit/>
          </a:bodyPr>
          <a:lstStyle/>
          <a:p>
            <a:r>
              <a:rPr lang="en-US" dirty="0"/>
              <a:t>Example Illustration:</a:t>
            </a:r>
          </a:p>
        </p:txBody>
      </p:sp>
      <p:graphicFrame>
        <p:nvGraphicFramePr>
          <p:cNvPr id="2" name="Table 1">
            <a:extLst>
              <a:ext uri="{FF2B5EF4-FFF2-40B4-BE49-F238E27FC236}">
                <a16:creationId xmlns:a16="http://schemas.microsoft.com/office/drawing/2014/main" id="{E31A9144-ECC2-B8A7-D0B1-275920941591}"/>
              </a:ext>
            </a:extLst>
          </p:cNvPr>
          <p:cNvGraphicFramePr>
            <a:graphicFrameLocks noGrp="1"/>
          </p:cNvGraphicFramePr>
          <p:nvPr>
            <p:extLst>
              <p:ext uri="{D42A27DB-BD31-4B8C-83A1-F6EECF244321}">
                <p14:modId xmlns:p14="http://schemas.microsoft.com/office/powerpoint/2010/main" val="883553230"/>
              </p:ext>
            </p:extLst>
          </p:nvPr>
        </p:nvGraphicFramePr>
        <p:xfrm>
          <a:off x="5597718" y="1515830"/>
          <a:ext cx="2678974" cy="1629651"/>
        </p:xfrm>
        <a:graphic>
          <a:graphicData uri="http://schemas.openxmlformats.org/drawingml/2006/table">
            <a:tbl>
              <a:tblPr firstRow="1" bandRow="1">
                <a:tableStyleId>{5C22544A-7EE6-4342-B048-85BDC9FD1C3A}</a:tableStyleId>
              </a:tblPr>
              <a:tblGrid>
                <a:gridCol w="1192121">
                  <a:extLst>
                    <a:ext uri="{9D8B030D-6E8A-4147-A177-3AD203B41FA5}">
                      <a16:colId xmlns:a16="http://schemas.microsoft.com/office/drawing/2014/main" val="12228238"/>
                    </a:ext>
                  </a:extLst>
                </a:gridCol>
                <a:gridCol w="1486853">
                  <a:extLst>
                    <a:ext uri="{9D8B030D-6E8A-4147-A177-3AD203B41FA5}">
                      <a16:colId xmlns:a16="http://schemas.microsoft.com/office/drawing/2014/main" val="31660248"/>
                    </a:ext>
                  </a:extLst>
                </a:gridCol>
              </a:tblGrid>
              <a:tr h="928611">
                <a:tc>
                  <a:txBody>
                    <a:bodyPr/>
                    <a:lstStyle/>
                    <a:p>
                      <a:pPr>
                        <a:buNone/>
                      </a:pPr>
                      <a:r>
                        <a:rPr lang="en-US" b="1" u="sng" dirty="0" err="1">
                          <a:effectLst/>
                        </a:rPr>
                        <a:t>VendorID</a:t>
                      </a:r>
                      <a:endParaRPr lang="en-US" u="sng" dirty="0">
                        <a:effectLst/>
                      </a:endParaRPr>
                    </a:p>
                  </a:txBody>
                  <a:tcPr marL="114300" marR="114300" marT="76200" marB="76200" anchor="ctr"/>
                </a:tc>
                <a:tc>
                  <a:txBody>
                    <a:bodyPr/>
                    <a:lstStyle/>
                    <a:p>
                      <a:pPr>
                        <a:buNone/>
                      </a:pPr>
                      <a:r>
                        <a:rPr lang="en-US" b="1" dirty="0" err="1">
                          <a:effectLst/>
                        </a:rPr>
                        <a:t>VendorEmail</a:t>
                      </a:r>
                      <a:endParaRPr lang="en-US" dirty="0">
                        <a:effectLst/>
                      </a:endParaRPr>
                    </a:p>
                  </a:txBody>
                  <a:tcPr marL="114300" marR="114300" marT="76200" marB="76200" anchor="ctr"/>
                </a:tc>
                <a:extLst>
                  <a:ext uri="{0D108BD9-81ED-4DB2-BD59-A6C34878D82A}">
                    <a16:rowId xmlns:a16="http://schemas.microsoft.com/office/drawing/2014/main" val="779936975"/>
                  </a:ext>
                </a:extLst>
              </a:tr>
              <a:tr h="662238">
                <a:tc>
                  <a:txBody>
                    <a:bodyPr/>
                    <a:lstStyle/>
                    <a:p>
                      <a:pPr>
                        <a:buNone/>
                      </a:pPr>
                      <a:r>
                        <a:rPr lang="en-US" dirty="0">
                          <a:effectLst/>
                        </a:rPr>
                        <a:t>V1</a:t>
                      </a:r>
                    </a:p>
                  </a:txBody>
                  <a:tcPr marL="114300" marR="114300" marT="76200" marB="76200" anchor="ctr"/>
                </a:tc>
                <a:tc>
                  <a:txBody>
                    <a:bodyPr/>
                    <a:lstStyle/>
                    <a:p>
                      <a:pPr>
                        <a:buNone/>
                      </a:pPr>
                      <a:r>
                        <a:rPr lang="en-US" dirty="0" err="1">
                          <a:effectLst/>
                        </a:rPr>
                        <a:t>new@gmail.com</a:t>
                      </a:r>
                      <a:endParaRPr lang="en-US" dirty="0">
                        <a:effectLst/>
                      </a:endParaRPr>
                    </a:p>
                  </a:txBody>
                  <a:tcPr marL="114300" marR="114300" marT="76200" marB="76200" anchor="ctr"/>
                </a:tc>
                <a:extLst>
                  <a:ext uri="{0D108BD9-81ED-4DB2-BD59-A6C34878D82A}">
                    <a16:rowId xmlns:a16="http://schemas.microsoft.com/office/drawing/2014/main" val="1301581000"/>
                  </a:ext>
                </a:extLst>
              </a:tr>
            </a:tbl>
          </a:graphicData>
        </a:graphic>
      </p:graphicFrame>
      <p:graphicFrame>
        <p:nvGraphicFramePr>
          <p:cNvPr id="3" name="Table 2">
            <a:extLst>
              <a:ext uri="{FF2B5EF4-FFF2-40B4-BE49-F238E27FC236}">
                <a16:creationId xmlns:a16="http://schemas.microsoft.com/office/drawing/2014/main" id="{73957B1E-F8AF-F00D-56E7-8836C5DE0C94}"/>
              </a:ext>
            </a:extLst>
          </p:cNvPr>
          <p:cNvGraphicFramePr>
            <a:graphicFrameLocks noGrp="1"/>
          </p:cNvGraphicFramePr>
          <p:nvPr>
            <p:extLst>
              <p:ext uri="{D42A27DB-BD31-4B8C-83A1-F6EECF244321}">
                <p14:modId xmlns:p14="http://schemas.microsoft.com/office/powerpoint/2010/main" val="2876387661"/>
              </p:ext>
            </p:extLst>
          </p:nvPr>
        </p:nvGraphicFramePr>
        <p:xfrm>
          <a:off x="5597718" y="4012015"/>
          <a:ext cx="3951798" cy="1499838"/>
        </p:xfrm>
        <a:graphic>
          <a:graphicData uri="http://schemas.openxmlformats.org/drawingml/2006/table">
            <a:tbl>
              <a:tblPr firstRow="1" bandRow="1">
                <a:tableStyleId>{5C22544A-7EE6-4342-B048-85BDC9FD1C3A}</a:tableStyleId>
              </a:tblPr>
              <a:tblGrid>
                <a:gridCol w="1192695">
                  <a:extLst>
                    <a:ext uri="{9D8B030D-6E8A-4147-A177-3AD203B41FA5}">
                      <a16:colId xmlns:a16="http://schemas.microsoft.com/office/drawing/2014/main" val="12228238"/>
                    </a:ext>
                  </a:extLst>
                </a:gridCol>
                <a:gridCol w="1598213">
                  <a:extLst>
                    <a:ext uri="{9D8B030D-6E8A-4147-A177-3AD203B41FA5}">
                      <a16:colId xmlns:a16="http://schemas.microsoft.com/office/drawing/2014/main" val="31660248"/>
                    </a:ext>
                  </a:extLst>
                </a:gridCol>
                <a:gridCol w="1160890">
                  <a:extLst>
                    <a:ext uri="{9D8B030D-6E8A-4147-A177-3AD203B41FA5}">
                      <a16:colId xmlns:a16="http://schemas.microsoft.com/office/drawing/2014/main" val="1231006591"/>
                    </a:ext>
                  </a:extLst>
                </a:gridCol>
              </a:tblGrid>
              <a:tr h="499946">
                <a:tc>
                  <a:txBody>
                    <a:bodyPr/>
                    <a:lstStyle/>
                    <a:p>
                      <a:pPr>
                        <a:buNone/>
                      </a:pPr>
                      <a:r>
                        <a:rPr lang="en-US" b="1" u="sng" dirty="0" err="1">
                          <a:effectLst/>
                        </a:rPr>
                        <a:t>ProductID</a:t>
                      </a:r>
                      <a:endParaRPr lang="en-US" u="sng" dirty="0">
                        <a:effectLst/>
                      </a:endParaRPr>
                    </a:p>
                  </a:txBody>
                  <a:tcPr marL="114300" marR="114300" marT="76200" marB="76200" anchor="ctr"/>
                </a:tc>
                <a:tc>
                  <a:txBody>
                    <a:bodyPr/>
                    <a:lstStyle/>
                    <a:p>
                      <a:pPr>
                        <a:buNone/>
                      </a:pPr>
                      <a:r>
                        <a:rPr lang="en-US" b="1" dirty="0">
                          <a:effectLst/>
                        </a:rPr>
                        <a:t>ProductName</a:t>
                      </a:r>
                      <a:endParaRPr lang="en-US" dirty="0">
                        <a:effectLst/>
                      </a:endParaRPr>
                    </a:p>
                  </a:txBody>
                  <a:tcPr marL="114300" marR="114300" marT="76200" marB="76200" anchor="ctr"/>
                </a:tc>
                <a:tc>
                  <a:txBody>
                    <a:bodyPr/>
                    <a:lstStyle/>
                    <a:p>
                      <a:pPr>
                        <a:buNone/>
                      </a:pPr>
                      <a:r>
                        <a:rPr lang="en-US" b="1" dirty="0" err="1">
                          <a:effectLst/>
                        </a:rPr>
                        <a:t>VendorID</a:t>
                      </a:r>
                      <a:endParaRPr lang="en-US" dirty="0">
                        <a:effectLst/>
                      </a:endParaRPr>
                    </a:p>
                  </a:txBody>
                  <a:tcPr marL="114300" marR="114300" marT="76200" marB="76200" anchor="ctr"/>
                </a:tc>
                <a:extLst>
                  <a:ext uri="{0D108BD9-81ED-4DB2-BD59-A6C34878D82A}">
                    <a16:rowId xmlns:a16="http://schemas.microsoft.com/office/drawing/2014/main" val="779936975"/>
                  </a:ext>
                </a:extLst>
              </a:tr>
              <a:tr h="499946">
                <a:tc>
                  <a:txBody>
                    <a:bodyPr/>
                    <a:lstStyle/>
                    <a:p>
                      <a:pPr>
                        <a:buNone/>
                      </a:pPr>
                      <a:r>
                        <a:rPr lang="en-US">
                          <a:effectLst/>
                        </a:rPr>
                        <a:t>P1</a:t>
                      </a:r>
                    </a:p>
                  </a:txBody>
                  <a:tcPr marL="114300" marR="114300" marT="76200" marB="76200" anchor="ctr"/>
                </a:tc>
                <a:tc>
                  <a:txBody>
                    <a:bodyPr/>
                    <a:lstStyle/>
                    <a:p>
                      <a:pPr>
                        <a:buNone/>
                      </a:pPr>
                      <a:r>
                        <a:rPr lang="en-US" dirty="0" err="1">
                          <a:effectLst/>
                        </a:rPr>
                        <a:t>ChatBot</a:t>
                      </a:r>
                      <a:endParaRPr lang="en-US" dirty="0">
                        <a:effectLst/>
                      </a:endParaRPr>
                    </a:p>
                  </a:txBody>
                  <a:tcPr marL="114300" marR="114300" marT="76200" marB="76200" anchor="ctr"/>
                </a:tc>
                <a:tc>
                  <a:txBody>
                    <a:bodyPr/>
                    <a:lstStyle/>
                    <a:p>
                      <a:pPr>
                        <a:buNone/>
                      </a:pPr>
                      <a:r>
                        <a:rPr lang="en-US" dirty="0">
                          <a:effectLst/>
                        </a:rPr>
                        <a:t>V1</a:t>
                      </a:r>
                    </a:p>
                  </a:txBody>
                  <a:tcPr marL="114300" marR="114300" marT="76200" marB="76200" anchor="ctr"/>
                </a:tc>
                <a:extLst>
                  <a:ext uri="{0D108BD9-81ED-4DB2-BD59-A6C34878D82A}">
                    <a16:rowId xmlns:a16="http://schemas.microsoft.com/office/drawing/2014/main" val="1301581000"/>
                  </a:ext>
                </a:extLst>
              </a:tr>
              <a:tr h="499946">
                <a:tc>
                  <a:txBody>
                    <a:bodyPr/>
                    <a:lstStyle/>
                    <a:p>
                      <a:pPr>
                        <a:buNone/>
                      </a:pPr>
                      <a:r>
                        <a:rPr lang="en-US">
                          <a:effectLst/>
                        </a:rPr>
                        <a:t>P2</a:t>
                      </a:r>
                    </a:p>
                  </a:txBody>
                  <a:tcPr marL="114300" marR="114300" marT="76200" marB="76200" anchor="ctr"/>
                </a:tc>
                <a:tc>
                  <a:txBody>
                    <a:bodyPr/>
                    <a:lstStyle/>
                    <a:p>
                      <a:pPr>
                        <a:buNone/>
                      </a:pPr>
                      <a:r>
                        <a:rPr lang="en-US" dirty="0" err="1">
                          <a:effectLst/>
                        </a:rPr>
                        <a:t>ImageBot</a:t>
                      </a:r>
                      <a:endParaRPr lang="en-US" dirty="0">
                        <a:effectLst/>
                      </a:endParaRPr>
                    </a:p>
                  </a:txBody>
                  <a:tcPr marL="114300" marR="114300" marT="76200" marB="76200" anchor="ctr"/>
                </a:tc>
                <a:tc>
                  <a:txBody>
                    <a:bodyPr/>
                    <a:lstStyle/>
                    <a:p>
                      <a:pPr>
                        <a:buNone/>
                      </a:pPr>
                      <a:r>
                        <a:rPr lang="en-US" dirty="0">
                          <a:effectLst/>
                        </a:rPr>
                        <a:t>V1</a:t>
                      </a:r>
                    </a:p>
                  </a:txBody>
                  <a:tcPr marL="114300" marR="114300" marT="76200" marB="76200" anchor="ctr"/>
                </a:tc>
                <a:extLst>
                  <a:ext uri="{0D108BD9-81ED-4DB2-BD59-A6C34878D82A}">
                    <a16:rowId xmlns:a16="http://schemas.microsoft.com/office/drawing/2014/main" val="2378749852"/>
                  </a:ext>
                </a:extLst>
              </a:tr>
            </a:tbl>
          </a:graphicData>
        </a:graphic>
      </p:graphicFrame>
      <p:sp>
        <p:nvSpPr>
          <p:cNvPr id="5" name="TextBox 4">
            <a:extLst>
              <a:ext uri="{FF2B5EF4-FFF2-40B4-BE49-F238E27FC236}">
                <a16:creationId xmlns:a16="http://schemas.microsoft.com/office/drawing/2014/main" id="{02C7CA52-D033-A723-E3EE-7A396565FD4B}"/>
              </a:ext>
            </a:extLst>
          </p:cNvPr>
          <p:cNvSpPr txBox="1"/>
          <p:nvPr/>
        </p:nvSpPr>
        <p:spPr>
          <a:xfrm>
            <a:off x="5597718" y="3630736"/>
            <a:ext cx="1151906" cy="369332"/>
          </a:xfrm>
          <a:prstGeom prst="rect">
            <a:avLst/>
          </a:prstGeom>
          <a:noFill/>
        </p:spPr>
        <p:txBody>
          <a:bodyPr wrap="square" rtlCol="0">
            <a:spAutoFit/>
          </a:bodyPr>
          <a:lstStyle/>
          <a:p>
            <a:r>
              <a:rPr lang="en-US" dirty="0"/>
              <a:t>Products</a:t>
            </a:r>
          </a:p>
        </p:txBody>
      </p:sp>
      <p:sp>
        <p:nvSpPr>
          <p:cNvPr id="10" name="TextBox 9">
            <a:extLst>
              <a:ext uri="{FF2B5EF4-FFF2-40B4-BE49-F238E27FC236}">
                <a16:creationId xmlns:a16="http://schemas.microsoft.com/office/drawing/2014/main" id="{B8D49E9C-7DCF-FCC0-D9BF-57B3D3ABBDE5}"/>
              </a:ext>
            </a:extLst>
          </p:cNvPr>
          <p:cNvSpPr txBox="1"/>
          <p:nvPr/>
        </p:nvSpPr>
        <p:spPr>
          <a:xfrm>
            <a:off x="5597718" y="1123567"/>
            <a:ext cx="1151906" cy="369332"/>
          </a:xfrm>
          <a:prstGeom prst="rect">
            <a:avLst/>
          </a:prstGeom>
          <a:noFill/>
        </p:spPr>
        <p:txBody>
          <a:bodyPr wrap="square" rtlCol="0">
            <a:spAutoFit/>
          </a:bodyPr>
          <a:lstStyle/>
          <a:p>
            <a:r>
              <a:rPr lang="en-US" dirty="0"/>
              <a:t>Vendors</a:t>
            </a:r>
          </a:p>
        </p:txBody>
      </p:sp>
    </p:spTree>
    <p:extLst>
      <p:ext uri="{BB962C8B-B14F-4D97-AF65-F5344CB8AC3E}">
        <p14:creationId xmlns:p14="http://schemas.microsoft.com/office/powerpoint/2010/main" val="27124221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5057" y="104838"/>
            <a:ext cx="3407230" cy="605455"/>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dirty="0"/>
              <a:t>Insertion Anomaly</a:t>
            </a:r>
          </a:p>
        </p:txBody>
      </p:sp>
      <p:sp>
        <p:nvSpPr>
          <p:cNvPr id="5" name="TextBox 4"/>
          <p:cNvSpPr txBox="1"/>
          <p:nvPr/>
        </p:nvSpPr>
        <p:spPr>
          <a:xfrm>
            <a:off x="682487" y="1367218"/>
            <a:ext cx="1151906" cy="369332"/>
          </a:xfrm>
          <a:prstGeom prst="rect">
            <a:avLst/>
          </a:prstGeom>
          <a:noFill/>
        </p:spPr>
        <p:txBody>
          <a:bodyPr wrap="square" rtlCol="0">
            <a:spAutoFit/>
          </a:bodyPr>
          <a:lstStyle/>
          <a:p>
            <a:r>
              <a:rPr lang="en-US" dirty="0"/>
              <a:t>Products</a:t>
            </a:r>
          </a:p>
        </p:txBody>
      </p:sp>
      <p:graphicFrame>
        <p:nvGraphicFramePr>
          <p:cNvPr id="7" name="Table 6"/>
          <p:cNvGraphicFramePr>
            <a:graphicFrameLocks noGrp="1"/>
          </p:cNvGraphicFramePr>
          <p:nvPr>
            <p:extLst>
              <p:ext uri="{D42A27DB-BD31-4B8C-83A1-F6EECF244321}">
                <p14:modId xmlns:p14="http://schemas.microsoft.com/office/powerpoint/2010/main" val="861141027"/>
              </p:ext>
            </p:extLst>
          </p:nvPr>
        </p:nvGraphicFramePr>
        <p:xfrm>
          <a:off x="664226" y="4340027"/>
          <a:ext cx="3279775" cy="1499838"/>
        </p:xfrm>
        <a:graphic>
          <a:graphicData uri="http://schemas.openxmlformats.org/drawingml/2006/table">
            <a:tbl>
              <a:tblPr firstRow="1" bandRow="1">
                <a:tableStyleId>{5C22544A-7EE6-4342-B048-85BDC9FD1C3A}</a:tableStyleId>
              </a:tblPr>
              <a:tblGrid>
                <a:gridCol w="1170940">
                  <a:extLst>
                    <a:ext uri="{9D8B030D-6E8A-4147-A177-3AD203B41FA5}">
                      <a16:colId xmlns:a16="http://schemas.microsoft.com/office/drawing/2014/main" val="12228238"/>
                    </a:ext>
                  </a:extLst>
                </a:gridCol>
                <a:gridCol w="2108835">
                  <a:extLst>
                    <a:ext uri="{9D8B030D-6E8A-4147-A177-3AD203B41FA5}">
                      <a16:colId xmlns:a16="http://schemas.microsoft.com/office/drawing/2014/main" val="1483981108"/>
                    </a:ext>
                  </a:extLst>
                </a:gridCol>
              </a:tblGrid>
              <a:tr h="499946">
                <a:tc>
                  <a:txBody>
                    <a:bodyPr/>
                    <a:lstStyle/>
                    <a:p>
                      <a:pPr>
                        <a:buNone/>
                      </a:pPr>
                      <a:r>
                        <a:rPr lang="en-US" b="1" u="sng" dirty="0" err="1">
                          <a:effectLst/>
                        </a:rPr>
                        <a:t>VendorID</a:t>
                      </a:r>
                      <a:endParaRPr lang="en-US" u="sng" dirty="0">
                        <a:effectLst/>
                      </a:endParaRPr>
                    </a:p>
                  </a:txBody>
                  <a:tcPr marL="114300" marR="114300" marT="76200" marB="76200" anchor="ctr"/>
                </a:tc>
                <a:tc>
                  <a:txBody>
                    <a:bodyPr/>
                    <a:lstStyle/>
                    <a:p>
                      <a:pPr>
                        <a:buNone/>
                      </a:pPr>
                      <a:r>
                        <a:rPr lang="en-US" b="1">
                          <a:effectLst/>
                        </a:rPr>
                        <a:t>VendorEmail</a:t>
                      </a:r>
                      <a:endParaRPr lang="en-US">
                        <a:effectLst/>
                      </a:endParaRPr>
                    </a:p>
                  </a:txBody>
                  <a:tcPr marL="114300" marR="114300" marT="76200" marB="76200" anchor="ctr"/>
                </a:tc>
                <a:extLst>
                  <a:ext uri="{0D108BD9-81ED-4DB2-BD59-A6C34878D82A}">
                    <a16:rowId xmlns:a16="http://schemas.microsoft.com/office/drawing/2014/main" val="779936975"/>
                  </a:ext>
                </a:extLst>
              </a:tr>
              <a:tr h="499946">
                <a:tc>
                  <a:txBody>
                    <a:bodyPr/>
                    <a:lstStyle/>
                    <a:p>
                      <a:pPr>
                        <a:buNone/>
                      </a:pPr>
                      <a:r>
                        <a:rPr lang="en-US">
                          <a:effectLst/>
                        </a:rPr>
                        <a:t>V1</a:t>
                      </a:r>
                    </a:p>
                  </a:txBody>
                  <a:tcPr marL="114300" marR="114300" marT="76200" marB="76200" anchor="ctr"/>
                </a:tc>
                <a:tc>
                  <a:txBody>
                    <a:bodyPr/>
                    <a:lstStyle/>
                    <a:p>
                      <a:pPr>
                        <a:buNone/>
                      </a:pPr>
                      <a:r>
                        <a:rPr lang="en-US">
                          <a:effectLst/>
                        </a:rPr>
                        <a:t>vendor@email.com</a:t>
                      </a:r>
                    </a:p>
                  </a:txBody>
                  <a:tcPr marL="114300" marR="114300" marT="76200" marB="76200" anchor="ctr"/>
                </a:tc>
                <a:extLst>
                  <a:ext uri="{0D108BD9-81ED-4DB2-BD59-A6C34878D82A}">
                    <a16:rowId xmlns:a16="http://schemas.microsoft.com/office/drawing/2014/main" val="1301581000"/>
                  </a:ext>
                </a:extLst>
              </a:tr>
              <a:tr h="499946">
                <a:tc>
                  <a:txBody>
                    <a:bodyPr/>
                    <a:lstStyle/>
                    <a:p>
                      <a:pPr>
                        <a:buNone/>
                      </a:pPr>
                      <a:r>
                        <a:rPr lang="en-US" dirty="0">
                          <a:effectLst/>
                        </a:rPr>
                        <a:t>V2</a:t>
                      </a:r>
                    </a:p>
                  </a:txBody>
                  <a:tcPr marL="114300" marR="114300" marT="76200" marB="76200" anchor="ctr"/>
                </a:tc>
                <a:tc>
                  <a:txBody>
                    <a:bodyPr/>
                    <a:lstStyle/>
                    <a:p>
                      <a:pPr>
                        <a:buNone/>
                      </a:pPr>
                      <a:r>
                        <a:rPr lang="en-US" dirty="0" err="1">
                          <a:effectLst/>
                        </a:rPr>
                        <a:t>seller@email.com</a:t>
                      </a:r>
                      <a:endParaRPr lang="en-US" dirty="0">
                        <a:effectLst/>
                      </a:endParaRPr>
                    </a:p>
                  </a:txBody>
                  <a:tcPr marL="114300" marR="114300" marT="76200" marB="76200" anchor="ctr"/>
                </a:tc>
                <a:extLst>
                  <a:ext uri="{0D108BD9-81ED-4DB2-BD59-A6C34878D82A}">
                    <a16:rowId xmlns:a16="http://schemas.microsoft.com/office/drawing/2014/main" val="549601472"/>
                  </a:ext>
                </a:extLst>
              </a:tr>
            </a:tbl>
          </a:graphicData>
        </a:graphic>
      </p:graphicFrame>
      <p:sp>
        <p:nvSpPr>
          <p:cNvPr id="8" name="TextBox 7"/>
          <p:cNvSpPr txBox="1"/>
          <p:nvPr/>
        </p:nvSpPr>
        <p:spPr>
          <a:xfrm>
            <a:off x="625447" y="3848043"/>
            <a:ext cx="1151906" cy="369332"/>
          </a:xfrm>
          <a:prstGeom prst="rect">
            <a:avLst/>
          </a:prstGeom>
          <a:noFill/>
        </p:spPr>
        <p:txBody>
          <a:bodyPr wrap="square" rtlCol="0">
            <a:spAutoFit/>
          </a:bodyPr>
          <a:lstStyle/>
          <a:p>
            <a:r>
              <a:rPr lang="en-US" dirty="0"/>
              <a:t>Vendors</a:t>
            </a:r>
          </a:p>
        </p:txBody>
      </p:sp>
      <p:graphicFrame>
        <p:nvGraphicFramePr>
          <p:cNvPr id="9" name="Table 8"/>
          <p:cNvGraphicFramePr>
            <a:graphicFrameLocks noGrp="1"/>
          </p:cNvGraphicFramePr>
          <p:nvPr>
            <p:extLst>
              <p:ext uri="{D42A27DB-BD31-4B8C-83A1-F6EECF244321}">
                <p14:modId xmlns:p14="http://schemas.microsoft.com/office/powerpoint/2010/main" val="1871177950"/>
              </p:ext>
            </p:extLst>
          </p:nvPr>
        </p:nvGraphicFramePr>
        <p:xfrm>
          <a:off x="682487" y="1775241"/>
          <a:ext cx="3984753" cy="1499838"/>
        </p:xfrm>
        <a:graphic>
          <a:graphicData uri="http://schemas.openxmlformats.org/drawingml/2006/table">
            <a:tbl>
              <a:tblPr firstRow="1" bandRow="1">
                <a:tableStyleId>{5C22544A-7EE6-4342-B048-85BDC9FD1C3A}</a:tableStyleId>
              </a:tblPr>
              <a:tblGrid>
                <a:gridCol w="1227519">
                  <a:extLst>
                    <a:ext uri="{9D8B030D-6E8A-4147-A177-3AD203B41FA5}">
                      <a16:colId xmlns:a16="http://schemas.microsoft.com/office/drawing/2014/main" val="12228238"/>
                    </a:ext>
                  </a:extLst>
                </a:gridCol>
                <a:gridCol w="1586294">
                  <a:extLst>
                    <a:ext uri="{9D8B030D-6E8A-4147-A177-3AD203B41FA5}">
                      <a16:colId xmlns:a16="http://schemas.microsoft.com/office/drawing/2014/main" val="31660248"/>
                    </a:ext>
                  </a:extLst>
                </a:gridCol>
                <a:gridCol w="1170940">
                  <a:extLst>
                    <a:ext uri="{9D8B030D-6E8A-4147-A177-3AD203B41FA5}">
                      <a16:colId xmlns:a16="http://schemas.microsoft.com/office/drawing/2014/main" val="1231006591"/>
                    </a:ext>
                  </a:extLst>
                </a:gridCol>
              </a:tblGrid>
              <a:tr h="499946">
                <a:tc>
                  <a:txBody>
                    <a:bodyPr/>
                    <a:lstStyle/>
                    <a:p>
                      <a:pPr>
                        <a:buNone/>
                      </a:pPr>
                      <a:r>
                        <a:rPr lang="en-US" b="1" u="sng" dirty="0" err="1">
                          <a:effectLst/>
                        </a:rPr>
                        <a:t>ProductID</a:t>
                      </a:r>
                      <a:endParaRPr lang="en-US" u="sng" dirty="0">
                        <a:effectLst/>
                      </a:endParaRPr>
                    </a:p>
                  </a:txBody>
                  <a:tcPr marL="114300" marR="114300" marT="76200" marB="76200" anchor="ctr"/>
                </a:tc>
                <a:tc>
                  <a:txBody>
                    <a:bodyPr/>
                    <a:lstStyle/>
                    <a:p>
                      <a:pPr>
                        <a:buNone/>
                      </a:pPr>
                      <a:r>
                        <a:rPr lang="en-US" b="1" dirty="0">
                          <a:effectLst/>
                        </a:rPr>
                        <a:t>ProductName</a:t>
                      </a:r>
                      <a:endParaRPr lang="en-US" dirty="0">
                        <a:effectLst/>
                      </a:endParaRPr>
                    </a:p>
                  </a:txBody>
                  <a:tcPr marL="114300" marR="114300" marT="76200" marB="76200" anchor="ctr"/>
                </a:tc>
                <a:tc>
                  <a:txBody>
                    <a:bodyPr/>
                    <a:lstStyle/>
                    <a:p>
                      <a:pPr>
                        <a:buNone/>
                      </a:pPr>
                      <a:r>
                        <a:rPr lang="en-US" b="1">
                          <a:effectLst/>
                        </a:rPr>
                        <a:t>VendorID</a:t>
                      </a:r>
                      <a:endParaRPr lang="en-US">
                        <a:effectLst/>
                      </a:endParaRPr>
                    </a:p>
                  </a:txBody>
                  <a:tcPr marL="114300" marR="114300" marT="76200" marB="76200" anchor="ctr"/>
                </a:tc>
                <a:extLst>
                  <a:ext uri="{0D108BD9-81ED-4DB2-BD59-A6C34878D82A}">
                    <a16:rowId xmlns:a16="http://schemas.microsoft.com/office/drawing/2014/main" val="779936975"/>
                  </a:ext>
                </a:extLst>
              </a:tr>
              <a:tr h="499946">
                <a:tc>
                  <a:txBody>
                    <a:bodyPr/>
                    <a:lstStyle/>
                    <a:p>
                      <a:pPr>
                        <a:buNone/>
                      </a:pPr>
                      <a:r>
                        <a:rPr lang="en-US">
                          <a:effectLst/>
                        </a:rPr>
                        <a:t>P1</a:t>
                      </a:r>
                    </a:p>
                  </a:txBody>
                  <a:tcPr marL="114300" marR="114300" marT="76200" marB="76200" anchor="ctr"/>
                </a:tc>
                <a:tc>
                  <a:txBody>
                    <a:bodyPr/>
                    <a:lstStyle/>
                    <a:p>
                      <a:pPr>
                        <a:buNone/>
                      </a:pPr>
                      <a:r>
                        <a:rPr lang="en-US" dirty="0" err="1">
                          <a:effectLst/>
                        </a:rPr>
                        <a:t>ChatBot</a:t>
                      </a:r>
                      <a:endParaRPr lang="en-US" dirty="0">
                        <a:effectLst/>
                      </a:endParaRPr>
                    </a:p>
                  </a:txBody>
                  <a:tcPr marL="114300" marR="114300" marT="76200" marB="76200" anchor="ctr"/>
                </a:tc>
                <a:tc>
                  <a:txBody>
                    <a:bodyPr/>
                    <a:lstStyle/>
                    <a:p>
                      <a:pPr>
                        <a:buNone/>
                      </a:pPr>
                      <a:r>
                        <a:rPr lang="en-US" dirty="0">
                          <a:effectLst/>
                        </a:rPr>
                        <a:t>V1</a:t>
                      </a:r>
                    </a:p>
                  </a:txBody>
                  <a:tcPr marL="114300" marR="114300" marT="76200" marB="76200" anchor="ctr"/>
                </a:tc>
                <a:extLst>
                  <a:ext uri="{0D108BD9-81ED-4DB2-BD59-A6C34878D82A}">
                    <a16:rowId xmlns:a16="http://schemas.microsoft.com/office/drawing/2014/main" val="1301581000"/>
                  </a:ext>
                </a:extLst>
              </a:tr>
              <a:tr h="499946">
                <a:tc>
                  <a:txBody>
                    <a:bodyPr/>
                    <a:lstStyle/>
                    <a:p>
                      <a:pPr>
                        <a:buNone/>
                      </a:pPr>
                      <a:r>
                        <a:rPr lang="en-US" dirty="0">
                          <a:effectLst/>
                        </a:rPr>
                        <a:t>P2</a:t>
                      </a:r>
                    </a:p>
                  </a:txBody>
                  <a:tcPr marL="114300" marR="114300" marT="76200" marB="76200" anchor="ctr"/>
                </a:tc>
                <a:tc>
                  <a:txBody>
                    <a:bodyPr/>
                    <a:lstStyle/>
                    <a:p>
                      <a:pPr>
                        <a:buNone/>
                      </a:pPr>
                      <a:r>
                        <a:rPr lang="en-US">
                          <a:effectLst/>
                        </a:rPr>
                        <a:t>ImageBot</a:t>
                      </a:r>
                    </a:p>
                  </a:txBody>
                  <a:tcPr marL="114300" marR="114300" marT="76200" marB="76200" anchor="ctr"/>
                </a:tc>
                <a:tc>
                  <a:txBody>
                    <a:bodyPr/>
                    <a:lstStyle/>
                    <a:p>
                      <a:pPr>
                        <a:buNone/>
                      </a:pPr>
                      <a:r>
                        <a:rPr lang="en-US" dirty="0">
                          <a:effectLst/>
                        </a:rPr>
                        <a:t>V2</a:t>
                      </a:r>
                    </a:p>
                  </a:txBody>
                  <a:tcPr marL="114300" marR="114300" marT="76200" marB="76200" anchor="ctr"/>
                </a:tc>
                <a:extLst>
                  <a:ext uri="{0D108BD9-81ED-4DB2-BD59-A6C34878D82A}">
                    <a16:rowId xmlns:a16="http://schemas.microsoft.com/office/drawing/2014/main" val="2378749852"/>
                  </a:ext>
                </a:extLst>
              </a:tr>
            </a:tbl>
          </a:graphicData>
        </a:graphic>
      </p:graphicFrame>
      <p:sp>
        <p:nvSpPr>
          <p:cNvPr id="12" name="Rectangle 11"/>
          <p:cNvSpPr/>
          <p:nvPr/>
        </p:nvSpPr>
        <p:spPr>
          <a:xfrm>
            <a:off x="6797358" y="2360254"/>
            <a:ext cx="1312966" cy="388338"/>
          </a:xfrm>
          <a:prstGeom prst="rect">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If the tuple </a:t>
            </a:r>
          </a:p>
        </p:txBody>
      </p:sp>
      <p:graphicFrame>
        <p:nvGraphicFramePr>
          <p:cNvPr id="15" name="Table 14"/>
          <p:cNvGraphicFramePr>
            <a:graphicFrameLocks noGrp="1"/>
          </p:cNvGraphicFramePr>
          <p:nvPr>
            <p:extLst>
              <p:ext uri="{D42A27DB-BD31-4B8C-83A1-F6EECF244321}">
                <p14:modId xmlns:p14="http://schemas.microsoft.com/office/powerpoint/2010/main" val="184433461"/>
              </p:ext>
            </p:extLst>
          </p:nvPr>
        </p:nvGraphicFramePr>
        <p:xfrm>
          <a:off x="6863389" y="2917274"/>
          <a:ext cx="4507294" cy="1174331"/>
        </p:xfrm>
        <a:graphic>
          <a:graphicData uri="http://schemas.openxmlformats.org/drawingml/2006/table">
            <a:tbl>
              <a:tblPr firstRow="1" bandRow="1">
                <a:tableStyleId>{5C22544A-7EE6-4342-B048-85BDC9FD1C3A}</a:tableStyleId>
              </a:tblPr>
              <a:tblGrid>
                <a:gridCol w="1227519">
                  <a:extLst>
                    <a:ext uri="{9D8B030D-6E8A-4147-A177-3AD203B41FA5}">
                      <a16:colId xmlns:a16="http://schemas.microsoft.com/office/drawing/2014/main" val="3576502306"/>
                    </a:ext>
                  </a:extLst>
                </a:gridCol>
                <a:gridCol w="2108835">
                  <a:extLst>
                    <a:ext uri="{9D8B030D-6E8A-4147-A177-3AD203B41FA5}">
                      <a16:colId xmlns:a16="http://schemas.microsoft.com/office/drawing/2014/main" val="1239435521"/>
                    </a:ext>
                  </a:extLst>
                </a:gridCol>
                <a:gridCol w="1170940">
                  <a:extLst>
                    <a:ext uri="{9D8B030D-6E8A-4147-A177-3AD203B41FA5}">
                      <a16:colId xmlns:a16="http://schemas.microsoft.com/office/drawing/2014/main" val="2360032838"/>
                    </a:ext>
                  </a:extLst>
                </a:gridCol>
              </a:tblGrid>
              <a:tr h="674385">
                <a:tc>
                  <a:txBody>
                    <a:bodyPr/>
                    <a:lstStyle/>
                    <a:p>
                      <a:pPr>
                        <a:buNone/>
                      </a:pPr>
                      <a:r>
                        <a:rPr lang="en-US" b="1" i="0" u="sng" dirty="0" err="1">
                          <a:effectLst/>
                        </a:rPr>
                        <a:t>ProductID</a:t>
                      </a:r>
                      <a:endParaRPr lang="en-US" i="0" u="sng" dirty="0">
                        <a:effectLst/>
                      </a:endParaRPr>
                    </a:p>
                  </a:txBody>
                  <a:tcPr marL="114300" marR="114300" marT="76200" marB="76200" anchor="ctr"/>
                </a:tc>
                <a:tc>
                  <a:txBody>
                    <a:bodyPr/>
                    <a:lstStyle/>
                    <a:p>
                      <a:pPr>
                        <a:buNone/>
                      </a:pPr>
                      <a:r>
                        <a:rPr lang="en-US" b="1">
                          <a:effectLst/>
                        </a:rPr>
                        <a:t>ProductName</a:t>
                      </a:r>
                      <a:endParaRPr lang="en-US">
                        <a:effectLst/>
                      </a:endParaRPr>
                    </a:p>
                  </a:txBody>
                  <a:tcPr marL="114300" marR="114300" marT="76200" marB="76200" anchor="ctr"/>
                </a:tc>
                <a:tc>
                  <a:txBody>
                    <a:bodyPr/>
                    <a:lstStyle/>
                    <a:p>
                      <a:pPr>
                        <a:buNone/>
                      </a:pPr>
                      <a:r>
                        <a:rPr lang="en-US" b="1">
                          <a:effectLst/>
                        </a:rPr>
                        <a:t>VendorID</a:t>
                      </a:r>
                      <a:endParaRPr lang="en-US">
                        <a:effectLst/>
                      </a:endParaRPr>
                    </a:p>
                  </a:txBody>
                  <a:tcPr marL="114300" marR="114300" marT="76200" marB="76200" anchor="ctr"/>
                </a:tc>
                <a:extLst>
                  <a:ext uri="{0D108BD9-81ED-4DB2-BD59-A6C34878D82A}">
                    <a16:rowId xmlns:a16="http://schemas.microsoft.com/office/drawing/2014/main" val="231337250"/>
                  </a:ext>
                </a:extLst>
              </a:tr>
              <a:tr h="499946">
                <a:tc>
                  <a:txBody>
                    <a:bodyPr/>
                    <a:lstStyle/>
                    <a:p>
                      <a:pPr>
                        <a:buNone/>
                      </a:pPr>
                      <a:r>
                        <a:rPr lang="en-US" dirty="0">
                          <a:effectLst/>
                        </a:rPr>
                        <a:t>P3</a:t>
                      </a:r>
                    </a:p>
                  </a:txBody>
                  <a:tcPr marL="114300" marR="114300" marT="76200" marB="76200" anchor="ctr"/>
                </a:tc>
                <a:tc>
                  <a:txBody>
                    <a:bodyPr/>
                    <a:lstStyle/>
                    <a:p>
                      <a:pPr>
                        <a:buNone/>
                      </a:pPr>
                      <a:r>
                        <a:rPr lang="en-US" dirty="0" err="1">
                          <a:effectLst/>
                        </a:rPr>
                        <a:t>StudyBot</a:t>
                      </a:r>
                      <a:endParaRPr lang="en-US" dirty="0">
                        <a:effectLst/>
                      </a:endParaRPr>
                    </a:p>
                  </a:txBody>
                  <a:tcPr marL="114300" marR="114300" marT="76200" marB="76200" anchor="ctr"/>
                </a:tc>
                <a:tc>
                  <a:txBody>
                    <a:bodyPr/>
                    <a:lstStyle/>
                    <a:p>
                      <a:pPr>
                        <a:buNone/>
                      </a:pPr>
                      <a:r>
                        <a:rPr lang="en-US" dirty="0">
                          <a:effectLst/>
                        </a:rPr>
                        <a:t>V3</a:t>
                      </a:r>
                    </a:p>
                  </a:txBody>
                  <a:tcPr marL="114300" marR="114300" marT="76200" marB="76200" anchor="ctr"/>
                </a:tc>
                <a:extLst>
                  <a:ext uri="{0D108BD9-81ED-4DB2-BD59-A6C34878D82A}">
                    <a16:rowId xmlns:a16="http://schemas.microsoft.com/office/drawing/2014/main" val="4111488097"/>
                  </a:ext>
                </a:extLst>
              </a:tr>
            </a:tbl>
          </a:graphicData>
        </a:graphic>
      </p:graphicFrame>
      <p:sp>
        <p:nvSpPr>
          <p:cNvPr id="13" name="Rectangle 12"/>
          <p:cNvSpPr/>
          <p:nvPr/>
        </p:nvSpPr>
        <p:spPr>
          <a:xfrm>
            <a:off x="6780562" y="4774072"/>
            <a:ext cx="4533542" cy="1174331"/>
          </a:xfrm>
          <a:prstGeom prst="rect">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then the insertions fails. We must insert V3 in the vendors table first. The product depends on a matching vendor record.</a:t>
            </a:r>
          </a:p>
        </p:txBody>
      </p:sp>
      <p:sp>
        <p:nvSpPr>
          <p:cNvPr id="17" name="Rectangle 16">
            <a:extLst>
              <a:ext uri="{FF2B5EF4-FFF2-40B4-BE49-F238E27FC236}">
                <a16:creationId xmlns:a16="http://schemas.microsoft.com/office/drawing/2014/main" id="{F3CD1370-F183-4D97-87AB-BFED9E9CC99B}"/>
              </a:ext>
            </a:extLst>
          </p:cNvPr>
          <p:cNvSpPr/>
          <p:nvPr/>
        </p:nvSpPr>
        <p:spPr>
          <a:xfrm>
            <a:off x="6797358" y="4238670"/>
            <a:ext cx="3626802" cy="388338"/>
          </a:xfrm>
          <a:prstGeom prst="rect">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Inserted into Products table,</a:t>
            </a:r>
          </a:p>
        </p:txBody>
      </p:sp>
    </p:spTree>
    <p:extLst>
      <p:ext uri="{BB962C8B-B14F-4D97-AF65-F5344CB8AC3E}">
        <p14:creationId xmlns:p14="http://schemas.microsoft.com/office/powerpoint/2010/main" val="28709380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85056" y="104838"/>
            <a:ext cx="4770665" cy="499319"/>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buNone/>
            </a:pPr>
            <a:r>
              <a:rPr lang="en-US" dirty="0"/>
              <a:t>Remedy for the Insertion Anomaly</a:t>
            </a:r>
          </a:p>
        </p:txBody>
      </p:sp>
      <p:sp>
        <p:nvSpPr>
          <p:cNvPr id="6" name="Content Placeholder 5"/>
          <p:cNvSpPr>
            <a:spLocks noGrp="1"/>
          </p:cNvSpPr>
          <p:nvPr>
            <p:ph idx="1"/>
          </p:nvPr>
        </p:nvSpPr>
        <p:spPr>
          <a:xfrm>
            <a:off x="185056" y="845909"/>
            <a:ext cx="4770665" cy="5644697"/>
          </a:xfrm>
        </p:spPr>
        <p:style>
          <a:lnRef idx="2">
            <a:schemeClr val="accent2"/>
          </a:lnRef>
          <a:fillRef idx="1">
            <a:schemeClr val="lt1"/>
          </a:fillRef>
          <a:effectRef idx="0">
            <a:schemeClr val="accent2"/>
          </a:effectRef>
          <a:fontRef idx="minor">
            <a:schemeClr val="dk1"/>
          </a:fontRef>
        </p:style>
        <p:txBody>
          <a:bodyPr/>
          <a:lstStyle/>
          <a:p>
            <a:r>
              <a:rPr lang="en-US" dirty="0"/>
              <a:t>Explanation:</a:t>
            </a:r>
          </a:p>
          <a:p>
            <a:pPr marL="0" indent="0">
              <a:buNone/>
            </a:pPr>
            <a:endParaRPr lang="en-US" dirty="0"/>
          </a:p>
          <a:p>
            <a:pPr marL="0" indent="0">
              <a:buNone/>
            </a:pPr>
            <a:r>
              <a:rPr lang="en-US" dirty="0"/>
              <a:t>Insert the new vendor first, then insert the product that references that vendor. This keeps the relationship valid and prevents orphan product records.</a:t>
            </a:r>
          </a:p>
          <a:p>
            <a:pPr marL="0" indent="0">
              <a:buNone/>
            </a:pPr>
            <a:endParaRPr lang="en-US" dirty="0"/>
          </a:p>
        </p:txBody>
      </p:sp>
      <p:sp>
        <p:nvSpPr>
          <p:cNvPr id="7" name="Rectangle 6"/>
          <p:cNvSpPr/>
          <p:nvPr/>
        </p:nvSpPr>
        <p:spPr>
          <a:xfrm>
            <a:off x="5331279" y="845909"/>
            <a:ext cx="6457950" cy="56446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5224692" y="476577"/>
            <a:ext cx="2099486" cy="369332"/>
          </a:xfrm>
          <a:prstGeom prst="rect">
            <a:avLst/>
          </a:prstGeom>
        </p:spPr>
        <p:txBody>
          <a:bodyPr wrap="none">
            <a:spAutoFit/>
          </a:bodyPr>
          <a:lstStyle/>
          <a:p>
            <a:r>
              <a:rPr lang="en-US" dirty="0"/>
              <a:t>Example Illustration:</a:t>
            </a:r>
          </a:p>
        </p:txBody>
      </p:sp>
      <p:graphicFrame>
        <p:nvGraphicFramePr>
          <p:cNvPr id="2" name="Table 1">
            <a:extLst>
              <a:ext uri="{FF2B5EF4-FFF2-40B4-BE49-F238E27FC236}">
                <a16:creationId xmlns:a16="http://schemas.microsoft.com/office/drawing/2014/main" id="{F33C12C7-DE22-DB42-3517-C3D8D3E5FAB3}"/>
              </a:ext>
            </a:extLst>
          </p:cNvPr>
          <p:cNvGraphicFramePr>
            <a:graphicFrameLocks noGrp="1"/>
          </p:cNvGraphicFramePr>
          <p:nvPr>
            <p:extLst>
              <p:ext uri="{D42A27DB-BD31-4B8C-83A1-F6EECF244321}">
                <p14:modId xmlns:p14="http://schemas.microsoft.com/office/powerpoint/2010/main" val="3905278253"/>
              </p:ext>
            </p:extLst>
          </p:nvPr>
        </p:nvGraphicFramePr>
        <p:xfrm>
          <a:off x="5597718" y="1373520"/>
          <a:ext cx="2678974" cy="2055480"/>
        </p:xfrm>
        <a:graphic>
          <a:graphicData uri="http://schemas.openxmlformats.org/drawingml/2006/table">
            <a:tbl>
              <a:tblPr firstRow="1" bandRow="1">
                <a:tableStyleId>{5C22544A-7EE6-4342-B048-85BDC9FD1C3A}</a:tableStyleId>
              </a:tblPr>
              <a:tblGrid>
                <a:gridCol w="1192121">
                  <a:extLst>
                    <a:ext uri="{9D8B030D-6E8A-4147-A177-3AD203B41FA5}">
                      <a16:colId xmlns:a16="http://schemas.microsoft.com/office/drawing/2014/main" val="12228238"/>
                    </a:ext>
                  </a:extLst>
                </a:gridCol>
                <a:gridCol w="1486853">
                  <a:extLst>
                    <a:ext uri="{9D8B030D-6E8A-4147-A177-3AD203B41FA5}">
                      <a16:colId xmlns:a16="http://schemas.microsoft.com/office/drawing/2014/main" val="31660248"/>
                    </a:ext>
                  </a:extLst>
                </a:gridCol>
              </a:tblGrid>
              <a:tr h="653400">
                <a:tc>
                  <a:txBody>
                    <a:bodyPr/>
                    <a:lstStyle/>
                    <a:p>
                      <a:pPr>
                        <a:buNone/>
                      </a:pPr>
                      <a:r>
                        <a:rPr lang="en-US" b="1" i="0" u="sng" dirty="0" err="1">
                          <a:effectLst/>
                        </a:rPr>
                        <a:t>VendorID</a:t>
                      </a:r>
                      <a:endParaRPr lang="en-US" i="0" u="sng" dirty="0">
                        <a:effectLst/>
                      </a:endParaRPr>
                    </a:p>
                  </a:txBody>
                  <a:tcPr marL="114300" marR="114300" marT="76200" marB="76200" anchor="ctr"/>
                </a:tc>
                <a:tc>
                  <a:txBody>
                    <a:bodyPr/>
                    <a:lstStyle/>
                    <a:p>
                      <a:pPr>
                        <a:buNone/>
                      </a:pPr>
                      <a:r>
                        <a:rPr lang="en-US" b="1" dirty="0" err="1">
                          <a:effectLst/>
                        </a:rPr>
                        <a:t>VendorEmail</a:t>
                      </a:r>
                      <a:endParaRPr lang="en-US" dirty="0">
                        <a:effectLst/>
                      </a:endParaRPr>
                    </a:p>
                  </a:txBody>
                  <a:tcPr marL="114300" marR="114300" marT="76200" marB="76200" anchor="ctr"/>
                </a:tc>
                <a:extLst>
                  <a:ext uri="{0D108BD9-81ED-4DB2-BD59-A6C34878D82A}">
                    <a16:rowId xmlns:a16="http://schemas.microsoft.com/office/drawing/2014/main" val="779936975"/>
                  </a:ext>
                </a:extLst>
              </a:tr>
              <a:tr h="579052">
                <a:tc>
                  <a:txBody>
                    <a:bodyPr/>
                    <a:lstStyle/>
                    <a:p>
                      <a:pPr>
                        <a:buNone/>
                      </a:pPr>
                      <a:r>
                        <a:rPr lang="en-US" dirty="0">
                          <a:effectLst/>
                        </a:rPr>
                        <a:t>V1</a:t>
                      </a:r>
                    </a:p>
                  </a:txBody>
                  <a:tcPr marL="114300" marR="114300" marT="76200" marB="76200" anchor="ctr"/>
                </a:tc>
                <a:tc>
                  <a:txBody>
                    <a:bodyPr/>
                    <a:lstStyle/>
                    <a:p>
                      <a:pPr>
                        <a:buNone/>
                      </a:pPr>
                      <a:r>
                        <a:rPr lang="en-US" dirty="0" err="1">
                          <a:effectLst/>
                        </a:rPr>
                        <a:t>new@gmail.com</a:t>
                      </a:r>
                      <a:endParaRPr lang="en-US" dirty="0">
                        <a:effectLst/>
                      </a:endParaRPr>
                    </a:p>
                  </a:txBody>
                  <a:tcPr marL="114300" marR="114300" marT="76200" marB="76200" anchor="ctr"/>
                </a:tc>
                <a:extLst>
                  <a:ext uri="{0D108BD9-81ED-4DB2-BD59-A6C34878D82A}">
                    <a16:rowId xmlns:a16="http://schemas.microsoft.com/office/drawing/2014/main" val="1301581000"/>
                  </a:ext>
                </a:extLst>
              </a:tr>
              <a:tr h="579052">
                <a:tc>
                  <a:txBody>
                    <a:bodyPr/>
                    <a:lstStyle/>
                    <a:p>
                      <a:pPr>
                        <a:buNone/>
                      </a:pPr>
                      <a:r>
                        <a:rPr lang="en-US" dirty="0">
                          <a:effectLst/>
                        </a:rPr>
                        <a:t>V3</a:t>
                      </a:r>
                    </a:p>
                  </a:txBody>
                  <a:tcPr marL="114300" marR="114300" marT="76200" marB="76200" anchor="ctr"/>
                </a:tc>
                <a:tc>
                  <a:txBody>
                    <a:bodyPr/>
                    <a:lstStyle/>
                    <a:p>
                      <a:pPr>
                        <a:buNone/>
                      </a:pPr>
                      <a:r>
                        <a:rPr lang="en-US" dirty="0" err="1">
                          <a:effectLst/>
                        </a:rPr>
                        <a:t>newVendor@gmail.com</a:t>
                      </a:r>
                      <a:endParaRPr lang="en-US" dirty="0">
                        <a:effectLst/>
                      </a:endParaRPr>
                    </a:p>
                  </a:txBody>
                  <a:tcPr marL="114300" marR="114300" marT="76200" marB="76200" anchor="ctr"/>
                </a:tc>
                <a:extLst>
                  <a:ext uri="{0D108BD9-81ED-4DB2-BD59-A6C34878D82A}">
                    <a16:rowId xmlns:a16="http://schemas.microsoft.com/office/drawing/2014/main" val="1500748108"/>
                  </a:ext>
                </a:extLst>
              </a:tr>
            </a:tbl>
          </a:graphicData>
        </a:graphic>
      </p:graphicFrame>
      <p:sp>
        <p:nvSpPr>
          <p:cNvPr id="3" name="TextBox 2">
            <a:extLst>
              <a:ext uri="{FF2B5EF4-FFF2-40B4-BE49-F238E27FC236}">
                <a16:creationId xmlns:a16="http://schemas.microsoft.com/office/drawing/2014/main" id="{C6440DAE-345F-6B27-E674-81E9B0CAC761}"/>
              </a:ext>
            </a:extLst>
          </p:cNvPr>
          <p:cNvSpPr txBox="1"/>
          <p:nvPr/>
        </p:nvSpPr>
        <p:spPr>
          <a:xfrm>
            <a:off x="5597718" y="1004188"/>
            <a:ext cx="1151906" cy="369332"/>
          </a:xfrm>
          <a:prstGeom prst="rect">
            <a:avLst/>
          </a:prstGeom>
          <a:noFill/>
        </p:spPr>
        <p:txBody>
          <a:bodyPr wrap="square" rtlCol="0">
            <a:spAutoFit/>
          </a:bodyPr>
          <a:lstStyle/>
          <a:p>
            <a:r>
              <a:rPr lang="en-US" dirty="0"/>
              <a:t>Vendors</a:t>
            </a:r>
          </a:p>
        </p:txBody>
      </p:sp>
      <p:sp>
        <p:nvSpPr>
          <p:cNvPr id="5" name="TextBox 4">
            <a:extLst>
              <a:ext uri="{FF2B5EF4-FFF2-40B4-BE49-F238E27FC236}">
                <a16:creationId xmlns:a16="http://schemas.microsoft.com/office/drawing/2014/main" id="{FB364080-9D0D-7342-CBCF-5F55AA2A360A}"/>
              </a:ext>
            </a:extLst>
          </p:cNvPr>
          <p:cNvSpPr txBox="1"/>
          <p:nvPr/>
        </p:nvSpPr>
        <p:spPr>
          <a:xfrm>
            <a:off x="8543131" y="2960318"/>
            <a:ext cx="2748596" cy="369332"/>
          </a:xfrm>
          <a:prstGeom prst="rect">
            <a:avLst/>
          </a:prstGeom>
          <a:noFill/>
        </p:spPr>
        <p:txBody>
          <a:bodyPr wrap="square" rtlCol="0">
            <a:spAutoFit/>
          </a:bodyPr>
          <a:lstStyle/>
          <a:p>
            <a:r>
              <a:rPr lang="en-US" dirty="0"/>
              <a:t>Step 1: insert new vendor</a:t>
            </a:r>
          </a:p>
        </p:txBody>
      </p:sp>
      <p:graphicFrame>
        <p:nvGraphicFramePr>
          <p:cNvPr id="10" name="Table 9">
            <a:extLst>
              <a:ext uri="{FF2B5EF4-FFF2-40B4-BE49-F238E27FC236}">
                <a16:creationId xmlns:a16="http://schemas.microsoft.com/office/drawing/2014/main" id="{B3A7EB97-060D-2058-4E8F-80C11E7BFE7C}"/>
              </a:ext>
            </a:extLst>
          </p:cNvPr>
          <p:cNvGraphicFramePr>
            <a:graphicFrameLocks noGrp="1"/>
          </p:cNvGraphicFramePr>
          <p:nvPr>
            <p:extLst>
              <p:ext uri="{D42A27DB-BD31-4B8C-83A1-F6EECF244321}">
                <p14:modId xmlns:p14="http://schemas.microsoft.com/office/powerpoint/2010/main" val="81174074"/>
              </p:ext>
            </p:extLst>
          </p:nvPr>
        </p:nvGraphicFramePr>
        <p:xfrm>
          <a:off x="5597718" y="4353974"/>
          <a:ext cx="3984753" cy="1999784"/>
        </p:xfrm>
        <a:graphic>
          <a:graphicData uri="http://schemas.openxmlformats.org/drawingml/2006/table">
            <a:tbl>
              <a:tblPr firstRow="1" bandRow="1">
                <a:tableStyleId>{5C22544A-7EE6-4342-B048-85BDC9FD1C3A}</a:tableStyleId>
              </a:tblPr>
              <a:tblGrid>
                <a:gridCol w="1227519">
                  <a:extLst>
                    <a:ext uri="{9D8B030D-6E8A-4147-A177-3AD203B41FA5}">
                      <a16:colId xmlns:a16="http://schemas.microsoft.com/office/drawing/2014/main" val="12228238"/>
                    </a:ext>
                  </a:extLst>
                </a:gridCol>
                <a:gridCol w="1586294">
                  <a:extLst>
                    <a:ext uri="{9D8B030D-6E8A-4147-A177-3AD203B41FA5}">
                      <a16:colId xmlns:a16="http://schemas.microsoft.com/office/drawing/2014/main" val="31660248"/>
                    </a:ext>
                  </a:extLst>
                </a:gridCol>
                <a:gridCol w="1170940">
                  <a:extLst>
                    <a:ext uri="{9D8B030D-6E8A-4147-A177-3AD203B41FA5}">
                      <a16:colId xmlns:a16="http://schemas.microsoft.com/office/drawing/2014/main" val="1231006591"/>
                    </a:ext>
                  </a:extLst>
                </a:gridCol>
              </a:tblGrid>
              <a:tr h="499946">
                <a:tc>
                  <a:txBody>
                    <a:bodyPr/>
                    <a:lstStyle/>
                    <a:p>
                      <a:pPr>
                        <a:buNone/>
                      </a:pPr>
                      <a:r>
                        <a:rPr lang="en-US" b="1" i="0" u="sng" dirty="0" err="1">
                          <a:effectLst/>
                        </a:rPr>
                        <a:t>ProductID</a:t>
                      </a:r>
                      <a:endParaRPr lang="en-US" i="0" u="sng" dirty="0">
                        <a:effectLst/>
                      </a:endParaRPr>
                    </a:p>
                  </a:txBody>
                  <a:tcPr marL="114300" marR="114300" marT="76200" marB="76200" anchor="ctr"/>
                </a:tc>
                <a:tc>
                  <a:txBody>
                    <a:bodyPr/>
                    <a:lstStyle/>
                    <a:p>
                      <a:pPr>
                        <a:buNone/>
                      </a:pPr>
                      <a:r>
                        <a:rPr lang="en-US" b="1" dirty="0">
                          <a:effectLst/>
                        </a:rPr>
                        <a:t>ProductName</a:t>
                      </a:r>
                      <a:endParaRPr lang="en-US" dirty="0">
                        <a:effectLst/>
                      </a:endParaRPr>
                    </a:p>
                  </a:txBody>
                  <a:tcPr marL="114300" marR="114300" marT="76200" marB="76200" anchor="ctr"/>
                </a:tc>
                <a:tc>
                  <a:txBody>
                    <a:bodyPr/>
                    <a:lstStyle/>
                    <a:p>
                      <a:pPr>
                        <a:buNone/>
                      </a:pPr>
                      <a:r>
                        <a:rPr lang="en-US" b="1">
                          <a:effectLst/>
                        </a:rPr>
                        <a:t>VendorID</a:t>
                      </a:r>
                      <a:endParaRPr lang="en-US">
                        <a:effectLst/>
                      </a:endParaRPr>
                    </a:p>
                  </a:txBody>
                  <a:tcPr marL="114300" marR="114300" marT="76200" marB="76200" anchor="ctr"/>
                </a:tc>
                <a:extLst>
                  <a:ext uri="{0D108BD9-81ED-4DB2-BD59-A6C34878D82A}">
                    <a16:rowId xmlns:a16="http://schemas.microsoft.com/office/drawing/2014/main" val="779936975"/>
                  </a:ext>
                </a:extLst>
              </a:tr>
              <a:tr h="499946">
                <a:tc>
                  <a:txBody>
                    <a:bodyPr/>
                    <a:lstStyle/>
                    <a:p>
                      <a:pPr>
                        <a:buNone/>
                      </a:pPr>
                      <a:r>
                        <a:rPr lang="en-US">
                          <a:effectLst/>
                        </a:rPr>
                        <a:t>P1</a:t>
                      </a:r>
                    </a:p>
                  </a:txBody>
                  <a:tcPr marL="114300" marR="114300" marT="76200" marB="76200" anchor="ctr"/>
                </a:tc>
                <a:tc>
                  <a:txBody>
                    <a:bodyPr/>
                    <a:lstStyle/>
                    <a:p>
                      <a:pPr>
                        <a:buNone/>
                      </a:pPr>
                      <a:r>
                        <a:rPr lang="en-US" dirty="0" err="1">
                          <a:effectLst/>
                        </a:rPr>
                        <a:t>ChatBot</a:t>
                      </a:r>
                      <a:endParaRPr lang="en-US" dirty="0">
                        <a:effectLst/>
                      </a:endParaRPr>
                    </a:p>
                  </a:txBody>
                  <a:tcPr marL="114300" marR="114300" marT="76200" marB="76200" anchor="ctr"/>
                </a:tc>
                <a:tc>
                  <a:txBody>
                    <a:bodyPr/>
                    <a:lstStyle/>
                    <a:p>
                      <a:pPr>
                        <a:buNone/>
                      </a:pPr>
                      <a:r>
                        <a:rPr lang="en-US" dirty="0">
                          <a:effectLst/>
                        </a:rPr>
                        <a:t>V1</a:t>
                      </a:r>
                    </a:p>
                  </a:txBody>
                  <a:tcPr marL="114300" marR="114300" marT="76200" marB="76200" anchor="ctr"/>
                </a:tc>
                <a:extLst>
                  <a:ext uri="{0D108BD9-81ED-4DB2-BD59-A6C34878D82A}">
                    <a16:rowId xmlns:a16="http://schemas.microsoft.com/office/drawing/2014/main" val="1301581000"/>
                  </a:ext>
                </a:extLst>
              </a:tr>
              <a:tr h="499946">
                <a:tc>
                  <a:txBody>
                    <a:bodyPr/>
                    <a:lstStyle/>
                    <a:p>
                      <a:pPr>
                        <a:buNone/>
                      </a:pPr>
                      <a:r>
                        <a:rPr lang="en-US" dirty="0">
                          <a:effectLst/>
                        </a:rPr>
                        <a:t>P2</a:t>
                      </a:r>
                    </a:p>
                  </a:txBody>
                  <a:tcPr marL="114300" marR="114300" marT="76200" marB="76200" anchor="ctr"/>
                </a:tc>
                <a:tc>
                  <a:txBody>
                    <a:bodyPr/>
                    <a:lstStyle/>
                    <a:p>
                      <a:pPr>
                        <a:buNone/>
                      </a:pPr>
                      <a:r>
                        <a:rPr lang="en-US" dirty="0" err="1">
                          <a:effectLst/>
                        </a:rPr>
                        <a:t>ImageBot</a:t>
                      </a:r>
                      <a:endParaRPr lang="en-US" dirty="0">
                        <a:effectLst/>
                      </a:endParaRPr>
                    </a:p>
                  </a:txBody>
                  <a:tcPr marL="114300" marR="114300" marT="76200" marB="76200" anchor="ctr"/>
                </a:tc>
                <a:tc>
                  <a:txBody>
                    <a:bodyPr/>
                    <a:lstStyle/>
                    <a:p>
                      <a:pPr>
                        <a:buNone/>
                      </a:pPr>
                      <a:r>
                        <a:rPr lang="en-US" dirty="0">
                          <a:effectLst/>
                        </a:rPr>
                        <a:t>V2</a:t>
                      </a:r>
                    </a:p>
                  </a:txBody>
                  <a:tcPr marL="114300" marR="114300" marT="76200" marB="76200" anchor="ctr"/>
                </a:tc>
                <a:extLst>
                  <a:ext uri="{0D108BD9-81ED-4DB2-BD59-A6C34878D82A}">
                    <a16:rowId xmlns:a16="http://schemas.microsoft.com/office/drawing/2014/main" val="2378749852"/>
                  </a:ext>
                </a:extLst>
              </a:tr>
              <a:tr h="499946">
                <a:tc>
                  <a:txBody>
                    <a:bodyPr/>
                    <a:lstStyle/>
                    <a:p>
                      <a:pPr>
                        <a:buNone/>
                      </a:pPr>
                      <a:r>
                        <a:rPr lang="en-US" dirty="0">
                          <a:effectLst/>
                        </a:rPr>
                        <a:t>P3</a:t>
                      </a:r>
                    </a:p>
                  </a:txBody>
                  <a:tcPr marL="114300" marR="114300" marT="76200" marB="76200" anchor="ctr"/>
                </a:tc>
                <a:tc>
                  <a:txBody>
                    <a:bodyPr/>
                    <a:lstStyle/>
                    <a:p>
                      <a:pPr>
                        <a:buNone/>
                      </a:pPr>
                      <a:r>
                        <a:rPr lang="en-US" dirty="0" err="1">
                          <a:effectLst/>
                        </a:rPr>
                        <a:t>StudyBot</a:t>
                      </a:r>
                      <a:endParaRPr lang="en-US" dirty="0">
                        <a:effectLst/>
                      </a:endParaRPr>
                    </a:p>
                  </a:txBody>
                  <a:tcPr marL="114300" marR="114300" marT="76200" marB="76200" anchor="ctr"/>
                </a:tc>
                <a:tc>
                  <a:txBody>
                    <a:bodyPr/>
                    <a:lstStyle/>
                    <a:p>
                      <a:pPr>
                        <a:buNone/>
                      </a:pPr>
                      <a:r>
                        <a:rPr lang="en-US" dirty="0">
                          <a:effectLst/>
                        </a:rPr>
                        <a:t>V3</a:t>
                      </a:r>
                    </a:p>
                  </a:txBody>
                  <a:tcPr marL="114300" marR="114300" marT="76200" marB="76200" anchor="ctr"/>
                </a:tc>
                <a:extLst>
                  <a:ext uri="{0D108BD9-81ED-4DB2-BD59-A6C34878D82A}">
                    <a16:rowId xmlns:a16="http://schemas.microsoft.com/office/drawing/2014/main" val="2333697510"/>
                  </a:ext>
                </a:extLst>
              </a:tr>
            </a:tbl>
          </a:graphicData>
        </a:graphic>
      </p:graphicFrame>
      <p:sp>
        <p:nvSpPr>
          <p:cNvPr id="11" name="TextBox 10">
            <a:extLst>
              <a:ext uri="{FF2B5EF4-FFF2-40B4-BE49-F238E27FC236}">
                <a16:creationId xmlns:a16="http://schemas.microsoft.com/office/drawing/2014/main" id="{62DE4805-330B-9066-1D50-6DFDE0792766}"/>
              </a:ext>
            </a:extLst>
          </p:cNvPr>
          <p:cNvSpPr txBox="1"/>
          <p:nvPr/>
        </p:nvSpPr>
        <p:spPr>
          <a:xfrm>
            <a:off x="5597718" y="3956611"/>
            <a:ext cx="1151906" cy="369332"/>
          </a:xfrm>
          <a:prstGeom prst="rect">
            <a:avLst/>
          </a:prstGeom>
          <a:noFill/>
        </p:spPr>
        <p:txBody>
          <a:bodyPr wrap="square" rtlCol="0">
            <a:spAutoFit/>
          </a:bodyPr>
          <a:lstStyle/>
          <a:p>
            <a:r>
              <a:rPr lang="en-US" dirty="0"/>
              <a:t>Products</a:t>
            </a:r>
          </a:p>
        </p:txBody>
      </p:sp>
      <p:sp>
        <p:nvSpPr>
          <p:cNvPr id="12" name="TextBox 11">
            <a:extLst>
              <a:ext uri="{FF2B5EF4-FFF2-40B4-BE49-F238E27FC236}">
                <a16:creationId xmlns:a16="http://schemas.microsoft.com/office/drawing/2014/main" id="{49A5C443-AB5C-8292-9A60-BBAA8A86CD80}"/>
              </a:ext>
            </a:extLst>
          </p:cNvPr>
          <p:cNvSpPr txBox="1"/>
          <p:nvPr/>
        </p:nvSpPr>
        <p:spPr>
          <a:xfrm>
            <a:off x="9848910" y="5707427"/>
            <a:ext cx="1899212" cy="646331"/>
          </a:xfrm>
          <a:prstGeom prst="rect">
            <a:avLst/>
          </a:prstGeom>
          <a:noFill/>
        </p:spPr>
        <p:txBody>
          <a:bodyPr wrap="square" rtlCol="0">
            <a:spAutoFit/>
          </a:bodyPr>
          <a:lstStyle/>
          <a:p>
            <a:r>
              <a:rPr lang="en-US" dirty="0"/>
              <a:t>Step 2: insert new product</a:t>
            </a:r>
          </a:p>
        </p:txBody>
      </p:sp>
    </p:spTree>
    <p:extLst>
      <p:ext uri="{BB962C8B-B14F-4D97-AF65-F5344CB8AC3E}">
        <p14:creationId xmlns:p14="http://schemas.microsoft.com/office/powerpoint/2010/main" val="30053490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5057" y="104838"/>
            <a:ext cx="3238282" cy="548305"/>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dirty="0"/>
              <a:t>Deletion Anomaly</a:t>
            </a:r>
          </a:p>
        </p:txBody>
      </p:sp>
      <p:sp>
        <p:nvSpPr>
          <p:cNvPr id="5" name="TextBox 4"/>
          <p:cNvSpPr txBox="1"/>
          <p:nvPr/>
        </p:nvSpPr>
        <p:spPr>
          <a:xfrm>
            <a:off x="305219" y="1438451"/>
            <a:ext cx="1151906" cy="369332"/>
          </a:xfrm>
          <a:prstGeom prst="rect">
            <a:avLst/>
          </a:prstGeom>
          <a:noFill/>
        </p:spPr>
        <p:txBody>
          <a:bodyPr wrap="square" rtlCol="0">
            <a:spAutoFit/>
          </a:bodyPr>
          <a:lstStyle/>
          <a:p>
            <a:r>
              <a:rPr lang="en-US" dirty="0"/>
              <a:t>Products</a:t>
            </a:r>
          </a:p>
        </p:txBody>
      </p:sp>
      <p:sp>
        <p:nvSpPr>
          <p:cNvPr id="16" name="Rectangle 15"/>
          <p:cNvSpPr/>
          <p:nvPr/>
        </p:nvSpPr>
        <p:spPr>
          <a:xfrm>
            <a:off x="6794778" y="1167554"/>
            <a:ext cx="1330779" cy="388338"/>
          </a:xfrm>
          <a:prstGeom prst="rect">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If the tuple </a:t>
            </a:r>
          </a:p>
        </p:txBody>
      </p:sp>
      <p:graphicFrame>
        <p:nvGraphicFramePr>
          <p:cNvPr id="18" name="Table 17"/>
          <p:cNvGraphicFramePr>
            <a:graphicFrameLocks noGrp="1"/>
          </p:cNvGraphicFramePr>
          <p:nvPr>
            <p:extLst>
              <p:ext uri="{D42A27DB-BD31-4B8C-83A1-F6EECF244321}">
                <p14:modId xmlns:p14="http://schemas.microsoft.com/office/powerpoint/2010/main" val="1844931942"/>
              </p:ext>
            </p:extLst>
          </p:nvPr>
        </p:nvGraphicFramePr>
        <p:xfrm>
          <a:off x="7076941" y="1807783"/>
          <a:ext cx="3279775" cy="999892"/>
        </p:xfrm>
        <a:graphic>
          <a:graphicData uri="http://schemas.openxmlformats.org/drawingml/2006/table">
            <a:tbl>
              <a:tblPr firstRow="1" bandRow="1">
                <a:tableStyleId>{5C22544A-7EE6-4342-B048-85BDC9FD1C3A}</a:tableStyleId>
              </a:tblPr>
              <a:tblGrid>
                <a:gridCol w="1170940">
                  <a:extLst>
                    <a:ext uri="{9D8B030D-6E8A-4147-A177-3AD203B41FA5}">
                      <a16:colId xmlns:a16="http://schemas.microsoft.com/office/drawing/2014/main" val="501171670"/>
                    </a:ext>
                  </a:extLst>
                </a:gridCol>
                <a:gridCol w="2108835">
                  <a:extLst>
                    <a:ext uri="{9D8B030D-6E8A-4147-A177-3AD203B41FA5}">
                      <a16:colId xmlns:a16="http://schemas.microsoft.com/office/drawing/2014/main" val="3871813456"/>
                    </a:ext>
                  </a:extLst>
                </a:gridCol>
              </a:tblGrid>
              <a:tr h="499946">
                <a:tc>
                  <a:txBody>
                    <a:bodyPr/>
                    <a:lstStyle/>
                    <a:p>
                      <a:pPr>
                        <a:buNone/>
                      </a:pPr>
                      <a:r>
                        <a:rPr lang="en-US" b="1" i="0" u="sng" dirty="0" err="1">
                          <a:effectLst/>
                        </a:rPr>
                        <a:t>VendorID</a:t>
                      </a:r>
                      <a:endParaRPr lang="en-US" i="0" u="sng" dirty="0">
                        <a:effectLst/>
                      </a:endParaRPr>
                    </a:p>
                  </a:txBody>
                  <a:tcPr marL="114300" marR="114300" marT="76200" marB="76200" anchor="ctr"/>
                </a:tc>
                <a:tc>
                  <a:txBody>
                    <a:bodyPr/>
                    <a:lstStyle/>
                    <a:p>
                      <a:pPr>
                        <a:buNone/>
                      </a:pPr>
                      <a:r>
                        <a:rPr lang="en-US" b="1" dirty="0" err="1">
                          <a:effectLst/>
                        </a:rPr>
                        <a:t>VendorEmail</a:t>
                      </a:r>
                      <a:endParaRPr lang="en-US" dirty="0">
                        <a:effectLst/>
                      </a:endParaRPr>
                    </a:p>
                  </a:txBody>
                  <a:tcPr marL="114300" marR="114300" marT="76200" marB="76200" anchor="ctr"/>
                </a:tc>
                <a:extLst>
                  <a:ext uri="{0D108BD9-81ED-4DB2-BD59-A6C34878D82A}">
                    <a16:rowId xmlns:a16="http://schemas.microsoft.com/office/drawing/2014/main" val="3406349437"/>
                  </a:ext>
                </a:extLst>
              </a:tr>
              <a:tr h="499946">
                <a:tc>
                  <a:txBody>
                    <a:bodyPr/>
                    <a:lstStyle/>
                    <a:p>
                      <a:pPr>
                        <a:buNone/>
                      </a:pPr>
                      <a:r>
                        <a:rPr lang="en-US">
                          <a:effectLst/>
                        </a:rPr>
                        <a:t>V1</a:t>
                      </a:r>
                    </a:p>
                  </a:txBody>
                  <a:tcPr marL="114300" marR="114300" marT="76200" marB="76200" anchor="ctr"/>
                </a:tc>
                <a:tc>
                  <a:txBody>
                    <a:bodyPr/>
                    <a:lstStyle/>
                    <a:p>
                      <a:pPr>
                        <a:buNone/>
                      </a:pPr>
                      <a:r>
                        <a:rPr lang="en-US" dirty="0" err="1">
                          <a:effectLst/>
                        </a:rPr>
                        <a:t>vendor@email.com</a:t>
                      </a:r>
                      <a:endParaRPr lang="en-US" dirty="0">
                        <a:effectLst/>
                      </a:endParaRPr>
                    </a:p>
                  </a:txBody>
                  <a:tcPr marL="114300" marR="114300" marT="76200" marB="76200" anchor="ctr"/>
                </a:tc>
                <a:extLst>
                  <a:ext uri="{0D108BD9-81ED-4DB2-BD59-A6C34878D82A}">
                    <a16:rowId xmlns:a16="http://schemas.microsoft.com/office/drawing/2014/main" val="3147035758"/>
                  </a:ext>
                </a:extLst>
              </a:tr>
            </a:tbl>
          </a:graphicData>
        </a:graphic>
      </p:graphicFrame>
      <p:sp>
        <p:nvSpPr>
          <p:cNvPr id="14" name="Rectangle 13"/>
          <p:cNvSpPr/>
          <p:nvPr/>
        </p:nvSpPr>
        <p:spPr>
          <a:xfrm>
            <a:off x="6794776" y="3562219"/>
            <a:ext cx="4249585" cy="1327833"/>
          </a:xfrm>
          <a:prstGeom prst="rect">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Then product P1 still references it. This creates an invalid reference because the product points to a vendor that no longer exists</a:t>
            </a:r>
          </a:p>
        </p:txBody>
      </p:sp>
      <p:sp>
        <p:nvSpPr>
          <p:cNvPr id="21" name="Rectangle 20">
            <a:extLst>
              <a:ext uri="{FF2B5EF4-FFF2-40B4-BE49-F238E27FC236}">
                <a16:creationId xmlns:a16="http://schemas.microsoft.com/office/drawing/2014/main" id="{12A58E78-4EC0-4C42-82A2-3FD2F677E8C4}"/>
              </a:ext>
            </a:extLst>
          </p:cNvPr>
          <p:cNvSpPr/>
          <p:nvPr/>
        </p:nvSpPr>
        <p:spPr>
          <a:xfrm>
            <a:off x="6794777" y="2990778"/>
            <a:ext cx="1330779" cy="388338"/>
          </a:xfrm>
          <a:prstGeom prst="rect">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 deleted</a:t>
            </a:r>
          </a:p>
        </p:txBody>
      </p:sp>
      <p:graphicFrame>
        <p:nvGraphicFramePr>
          <p:cNvPr id="2" name="Table 1">
            <a:extLst>
              <a:ext uri="{FF2B5EF4-FFF2-40B4-BE49-F238E27FC236}">
                <a16:creationId xmlns:a16="http://schemas.microsoft.com/office/drawing/2014/main" id="{6A7ABE8B-C01F-F085-0556-78333895363D}"/>
              </a:ext>
            </a:extLst>
          </p:cNvPr>
          <p:cNvGraphicFramePr>
            <a:graphicFrameLocks noGrp="1"/>
          </p:cNvGraphicFramePr>
          <p:nvPr>
            <p:extLst>
              <p:ext uri="{D42A27DB-BD31-4B8C-83A1-F6EECF244321}">
                <p14:modId xmlns:p14="http://schemas.microsoft.com/office/powerpoint/2010/main" val="319874700"/>
              </p:ext>
            </p:extLst>
          </p:nvPr>
        </p:nvGraphicFramePr>
        <p:xfrm>
          <a:off x="335087" y="1840542"/>
          <a:ext cx="3984753" cy="1499838"/>
        </p:xfrm>
        <a:graphic>
          <a:graphicData uri="http://schemas.openxmlformats.org/drawingml/2006/table">
            <a:tbl>
              <a:tblPr firstRow="1" bandRow="1">
                <a:tableStyleId>{5C22544A-7EE6-4342-B048-85BDC9FD1C3A}</a:tableStyleId>
              </a:tblPr>
              <a:tblGrid>
                <a:gridCol w="1227519">
                  <a:extLst>
                    <a:ext uri="{9D8B030D-6E8A-4147-A177-3AD203B41FA5}">
                      <a16:colId xmlns:a16="http://schemas.microsoft.com/office/drawing/2014/main" val="12228238"/>
                    </a:ext>
                  </a:extLst>
                </a:gridCol>
                <a:gridCol w="1586294">
                  <a:extLst>
                    <a:ext uri="{9D8B030D-6E8A-4147-A177-3AD203B41FA5}">
                      <a16:colId xmlns:a16="http://schemas.microsoft.com/office/drawing/2014/main" val="31660248"/>
                    </a:ext>
                  </a:extLst>
                </a:gridCol>
                <a:gridCol w="1170940">
                  <a:extLst>
                    <a:ext uri="{9D8B030D-6E8A-4147-A177-3AD203B41FA5}">
                      <a16:colId xmlns:a16="http://schemas.microsoft.com/office/drawing/2014/main" val="1231006591"/>
                    </a:ext>
                  </a:extLst>
                </a:gridCol>
              </a:tblGrid>
              <a:tr h="499946">
                <a:tc>
                  <a:txBody>
                    <a:bodyPr/>
                    <a:lstStyle/>
                    <a:p>
                      <a:pPr>
                        <a:buNone/>
                      </a:pPr>
                      <a:r>
                        <a:rPr lang="en-US" b="1" i="0" u="sng" dirty="0" err="1">
                          <a:effectLst/>
                        </a:rPr>
                        <a:t>ProductID</a:t>
                      </a:r>
                      <a:endParaRPr lang="en-US" i="0" u="sng" dirty="0">
                        <a:effectLst/>
                      </a:endParaRPr>
                    </a:p>
                  </a:txBody>
                  <a:tcPr marL="114300" marR="114300" marT="76200" marB="76200" anchor="ctr"/>
                </a:tc>
                <a:tc>
                  <a:txBody>
                    <a:bodyPr/>
                    <a:lstStyle/>
                    <a:p>
                      <a:pPr>
                        <a:buNone/>
                      </a:pPr>
                      <a:r>
                        <a:rPr lang="en-US" b="1" dirty="0">
                          <a:effectLst/>
                        </a:rPr>
                        <a:t>ProductName</a:t>
                      </a:r>
                      <a:endParaRPr lang="en-US" dirty="0">
                        <a:effectLst/>
                      </a:endParaRPr>
                    </a:p>
                  </a:txBody>
                  <a:tcPr marL="114300" marR="114300" marT="76200" marB="76200" anchor="ctr"/>
                </a:tc>
                <a:tc>
                  <a:txBody>
                    <a:bodyPr/>
                    <a:lstStyle/>
                    <a:p>
                      <a:pPr>
                        <a:buNone/>
                      </a:pPr>
                      <a:r>
                        <a:rPr lang="en-US" b="1">
                          <a:effectLst/>
                        </a:rPr>
                        <a:t>VendorID</a:t>
                      </a:r>
                      <a:endParaRPr lang="en-US">
                        <a:effectLst/>
                      </a:endParaRPr>
                    </a:p>
                  </a:txBody>
                  <a:tcPr marL="114300" marR="114300" marT="76200" marB="76200" anchor="ctr"/>
                </a:tc>
                <a:extLst>
                  <a:ext uri="{0D108BD9-81ED-4DB2-BD59-A6C34878D82A}">
                    <a16:rowId xmlns:a16="http://schemas.microsoft.com/office/drawing/2014/main" val="779936975"/>
                  </a:ext>
                </a:extLst>
              </a:tr>
              <a:tr h="499946">
                <a:tc>
                  <a:txBody>
                    <a:bodyPr/>
                    <a:lstStyle/>
                    <a:p>
                      <a:pPr>
                        <a:buNone/>
                      </a:pPr>
                      <a:r>
                        <a:rPr lang="en-US">
                          <a:effectLst/>
                        </a:rPr>
                        <a:t>P1</a:t>
                      </a:r>
                    </a:p>
                  </a:txBody>
                  <a:tcPr marL="114300" marR="114300" marT="76200" marB="76200" anchor="ctr"/>
                </a:tc>
                <a:tc>
                  <a:txBody>
                    <a:bodyPr/>
                    <a:lstStyle/>
                    <a:p>
                      <a:pPr>
                        <a:buNone/>
                      </a:pPr>
                      <a:r>
                        <a:rPr lang="en-US" dirty="0" err="1">
                          <a:effectLst/>
                        </a:rPr>
                        <a:t>ChatBot</a:t>
                      </a:r>
                      <a:endParaRPr lang="en-US" dirty="0">
                        <a:effectLst/>
                      </a:endParaRPr>
                    </a:p>
                  </a:txBody>
                  <a:tcPr marL="114300" marR="114300" marT="76200" marB="76200" anchor="ctr"/>
                </a:tc>
                <a:tc>
                  <a:txBody>
                    <a:bodyPr/>
                    <a:lstStyle/>
                    <a:p>
                      <a:pPr>
                        <a:buNone/>
                      </a:pPr>
                      <a:r>
                        <a:rPr lang="en-US" dirty="0">
                          <a:effectLst/>
                        </a:rPr>
                        <a:t>V1</a:t>
                      </a:r>
                    </a:p>
                  </a:txBody>
                  <a:tcPr marL="114300" marR="114300" marT="76200" marB="76200" anchor="ctr"/>
                </a:tc>
                <a:extLst>
                  <a:ext uri="{0D108BD9-81ED-4DB2-BD59-A6C34878D82A}">
                    <a16:rowId xmlns:a16="http://schemas.microsoft.com/office/drawing/2014/main" val="1301581000"/>
                  </a:ext>
                </a:extLst>
              </a:tr>
              <a:tr h="499946">
                <a:tc>
                  <a:txBody>
                    <a:bodyPr/>
                    <a:lstStyle/>
                    <a:p>
                      <a:pPr>
                        <a:buNone/>
                      </a:pPr>
                      <a:r>
                        <a:rPr lang="en-US" dirty="0">
                          <a:effectLst/>
                        </a:rPr>
                        <a:t>P2</a:t>
                      </a:r>
                    </a:p>
                  </a:txBody>
                  <a:tcPr marL="114300" marR="114300" marT="76200" marB="76200" anchor="ctr"/>
                </a:tc>
                <a:tc>
                  <a:txBody>
                    <a:bodyPr/>
                    <a:lstStyle/>
                    <a:p>
                      <a:pPr>
                        <a:buNone/>
                      </a:pPr>
                      <a:r>
                        <a:rPr lang="en-US">
                          <a:effectLst/>
                        </a:rPr>
                        <a:t>ImageBot</a:t>
                      </a:r>
                    </a:p>
                  </a:txBody>
                  <a:tcPr marL="114300" marR="114300" marT="76200" marB="76200" anchor="ctr"/>
                </a:tc>
                <a:tc>
                  <a:txBody>
                    <a:bodyPr/>
                    <a:lstStyle/>
                    <a:p>
                      <a:pPr>
                        <a:buNone/>
                      </a:pPr>
                      <a:r>
                        <a:rPr lang="en-US" dirty="0">
                          <a:effectLst/>
                        </a:rPr>
                        <a:t>V2</a:t>
                      </a:r>
                    </a:p>
                  </a:txBody>
                  <a:tcPr marL="114300" marR="114300" marT="76200" marB="76200" anchor="ctr"/>
                </a:tc>
                <a:extLst>
                  <a:ext uri="{0D108BD9-81ED-4DB2-BD59-A6C34878D82A}">
                    <a16:rowId xmlns:a16="http://schemas.microsoft.com/office/drawing/2014/main" val="2378749852"/>
                  </a:ext>
                </a:extLst>
              </a:tr>
            </a:tbl>
          </a:graphicData>
        </a:graphic>
      </p:graphicFrame>
      <p:graphicFrame>
        <p:nvGraphicFramePr>
          <p:cNvPr id="4" name="Table 3">
            <a:extLst>
              <a:ext uri="{FF2B5EF4-FFF2-40B4-BE49-F238E27FC236}">
                <a16:creationId xmlns:a16="http://schemas.microsoft.com/office/drawing/2014/main" id="{CC7E05AD-D1A6-844E-2E30-D317F027EB30}"/>
              </a:ext>
            </a:extLst>
          </p:cNvPr>
          <p:cNvGraphicFramePr>
            <a:graphicFrameLocks noGrp="1"/>
          </p:cNvGraphicFramePr>
          <p:nvPr>
            <p:extLst>
              <p:ext uri="{D42A27DB-BD31-4B8C-83A1-F6EECF244321}">
                <p14:modId xmlns:p14="http://schemas.microsoft.com/office/powerpoint/2010/main" val="1460778792"/>
              </p:ext>
            </p:extLst>
          </p:nvPr>
        </p:nvGraphicFramePr>
        <p:xfrm>
          <a:off x="385955" y="4228709"/>
          <a:ext cx="3279775" cy="1499838"/>
        </p:xfrm>
        <a:graphic>
          <a:graphicData uri="http://schemas.openxmlformats.org/drawingml/2006/table">
            <a:tbl>
              <a:tblPr firstRow="1" bandRow="1">
                <a:tableStyleId>{5C22544A-7EE6-4342-B048-85BDC9FD1C3A}</a:tableStyleId>
              </a:tblPr>
              <a:tblGrid>
                <a:gridCol w="1170940">
                  <a:extLst>
                    <a:ext uri="{9D8B030D-6E8A-4147-A177-3AD203B41FA5}">
                      <a16:colId xmlns:a16="http://schemas.microsoft.com/office/drawing/2014/main" val="12228238"/>
                    </a:ext>
                  </a:extLst>
                </a:gridCol>
                <a:gridCol w="2108835">
                  <a:extLst>
                    <a:ext uri="{9D8B030D-6E8A-4147-A177-3AD203B41FA5}">
                      <a16:colId xmlns:a16="http://schemas.microsoft.com/office/drawing/2014/main" val="1483981108"/>
                    </a:ext>
                  </a:extLst>
                </a:gridCol>
              </a:tblGrid>
              <a:tr h="499946">
                <a:tc>
                  <a:txBody>
                    <a:bodyPr/>
                    <a:lstStyle/>
                    <a:p>
                      <a:pPr>
                        <a:buNone/>
                      </a:pPr>
                      <a:r>
                        <a:rPr lang="en-US" b="1" i="0" u="sng" dirty="0" err="1">
                          <a:effectLst/>
                        </a:rPr>
                        <a:t>VendorID</a:t>
                      </a:r>
                      <a:endParaRPr lang="en-US" i="0" u="sng" dirty="0">
                        <a:effectLst/>
                      </a:endParaRPr>
                    </a:p>
                  </a:txBody>
                  <a:tcPr marL="114300" marR="114300" marT="76200" marB="76200" anchor="ctr"/>
                </a:tc>
                <a:tc>
                  <a:txBody>
                    <a:bodyPr/>
                    <a:lstStyle/>
                    <a:p>
                      <a:pPr>
                        <a:buNone/>
                      </a:pPr>
                      <a:r>
                        <a:rPr lang="en-US" b="1" dirty="0" err="1">
                          <a:effectLst/>
                        </a:rPr>
                        <a:t>VendorEmail</a:t>
                      </a:r>
                      <a:endParaRPr lang="en-US" dirty="0">
                        <a:effectLst/>
                      </a:endParaRPr>
                    </a:p>
                  </a:txBody>
                  <a:tcPr marL="114300" marR="114300" marT="76200" marB="76200" anchor="ctr"/>
                </a:tc>
                <a:extLst>
                  <a:ext uri="{0D108BD9-81ED-4DB2-BD59-A6C34878D82A}">
                    <a16:rowId xmlns:a16="http://schemas.microsoft.com/office/drawing/2014/main" val="779936975"/>
                  </a:ext>
                </a:extLst>
              </a:tr>
              <a:tr h="499946">
                <a:tc>
                  <a:txBody>
                    <a:bodyPr/>
                    <a:lstStyle/>
                    <a:p>
                      <a:pPr>
                        <a:buNone/>
                      </a:pPr>
                      <a:r>
                        <a:rPr lang="en-US">
                          <a:effectLst/>
                        </a:rPr>
                        <a:t>V1</a:t>
                      </a:r>
                    </a:p>
                  </a:txBody>
                  <a:tcPr marL="114300" marR="114300" marT="76200" marB="76200" anchor="ctr"/>
                </a:tc>
                <a:tc>
                  <a:txBody>
                    <a:bodyPr/>
                    <a:lstStyle/>
                    <a:p>
                      <a:pPr>
                        <a:buNone/>
                      </a:pPr>
                      <a:r>
                        <a:rPr lang="en-US" dirty="0" err="1">
                          <a:effectLst/>
                        </a:rPr>
                        <a:t>vendor@email.com</a:t>
                      </a:r>
                      <a:endParaRPr lang="en-US" dirty="0">
                        <a:effectLst/>
                      </a:endParaRPr>
                    </a:p>
                  </a:txBody>
                  <a:tcPr marL="114300" marR="114300" marT="76200" marB="76200" anchor="ctr"/>
                </a:tc>
                <a:extLst>
                  <a:ext uri="{0D108BD9-81ED-4DB2-BD59-A6C34878D82A}">
                    <a16:rowId xmlns:a16="http://schemas.microsoft.com/office/drawing/2014/main" val="1301581000"/>
                  </a:ext>
                </a:extLst>
              </a:tr>
              <a:tr h="499946">
                <a:tc>
                  <a:txBody>
                    <a:bodyPr/>
                    <a:lstStyle/>
                    <a:p>
                      <a:pPr>
                        <a:buNone/>
                      </a:pPr>
                      <a:r>
                        <a:rPr lang="en-US" dirty="0">
                          <a:effectLst/>
                        </a:rPr>
                        <a:t>V2</a:t>
                      </a:r>
                    </a:p>
                  </a:txBody>
                  <a:tcPr marL="114300" marR="114300" marT="76200" marB="76200" anchor="ctr"/>
                </a:tc>
                <a:tc>
                  <a:txBody>
                    <a:bodyPr/>
                    <a:lstStyle/>
                    <a:p>
                      <a:pPr>
                        <a:buNone/>
                      </a:pPr>
                      <a:r>
                        <a:rPr lang="en-US" dirty="0" err="1">
                          <a:effectLst/>
                        </a:rPr>
                        <a:t>seller@email.com</a:t>
                      </a:r>
                      <a:endParaRPr lang="en-US" dirty="0">
                        <a:effectLst/>
                      </a:endParaRPr>
                    </a:p>
                  </a:txBody>
                  <a:tcPr marL="114300" marR="114300" marT="76200" marB="76200" anchor="ctr"/>
                </a:tc>
                <a:extLst>
                  <a:ext uri="{0D108BD9-81ED-4DB2-BD59-A6C34878D82A}">
                    <a16:rowId xmlns:a16="http://schemas.microsoft.com/office/drawing/2014/main" val="549601472"/>
                  </a:ext>
                </a:extLst>
              </a:tr>
            </a:tbl>
          </a:graphicData>
        </a:graphic>
      </p:graphicFrame>
      <p:sp>
        <p:nvSpPr>
          <p:cNvPr id="6" name="TextBox 5">
            <a:extLst>
              <a:ext uri="{FF2B5EF4-FFF2-40B4-BE49-F238E27FC236}">
                <a16:creationId xmlns:a16="http://schemas.microsoft.com/office/drawing/2014/main" id="{58CEAF0B-CAE1-000B-CE91-CFE8906001E9}"/>
              </a:ext>
            </a:extLst>
          </p:cNvPr>
          <p:cNvSpPr txBox="1"/>
          <p:nvPr/>
        </p:nvSpPr>
        <p:spPr>
          <a:xfrm>
            <a:off x="387991" y="3859377"/>
            <a:ext cx="1151906" cy="369332"/>
          </a:xfrm>
          <a:prstGeom prst="rect">
            <a:avLst/>
          </a:prstGeom>
          <a:noFill/>
        </p:spPr>
        <p:txBody>
          <a:bodyPr wrap="square" rtlCol="0">
            <a:spAutoFit/>
          </a:bodyPr>
          <a:lstStyle/>
          <a:p>
            <a:r>
              <a:rPr lang="en-US" dirty="0"/>
              <a:t>Vendors</a:t>
            </a:r>
          </a:p>
        </p:txBody>
      </p:sp>
    </p:spTree>
    <p:extLst>
      <p:ext uri="{BB962C8B-B14F-4D97-AF65-F5344CB8AC3E}">
        <p14:creationId xmlns:p14="http://schemas.microsoft.com/office/powerpoint/2010/main" val="8925003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85056" y="104838"/>
            <a:ext cx="4770665" cy="499319"/>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buNone/>
            </a:pPr>
            <a:r>
              <a:rPr lang="en-US" dirty="0"/>
              <a:t>Remedy for the Deletion Anomaly</a:t>
            </a:r>
          </a:p>
        </p:txBody>
      </p:sp>
      <p:sp>
        <p:nvSpPr>
          <p:cNvPr id="6" name="Content Placeholder 5"/>
          <p:cNvSpPr>
            <a:spLocks noGrp="1"/>
          </p:cNvSpPr>
          <p:nvPr>
            <p:ph idx="1"/>
          </p:nvPr>
        </p:nvSpPr>
        <p:spPr>
          <a:xfrm>
            <a:off x="185056" y="845909"/>
            <a:ext cx="4770665" cy="5644697"/>
          </a:xfrm>
        </p:spPr>
        <p:style>
          <a:lnRef idx="2">
            <a:schemeClr val="accent2"/>
          </a:lnRef>
          <a:fillRef idx="1">
            <a:schemeClr val="lt1"/>
          </a:fillRef>
          <a:effectRef idx="0">
            <a:schemeClr val="accent2"/>
          </a:effectRef>
          <a:fontRef idx="minor">
            <a:schemeClr val="dk1"/>
          </a:fontRef>
        </p:style>
        <p:txBody>
          <a:bodyPr/>
          <a:lstStyle/>
          <a:p>
            <a:r>
              <a:rPr lang="en-US" dirty="0"/>
              <a:t>Explanation:</a:t>
            </a:r>
          </a:p>
          <a:p>
            <a:pPr marL="0" indent="0">
              <a:buNone/>
            </a:pPr>
            <a:endParaRPr lang="en-US" dirty="0"/>
          </a:p>
          <a:p>
            <a:pPr marL="0" indent="0">
              <a:buNone/>
            </a:pPr>
            <a:r>
              <a:rPr lang="en-US" dirty="0"/>
              <a:t>The remedy is to enforce a foreign key between </a:t>
            </a:r>
            <a:r>
              <a:rPr lang="en-US" dirty="0" err="1"/>
              <a:t>Products.VendorID</a:t>
            </a:r>
            <a:r>
              <a:rPr lang="en-US" dirty="0"/>
              <a:t> and </a:t>
            </a:r>
            <a:r>
              <a:rPr lang="en-US" dirty="0" err="1"/>
              <a:t>Vendors.VendorID</a:t>
            </a:r>
            <a:r>
              <a:rPr lang="en-US" dirty="0"/>
              <a:t>. The database should prevent deleting </a:t>
            </a:r>
            <a:r>
              <a:rPr lang="en-US" dirty="0" err="1"/>
              <a:t>VendorID</a:t>
            </a:r>
            <a:r>
              <a:rPr lang="en-US" dirty="0"/>
              <a:t> V1 while products still reference it.</a:t>
            </a:r>
          </a:p>
          <a:p>
            <a:pPr marL="0" indent="0">
              <a:buNone/>
            </a:pPr>
            <a:endParaRPr lang="en-US" dirty="0"/>
          </a:p>
        </p:txBody>
      </p:sp>
      <p:sp>
        <p:nvSpPr>
          <p:cNvPr id="7" name="Rectangle 6"/>
          <p:cNvSpPr/>
          <p:nvPr/>
        </p:nvSpPr>
        <p:spPr>
          <a:xfrm>
            <a:off x="5331279" y="845909"/>
            <a:ext cx="6457950" cy="56446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224692" y="476577"/>
            <a:ext cx="2099486" cy="369332"/>
          </a:xfrm>
          <a:prstGeom prst="rect">
            <a:avLst/>
          </a:prstGeom>
        </p:spPr>
        <p:txBody>
          <a:bodyPr wrap="none">
            <a:spAutoFit/>
          </a:bodyPr>
          <a:lstStyle/>
          <a:p>
            <a:r>
              <a:rPr lang="en-US" dirty="0"/>
              <a:t>Example Illustration:</a:t>
            </a:r>
          </a:p>
        </p:txBody>
      </p:sp>
      <p:sp>
        <p:nvSpPr>
          <p:cNvPr id="2" name="TextBox 1">
            <a:extLst>
              <a:ext uri="{FF2B5EF4-FFF2-40B4-BE49-F238E27FC236}">
                <a16:creationId xmlns:a16="http://schemas.microsoft.com/office/drawing/2014/main" id="{053654BD-169E-4A32-5DD3-32002621A0A5}"/>
              </a:ext>
            </a:extLst>
          </p:cNvPr>
          <p:cNvSpPr txBox="1"/>
          <p:nvPr/>
        </p:nvSpPr>
        <p:spPr>
          <a:xfrm>
            <a:off x="5520047" y="1030575"/>
            <a:ext cx="1151906" cy="369332"/>
          </a:xfrm>
          <a:prstGeom prst="rect">
            <a:avLst/>
          </a:prstGeom>
          <a:noFill/>
        </p:spPr>
        <p:txBody>
          <a:bodyPr wrap="square" rtlCol="0">
            <a:spAutoFit/>
          </a:bodyPr>
          <a:lstStyle/>
          <a:p>
            <a:r>
              <a:rPr lang="en-US" dirty="0"/>
              <a:t>Products</a:t>
            </a:r>
          </a:p>
        </p:txBody>
      </p:sp>
      <p:graphicFrame>
        <p:nvGraphicFramePr>
          <p:cNvPr id="3" name="Table 2">
            <a:extLst>
              <a:ext uri="{FF2B5EF4-FFF2-40B4-BE49-F238E27FC236}">
                <a16:creationId xmlns:a16="http://schemas.microsoft.com/office/drawing/2014/main" id="{CA128DA9-BA49-A8BE-28D6-EF06E8E53ABB}"/>
              </a:ext>
            </a:extLst>
          </p:cNvPr>
          <p:cNvGraphicFramePr>
            <a:graphicFrameLocks noGrp="1"/>
          </p:cNvGraphicFramePr>
          <p:nvPr>
            <p:extLst>
              <p:ext uri="{D42A27DB-BD31-4B8C-83A1-F6EECF244321}">
                <p14:modId xmlns:p14="http://schemas.microsoft.com/office/powerpoint/2010/main" val="1198619870"/>
              </p:ext>
            </p:extLst>
          </p:nvPr>
        </p:nvGraphicFramePr>
        <p:xfrm>
          <a:off x="5520047" y="1418500"/>
          <a:ext cx="3984753" cy="1499838"/>
        </p:xfrm>
        <a:graphic>
          <a:graphicData uri="http://schemas.openxmlformats.org/drawingml/2006/table">
            <a:tbl>
              <a:tblPr firstRow="1" bandRow="1">
                <a:tableStyleId>{5C22544A-7EE6-4342-B048-85BDC9FD1C3A}</a:tableStyleId>
              </a:tblPr>
              <a:tblGrid>
                <a:gridCol w="1227519">
                  <a:extLst>
                    <a:ext uri="{9D8B030D-6E8A-4147-A177-3AD203B41FA5}">
                      <a16:colId xmlns:a16="http://schemas.microsoft.com/office/drawing/2014/main" val="12228238"/>
                    </a:ext>
                  </a:extLst>
                </a:gridCol>
                <a:gridCol w="1586294">
                  <a:extLst>
                    <a:ext uri="{9D8B030D-6E8A-4147-A177-3AD203B41FA5}">
                      <a16:colId xmlns:a16="http://schemas.microsoft.com/office/drawing/2014/main" val="31660248"/>
                    </a:ext>
                  </a:extLst>
                </a:gridCol>
                <a:gridCol w="1170940">
                  <a:extLst>
                    <a:ext uri="{9D8B030D-6E8A-4147-A177-3AD203B41FA5}">
                      <a16:colId xmlns:a16="http://schemas.microsoft.com/office/drawing/2014/main" val="1231006591"/>
                    </a:ext>
                  </a:extLst>
                </a:gridCol>
              </a:tblGrid>
              <a:tr h="499946">
                <a:tc>
                  <a:txBody>
                    <a:bodyPr/>
                    <a:lstStyle/>
                    <a:p>
                      <a:pPr>
                        <a:buNone/>
                      </a:pPr>
                      <a:r>
                        <a:rPr lang="en-US" b="1" u="sng" dirty="0" err="1">
                          <a:effectLst/>
                        </a:rPr>
                        <a:t>ProductID</a:t>
                      </a:r>
                      <a:endParaRPr lang="en-US" u="sng" dirty="0">
                        <a:effectLst/>
                      </a:endParaRPr>
                    </a:p>
                  </a:txBody>
                  <a:tcPr marL="114300" marR="114300" marT="76200" marB="76200" anchor="ctr"/>
                </a:tc>
                <a:tc>
                  <a:txBody>
                    <a:bodyPr/>
                    <a:lstStyle/>
                    <a:p>
                      <a:pPr>
                        <a:buNone/>
                      </a:pPr>
                      <a:r>
                        <a:rPr lang="en-US" b="1" dirty="0">
                          <a:effectLst/>
                        </a:rPr>
                        <a:t>ProductName</a:t>
                      </a:r>
                      <a:endParaRPr lang="en-US" dirty="0">
                        <a:effectLst/>
                      </a:endParaRPr>
                    </a:p>
                  </a:txBody>
                  <a:tcPr marL="114300" marR="114300" marT="76200" marB="76200" anchor="ctr"/>
                </a:tc>
                <a:tc>
                  <a:txBody>
                    <a:bodyPr/>
                    <a:lstStyle/>
                    <a:p>
                      <a:pPr>
                        <a:buNone/>
                      </a:pPr>
                      <a:r>
                        <a:rPr lang="en-US" b="1">
                          <a:effectLst/>
                        </a:rPr>
                        <a:t>VendorID</a:t>
                      </a:r>
                      <a:endParaRPr lang="en-US">
                        <a:effectLst/>
                      </a:endParaRPr>
                    </a:p>
                  </a:txBody>
                  <a:tcPr marL="114300" marR="114300" marT="76200" marB="76200" anchor="ctr"/>
                </a:tc>
                <a:extLst>
                  <a:ext uri="{0D108BD9-81ED-4DB2-BD59-A6C34878D82A}">
                    <a16:rowId xmlns:a16="http://schemas.microsoft.com/office/drawing/2014/main" val="779936975"/>
                  </a:ext>
                </a:extLst>
              </a:tr>
              <a:tr h="499946">
                <a:tc>
                  <a:txBody>
                    <a:bodyPr/>
                    <a:lstStyle/>
                    <a:p>
                      <a:pPr>
                        <a:buNone/>
                      </a:pPr>
                      <a:r>
                        <a:rPr lang="en-US">
                          <a:effectLst/>
                        </a:rPr>
                        <a:t>P1</a:t>
                      </a:r>
                    </a:p>
                  </a:txBody>
                  <a:tcPr marL="114300" marR="114300" marT="76200" marB="76200" anchor="ctr"/>
                </a:tc>
                <a:tc>
                  <a:txBody>
                    <a:bodyPr/>
                    <a:lstStyle/>
                    <a:p>
                      <a:pPr>
                        <a:buNone/>
                      </a:pPr>
                      <a:r>
                        <a:rPr lang="en-US" dirty="0" err="1">
                          <a:effectLst/>
                        </a:rPr>
                        <a:t>ChatBot</a:t>
                      </a:r>
                      <a:endParaRPr lang="en-US" dirty="0">
                        <a:effectLst/>
                      </a:endParaRPr>
                    </a:p>
                  </a:txBody>
                  <a:tcPr marL="114300" marR="114300" marT="76200" marB="76200" anchor="ctr"/>
                </a:tc>
                <a:tc>
                  <a:txBody>
                    <a:bodyPr/>
                    <a:lstStyle/>
                    <a:p>
                      <a:pPr>
                        <a:buNone/>
                      </a:pPr>
                      <a:r>
                        <a:rPr lang="en-US" dirty="0">
                          <a:effectLst/>
                        </a:rPr>
                        <a:t>V1</a:t>
                      </a:r>
                    </a:p>
                  </a:txBody>
                  <a:tcPr marL="114300" marR="114300" marT="76200" marB="76200" anchor="ctr"/>
                </a:tc>
                <a:extLst>
                  <a:ext uri="{0D108BD9-81ED-4DB2-BD59-A6C34878D82A}">
                    <a16:rowId xmlns:a16="http://schemas.microsoft.com/office/drawing/2014/main" val="1301581000"/>
                  </a:ext>
                </a:extLst>
              </a:tr>
              <a:tr h="499946">
                <a:tc>
                  <a:txBody>
                    <a:bodyPr/>
                    <a:lstStyle/>
                    <a:p>
                      <a:pPr>
                        <a:buNone/>
                      </a:pPr>
                      <a:r>
                        <a:rPr lang="en-US" dirty="0">
                          <a:effectLst/>
                        </a:rPr>
                        <a:t>P2</a:t>
                      </a:r>
                    </a:p>
                  </a:txBody>
                  <a:tcPr marL="114300" marR="114300" marT="76200" marB="76200" anchor="ctr"/>
                </a:tc>
                <a:tc>
                  <a:txBody>
                    <a:bodyPr/>
                    <a:lstStyle/>
                    <a:p>
                      <a:pPr>
                        <a:buNone/>
                      </a:pPr>
                      <a:r>
                        <a:rPr lang="en-US">
                          <a:effectLst/>
                        </a:rPr>
                        <a:t>ImageBot</a:t>
                      </a:r>
                    </a:p>
                  </a:txBody>
                  <a:tcPr marL="114300" marR="114300" marT="76200" marB="76200" anchor="ctr"/>
                </a:tc>
                <a:tc>
                  <a:txBody>
                    <a:bodyPr/>
                    <a:lstStyle/>
                    <a:p>
                      <a:pPr>
                        <a:buNone/>
                      </a:pPr>
                      <a:r>
                        <a:rPr lang="en-US" dirty="0">
                          <a:effectLst/>
                        </a:rPr>
                        <a:t>V2</a:t>
                      </a:r>
                    </a:p>
                  </a:txBody>
                  <a:tcPr marL="114300" marR="114300" marT="76200" marB="76200" anchor="ctr"/>
                </a:tc>
                <a:extLst>
                  <a:ext uri="{0D108BD9-81ED-4DB2-BD59-A6C34878D82A}">
                    <a16:rowId xmlns:a16="http://schemas.microsoft.com/office/drawing/2014/main" val="2378749852"/>
                  </a:ext>
                </a:extLst>
              </a:tr>
            </a:tbl>
          </a:graphicData>
        </a:graphic>
      </p:graphicFrame>
      <p:graphicFrame>
        <p:nvGraphicFramePr>
          <p:cNvPr id="5" name="Table 4">
            <a:extLst>
              <a:ext uri="{FF2B5EF4-FFF2-40B4-BE49-F238E27FC236}">
                <a16:creationId xmlns:a16="http://schemas.microsoft.com/office/drawing/2014/main" id="{EB7CFA6F-8AF0-25FF-C0B5-6B5655826DC8}"/>
              </a:ext>
            </a:extLst>
          </p:cNvPr>
          <p:cNvGraphicFramePr>
            <a:graphicFrameLocks noGrp="1"/>
          </p:cNvGraphicFramePr>
          <p:nvPr>
            <p:extLst>
              <p:ext uri="{D42A27DB-BD31-4B8C-83A1-F6EECF244321}">
                <p14:modId xmlns:p14="http://schemas.microsoft.com/office/powerpoint/2010/main" val="479698452"/>
              </p:ext>
            </p:extLst>
          </p:nvPr>
        </p:nvGraphicFramePr>
        <p:xfrm>
          <a:off x="5520047" y="3675595"/>
          <a:ext cx="3279775" cy="1499838"/>
        </p:xfrm>
        <a:graphic>
          <a:graphicData uri="http://schemas.openxmlformats.org/drawingml/2006/table">
            <a:tbl>
              <a:tblPr firstRow="1" bandRow="1">
                <a:tableStyleId>{5C22544A-7EE6-4342-B048-85BDC9FD1C3A}</a:tableStyleId>
              </a:tblPr>
              <a:tblGrid>
                <a:gridCol w="1170940">
                  <a:extLst>
                    <a:ext uri="{9D8B030D-6E8A-4147-A177-3AD203B41FA5}">
                      <a16:colId xmlns:a16="http://schemas.microsoft.com/office/drawing/2014/main" val="12228238"/>
                    </a:ext>
                  </a:extLst>
                </a:gridCol>
                <a:gridCol w="2108835">
                  <a:extLst>
                    <a:ext uri="{9D8B030D-6E8A-4147-A177-3AD203B41FA5}">
                      <a16:colId xmlns:a16="http://schemas.microsoft.com/office/drawing/2014/main" val="1483981108"/>
                    </a:ext>
                  </a:extLst>
                </a:gridCol>
              </a:tblGrid>
              <a:tr h="499946">
                <a:tc>
                  <a:txBody>
                    <a:bodyPr/>
                    <a:lstStyle/>
                    <a:p>
                      <a:pPr>
                        <a:buNone/>
                      </a:pPr>
                      <a:r>
                        <a:rPr lang="en-US" b="1" u="sng" dirty="0" err="1">
                          <a:effectLst/>
                        </a:rPr>
                        <a:t>VendorID</a:t>
                      </a:r>
                      <a:endParaRPr lang="en-US" u="sng" dirty="0">
                        <a:effectLst/>
                      </a:endParaRPr>
                    </a:p>
                  </a:txBody>
                  <a:tcPr marL="114300" marR="114300" marT="76200" marB="76200" anchor="ctr"/>
                </a:tc>
                <a:tc>
                  <a:txBody>
                    <a:bodyPr/>
                    <a:lstStyle/>
                    <a:p>
                      <a:pPr>
                        <a:buNone/>
                      </a:pPr>
                      <a:r>
                        <a:rPr lang="en-US" b="1" dirty="0" err="1">
                          <a:effectLst/>
                        </a:rPr>
                        <a:t>VendorEmail</a:t>
                      </a:r>
                      <a:endParaRPr lang="en-US" dirty="0">
                        <a:effectLst/>
                      </a:endParaRPr>
                    </a:p>
                  </a:txBody>
                  <a:tcPr marL="114300" marR="114300" marT="76200" marB="76200" anchor="ctr"/>
                </a:tc>
                <a:extLst>
                  <a:ext uri="{0D108BD9-81ED-4DB2-BD59-A6C34878D82A}">
                    <a16:rowId xmlns:a16="http://schemas.microsoft.com/office/drawing/2014/main" val="779936975"/>
                  </a:ext>
                </a:extLst>
              </a:tr>
              <a:tr h="499946">
                <a:tc>
                  <a:txBody>
                    <a:bodyPr/>
                    <a:lstStyle/>
                    <a:p>
                      <a:pPr>
                        <a:buNone/>
                      </a:pPr>
                      <a:r>
                        <a:rPr lang="en-US">
                          <a:effectLst/>
                        </a:rPr>
                        <a:t>V1</a:t>
                      </a:r>
                    </a:p>
                  </a:txBody>
                  <a:tcPr marL="114300" marR="114300" marT="76200" marB="76200" anchor="ctr"/>
                </a:tc>
                <a:tc>
                  <a:txBody>
                    <a:bodyPr/>
                    <a:lstStyle/>
                    <a:p>
                      <a:pPr>
                        <a:buNone/>
                      </a:pPr>
                      <a:r>
                        <a:rPr lang="en-US" dirty="0" err="1">
                          <a:effectLst/>
                        </a:rPr>
                        <a:t>vendor@email.com</a:t>
                      </a:r>
                      <a:endParaRPr lang="en-US" dirty="0">
                        <a:effectLst/>
                      </a:endParaRPr>
                    </a:p>
                  </a:txBody>
                  <a:tcPr marL="114300" marR="114300" marT="76200" marB="76200" anchor="ctr"/>
                </a:tc>
                <a:extLst>
                  <a:ext uri="{0D108BD9-81ED-4DB2-BD59-A6C34878D82A}">
                    <a16:rowId xmlns:a16="http://schemas.microsoft.com/office/drawing/2014/main" val="1301581000"/>
                  </a:ext>
                </a:extLst>
              </a:tr>
              <a:tr h="499946">
                <a:tc>
                  <a:txBody>
                    <a:bodyPr/>
                    <a:lstStyle/>
                    <a:p>
                      <a:pPr>
                        <a:buNone/>
                      </a:pPr>
                      <a:r>
                        <a:rPr lang="en-US" dirty="0">
                          <a:effectLst/>
                        </a:rPr>
                        <a:t>V2</a:t>
                      </a:r>
                    </a:p>
                  </a:txBody>
                  <a:tcPr marL="114300" marR="114300" marT="76200" marB="76200" anchor="ctr"/>
                </a:tc>
                <a:tc>
                  <a:txBody>
                    <a:bodyPr/>
                    <a:lstStyle/>
                    <a:p>
                      <a:pPr>
                        <a:buNone/>
                      </a:pPr>
                      <a:r>
                        <a:rPr lang="en-US" dirty="0" err="1">
                          <a:effectLst/>
                        </a:rPr>
                        <a:t>seller@email.com</a:t>
                      </a:r>
                      <a:endParaRPr lang="en-US" dirty="0">
                        <a:effectLst/>
                      </a:endParaRPr>
                    </a:p>
                  </a:txBody>
                  <a:tcPr marL="114300" marR="114300" marT="76200" marB="76200" anchor="ctr"/>
                </a:tc>
                <a:extLst>
                  <a:ext uri="{0D108BD9-81ED-4DB2-BD59-A6C34878D82A}">
                    <a16:rowId xmlns:a16="http://schemas.microsoft.com/office/drawing/2014/main" val="549601472"/>
                  </a:ext>
                </a:extLst>
              </a:tr>
            </a:tbl>
          </a:graphicData>
        </a:graphic>
      </p:graphicFrame>
      <p:sp>
        <p:nvSpPr>
          <p:cNvPr id="10" name="TextBox 9">
            <a:extLst>
              <a:ext uri="{FF2B5EF4-FFF2-40B4-BE49-F238E27FC236}">
                <a16:creationId xmlns:a16="http://schemas.microsoft.com/office/drawing/2014/main" id="{54BD9B41-AC8B-24B4-521F-132D34EF0794}"/>
              </a:ext>
            </a:extLst>
          </p:cNvPr>
          <p:cNvSpPr txBox="1"/>
          <p:nvPr/>
        </p:nvSpPr>
        <p:spPr>
          <a:xfrm>
            <a:off x="5520047" y="3306263"/>
            <a:ext cx="1151906" cy="369332"/>
          </a:xfrm>
          <a:prstGeom prst="rect">
            <a:avLst/>
          </a:prstGeom>
          <a:noFill/>
        </p:spPr>
        <p:txBody>
          <a:bodyPr wrap="square" rtlCol="0">
            <a:spAutoFit/>
          </a:bodyPr>
          <a:lstStyle/>
          <a:p>
            <a:r>
              <a:rPr lang="en-US" dirty="0"/>
              <a:t>Vendors</a:t>
            </a:r>
          </a:p>
        </p:txBody>
      </p:sp>
    </p:spTree>
    <p:extLst>
      <p:ext uri="{BB962C8B-B14F-4D97-AF65-F5344CB8AC3E}">
        <p14:creationId xmlns:p14="http://schemas.microsoft.com/office/powerpoint/2010/main" val="24922640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Credits and References</a:t>
            </a:r>
            <a:endParaRPr lang="tr-TR" dirty="0"/>
          </a:p>
        </p:txBody>
      </p:sp>
      <p:sp>
        <p:nvSpPr>
          <p:cNvPr id="3" name="Content Placeholder 2"/>
          <p:cNvSpPr>
            <a:spLocks noGrp="1"/>
          </p:cNvSpPr>
          <p:nvPr>
            <p:ph idx="1"/>
          </p:nvPr>
        </p:nvSpPr>
        <p:spPr/>
        <p:txBody>
          <a:bodyPr/>
          <a:lstStyle/>
          <a:p>
            <a:pPr marL="0" lvl="0" indent="0">
              <a:lnSpc>
                <a:spcPct val="100000"/>
              </a:lnSpc>
              <a:spcBef>
                <a:spcPts val="1200"/>
              </a:spcBef>
              <a:buClr>
                <a:schemeClr val="dk1"/>
              </a:buClr>
              <a:buSzPts val="1100"/>
              <a:buNone/>
            </a:pPr>
            <a:r>
              <a:rPr lang="en-US" dirty="0"/>
              <a:t>- SQL Server 2022 Documentation</a:t>
            </a:r>
          </a:p>
          <a:p>
            <a:pPr marL="0" lvl="0" indent="0">
              <a:lnSpc>
                <a:spcPct val="100000"/>
              </a:lnSpc>
              <a:spcBef>
                <a:spcPts val="1200"/>
              </a:spcBef>
              <a:buClr>
                <a:schemeClr val="dk1"/>
              </a:buClr>
              <a:buSzPts val="1100"/>
              <a:buNone/>
            </a:pPr>
            <a:r>
              <a:rPr lang="en-US" dirty="0"/>
              <a:t>https://</a:t>
            </a:r>
            <a:r>
              <a:rPr lang="en-US" dirty="0" err="1"/>
              <a:t>learn.microsoft.com</a:t>
            </a:r>
            <a:r>
              <a:rPr lang="en-US" dirty="0"/>
              <a:t>/</a:t>
            </a:r>
            <a:r>
              <a:rPr lang="en-US" dirty="0" err="1"/>
              <a:t>en</a:t>
            </a:r>
            <a:r>
              <a:rPr lang="en-US" dirty="0"/>
              <a:t>-us/</a:t>
            </a:r>
            <a:r>
              <a:rPr lang="en-US" dirty="0" err="1"/>
              <a:t>sql</a:t>
            </a:r>
            <a:r>
              <a:rPr lang="en-US" dirty="0"/>
              <a:t>/</a:t>
            </a:r>
            <a:r>
              <a:rPr lang="en-US" dirty="0" err="1"/>
              <a:t>sql</a:t>
            </a:r>
            <a:r>
              <a:rPr lang="en-US" dirty="0"/>
              <a:t>-server/</a:t>
            </a:r>
          </a:p>
          <a:p>
            <a:endParaRPr lang="tr-TR" dirty="0"/>
          </a:p>
        </p:txBody>
      </p:sp>
    </p:spTree>
    <p:extLst>
      <p:ext uri="{BB962C8B-B14F-4D97-AF65-F5344CB8AC3E}">
        <p14:creationId xmlns:p14="http://schemas.microsoft.com/office/powerpoint/2010/main" val="2335799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859</TotalTime>
  <Words>4178</Words>
  <Application>Microsoft Macintosh PowerPoint</Application>
  <PresentationFormat>Widescreen</PresentationFormat>
  <Paragraphs>666</Paragraphs>
  <Slides>44</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Aptos</vt:lpstr>
      <vt:lpstr>Arial</vt:lpstr>
      <vt:lpstr>Calibri</vt:lpstr>
      <vt:lpstr>Calibri Light</vt:lpstr>
      <vt:lpstr>Wingdings</vt:lpstr>
      <vt:lpstr>Office Theme</vt:lpstr>
      <vt:lpstr>CMPS 4390 PROJECT</vt:lpstr>
      <vt:lpstr>TEAM MEMBERS &amp; ROLES</vt:lpstr>
      <vt:lpstr>DESCRIPTION OF BUSINESS</vt:lpstr>
      <vt:lpstr> REFERENTIAL-RELATIONS</vt:lpstr>
      <vt:lpstr>ER-Diagram</vt:lpstr>
      <vt:lpstr>DDL QUERIES</vt:lpstr>
      <vt:lpstr>QD1: CREATE TABLE</vt:lpstr>
      <vt:lpstr>QD1: CREATE TABLE</vt:lpstr>
      <vt:lpstr>QD2: ALTER TABLE</vt:lpstr>
      <vt:lpstr>QD3: ADD "CHECK" CONSTRAINT</vt:lpstr>
      <vt:lpstr>QD4: ADD FK CONSTRAINT(S) TO THE TABLE</vt:lpstr>
      <vt:lpstr>QD5: Create TRIGGER</vt:lpstr>
      <vt:lpstr>DML QUERIES</vt:lpstr>
      <vt:lpstr>QM1.1: A TEST QUERY FOR THE TRIGGER CREATED in QD5</vt:lpstr>
      <vt:lpstr>QM1.2: A TEST QUERY FOR THE "CHECK" CONSTRAINT DEFINED in QD3</vt:lpstr>
      <vt:lpstr>QM1.3: A TEST QUERY FOR THE FK CONSTRAINT DEFINED in QD4</vt:lpstr>
      <vt:lpstr>QM2: INSERT DATA</vt:lpstr>
      <vt:lpstr>QM3: UPDATE DATA</vt:lpstr>
      <vt:lpstr>QM4: DELETE DATA</vt:lpstr>
      <vt:lpstr>QM5: QUERY DATA WITH WHERE CLAUSE</vt:lpstr>
      <vt:lpstr>QM6.1: QUERY DATA WITH 'SUB-QUERY IN WHERE CLAUSE'</vt:lpstr>
      <vt:lpstr>QM6.2: QUERY DATA WITH SUB-QUERY IN FROM CLAUSE</vt:lpstr>
      <vt:lpstr>QM6.3: QUERY DATA WITH 'SUB-QUERY IN SELECT CLAUSE'</vt:lpstr>
      <vt:lpstr>QM7: QUERY DATA WITH EXCEPT</vt:lpstr>
      <vt:lpstr>QM8.1: QUERY DATA WITH ANY/SOME</vt:lpstr>
      <vt:lpstr>QM8.2: QUERY DATA WITH ALL in front of a sub-query</vt:lpstr>
      <vt:lpstr>QM9.1: INNER-JOIN-QUERY WITH WHERE CLAUSE</vt:lpstr>
      <vt:lpstr>QM9.2: LEFT-OUTER-JOIN-QUERY WITH WHERE CLAUSE</vt:lpstr>
      <vt:lpstr>QM9.3: RIGHT-OUTER-JOIN-QUERY WITH WHERE CLAUSE</vt:lpstr>
      <vt:lpstr>QM9.4: FULL-OUTER-JOIN-QUERY WITH WHERE CLAUSE</vt:lpstr>
      <vt:lpstr>QM10.1: AGGREGATION-JOIN-QUERY WITH GROUP BY &amp; HAVING</vt:lpstr>
      <vt:lpstr>QM10.2: AGGREGATION-JOIN-QUERY WITH SUB-QUERY</vt:lpstr>
      <vt:lpstr>QM11: WITH-QUERY</vt:lpstr>
      <vt:lpstr>ANALYSIS OF DATA</vt:lpstr>
      <vt:lpstr>2NF</vt:lpstr>
      <vt:lpstr>3NF</vt:lpstr>
      <vt:lpstr>ANALYSIS OF DATA</vt:lpstr>
      <vt:lpstr>PowerPoint Presentation</vt:lpstr>
      <vt:lpstr>PowerPoint Presentation</vt:lpstr>
      <vt:lpstr>PowerPoint Presentation</vt:lpstr>
      <vt:lpstr>PowerPoint Presentation</vt:lpstr>
      <vt:lpstr>PowerPoint Presentation</vt:lpstr>
      <vt:lpstr>PowerPoint Presentation</vt:lpstr>
      <vt:lpstr>Credits and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CMPS 439/539 FINAL PROJECT</dc:title>
  <dc:creator>Omer</dc:creator>
  <cp:lastModifiedBy>Adam Rodi</cp:lastModifiedBy>
  <cp:revision>182</cp:revision>
  <cp:lastPrinted>2019-12-03T02:05:46Z</cp:lastPrinted>
  <dcterms:created xsi:type="dcterms:W3CDTF">2018-04-19T19:36:03Z</dcterms:created>
  <dcterms:modified xsi:type="dcterms:W3CDTF">2026-05-06T16:19:25Z</dcterms:modified>
</cp:coreProperties>
</file>