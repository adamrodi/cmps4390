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9309100" cy="70532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i+tKy5145QF26VQmdUPVk7loan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99E111-B4A6-44F6-8984-DE8A47B74E7F}">
  <a:tblStyle styleId="{A299E111-B4A6-44F6-8984-DE8A47B74E7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30900" y="3350275"/>
            <a:ext cx="7447275" cy="31739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930900" y="3350275"/>
            <a:ext cx="7447275" cy="31739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551825" y="528975"/>
            <a:ext cx="6206375" cy="26449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CMPS 4390 PROJECT</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Team Mango</a:t>
            </a:r>
            <a:endParaRPr/>
          </a:p>
        </p:txBody>
      </p:sp>
      <p:sp>
        <p:nvSpPr>
          <p:cNvPr id="86" name="Google Shape;86;p1"/>
          <p:cNvSpPr/>
          <p:nvPr/>
        </p:nvSpPr>
        <p:spPr>
          <a:xfrm>
            <a:off x="4306784" y="452281"/>
            <a:ext cx="416032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u="none" cap="none" strike="noStrike">
                <a:solidFill>
                  <a:srgbClr val="FF0000"/>
                </a:solidFill>
                <a:latin typeface="Calibri"/>
                <a:ea typeface="Calibri"/>
                <a:cs typeface="Calibri"/>
                <a:sym typeface="Calibri"/>
              </a:rPr>
              <a:t>You must </a:t>
            </a:r>
            <a:r>
              <a:rPr b="1" i="1" lang="en-US" sz="1800" u="none" cap="none" strike="noStrike">
                <a:solidFill>
                  <a:schemeClr val="dk1"/>
                </a:solidFill>
                <a:latin typeface="Calibri"/>
                <a:ea typeface="Calibri"/>
                <a:cs typeface="Calibri"/>
                <a:sym typeface="Calibri"/>
              </a:rPr>
              <a:t>exactly follow </a:t>
            </a:r>
            <a:r>
              <a:rPr b="1" i="1" lang="en-US" sz="1800" u="none" cap="none" strike="noStrike">
                <a:solidFill>
                  <a:srgbClr val="FF0000"/>
                </a:solidFill>
                <a:latin typeface="Calibri"/>
                <a:ea typeface="Calibri"/>
                <a:cs typeface="Calibri"/>
                <a:sym typeface="Calibri"/>
              </a:rPr>
              <a:t>this template.</a:t>
            </a:r>
            <a:endParaRPr/>
          </a:p>
          <a:p>
            <a:pPr indent="0" lvl="0" marL="0" marR="0" rtl="0" algn="l">
              <a:spcBef>
                <a:spcPts val="0"/>
              </a:spcBef>
              <a:spcAft>
                <a:spcPts val="0"/>
              </a:spcAft>
              <a:buNone/>
            </a:pPr>
            <a:r>
              <a:rPr b="1" i="1" lang="en-US" sz="1800">
                <a:solidFill>
                  <a:srgbClr val="FF0000"/>
                </a:solidFill>
                <a:latin typeface="Calibri"/>
                <a:ea typeface="Calibri"/>
                <a:cs typeface="Calibri"/>
                <a:sym typeface="Calibri"/>
              </a:rPr>
              <a:t>Do not change the order and the format.</a:t>
            </a:r>
            <a:endParaRPr/>
          </a:p>
          <a:p>
            <a:pPr indent="0" lvl="0" marL="0" marR="0" rtl="0" algn="l">
              <a:spcBef>
                <a:spcPts val="0"/>
              </a:spcBef>
              <a:spcAft>
                <a:spcPts val="0"/>
              </a:spcAft>
              <a:buNone/>
            </a:pPr>
            <a:r>
              <a:rPr b="1" i="1" lang="en-US" sz="1800">
                <a:solidFill>
                  <a:srgbClr val="FF0000"/>
                </a:solidFill>
                <a:latin typeface="Calibri"/>
                <a:ea typeface="Calibri"/>
                <a:cs typeface="Calibri"/>
                <a:sym typeface="Calibri"/>
              </a:rPr>
              <a:t>No background coloring or formatting.</a:t>
            </a:r>
            <a:endParaRPr b="1" sz="1800">
              <a:solidFill>
                <a:srgbClr val="FF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TEAM MEMBERS &amp; ROLES</a:t>
            </a:r>
            <a:endParaRPr/>
          </a:p>
        </p:txBody>
      </p:sp>
      <p:sp>
        <p:nvSpPr>
          <p:cNvPr id="92" name="Google Shape;92;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Adam Rodi</a:t>
            </a:r>
            <a:endParaRPr/>
          </a:p>
          <a:p>
            <a:pPr indent="-228600" lvl="0" marL="228600" rtl="0" algn="l">
              <a:lnSpc>
                <a:spcPct val="90000"/>
              </a:lnSpc>
              <a:spcBef>
                <a:spcPts val="1000"/>
              </a:spcBef>
              <a:spcAft>
                <a:spcPts val="0"/>
              </a:spcAft>
              <a:buClr>
                <a:schemeClr val="dk1"/>
              </a:buClr>
              <a:buSzPts val="2800"/>
              <a:buChar char="•"/>
            </a:pPr>
            <a:r>
              <a:rPr lang="en-US"/>
              <a:t>Samiksha Gnawali</a:t>
            </a:r>
            <a:endParaRPr/>
          </a:p>
          <a:p>
            <a:pPr indent="-228600" lvl="0" marL="228600" rtl="0" algn="l">
              <a:lnSpc>
                <a:spcPct val="90000"/>
              </a:lnSpc>
              <a:spcBef>
                <a:spcPts val="1000"/>
              </a:spcBef>
              <a:spcAft>
                <a:spcPts val="0"/>
              </a:spcAft>
              <a:buClr>
                <a:schemeClr val="dk1"/>
              </a:buClr>
              <a:buSzPts val="2800"/>
              <a:buChar char="•"/>
            </a:pPr>
            <a:r>
              <a:rPr lang="en-US"/>
              <a:t>Suyog Karki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314218" y="5530"/>
            <a:ext cx="10515600" cy="8677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DESCRIPTION OF BUSINESS</a:t>
            </a:r>
            <a:endParaRPr/>
          </a:p>
        </p:txBody>
      </p:sp>
      <p:sp>
        <p:nvSpPr>
          <p:cNvPr id="98" name="Google Shape;98;p3"/>
          <p:cNvSpPr txBox="1"/>
          <p:nvPr>
            <p:ph idx="1" type="body"/>
          </p:nvPr>
        </p:nvSpPr>
        <p:spPr>
          <a:xfrm>
            <a:off x="431515" y="996593"/>
            <a:ext cx="10922285" cy="549628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The business is an online AI Marketplace where external sellers list two types of products: AI-powered web applications that users can access through a browser, and AI API services that developers can integrate into their own software. Buyers subscribe to these products through the platform. The platform manages user accounts, product listings, subscriptions, payments, and commission calculations. The actual AI services are provided externally and the platform only handles listing and billing.</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Business operations:</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Create, update, and delete user accounts (buyers and sellers) </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Sellers create, update, and remove their AI product listings</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Buyers create and cancel subscriptions to products.</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Calculating the platform’s commission for each payment.</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Buyers submit reviews and ratings for products.</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Business requirements:</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 Each product must be owned by exactly one seller.</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 Each subscription must link one buyer to one product.</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 Platform commission must be calculated as 20% of each recorded payment.</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 A buyer may not have more than one active subscription to the same product at any given time.</a:t>
            </a:r>
            <a:endParaRPr/>
          </a:p>
          <a:p>
            <a:pPr indent="-514350" lvl="1" marL="971550" rtl="0" algn="l">
              <a:lnSpc>
                <a:spcPct val="90000"/>
              </a:lnSpc>
              <a:spcBef>
                <a:spcPts val="500"/>
              </a:spcBef>
              <a:spcAft>
                <a:spcPts val="0"/>
              </a:spcAft>
              <a:buClr>
                <a:schemeClr val="dk1"/>
              </a:buClr>
              <a:buSzPct val="100000"/>
              <a:buFont typeface="Calibri"/>
              <a:buAutoNum type="arabicPeriod"/>
            </a:pPr>
            <a:r>
              <a:rPr lang="en-US"/>
              <a:t> Each payment must correspond to exactly one subscription. </a:t>
            </a:r>
            <a:endParaRPr/>
          </a:p>
          <a:p>
            <a:pPr indent="0" lvl="0" marL="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a:p>
            <a:pPr indent="0" lvl="1" marL="457200" rtl="0" algn="l">
              <a:lnSpc>
                <a:spcPct val="90000"/>
              </a:lnSpc>
              <a:spcBef>
                <a:spcPts val="500"/>
              </a:spcBef>
              <a:spcAft>
                <a:spcPts val="0"/>
              </a:spcAft>
              <a:buClr>
                <a:schemeClr val="dk1"/>
              </a:buClr>
              <a:buSzPct val="100000"/>
              <a:buNone/>
            </a:pPr>
            <a:r>
              <a:t/>
            </a:r>
            <a:endParaRPr/>
          </a:p>
          <a:p>
            <a:pPr indent="-350519" lvl="1" marL="914400" rtl="0" algn="l">
              <a:lnSpc>
                <a:spcPct val="90000"/>
              </a:lnSpc>
              <a:spcBef>
                <a:spcPts val="500"/>
              </a:spcBef>
              <a:spcAft>
                <a:spcPts val="0"/>
              </a:spcAft>
              <a:buClr>
                <a:schemeClr val="dk1"/>
              </a:buClr>
              <a:buSzPct val="100000"/>
              <a:buFont typeface="Calibri"/>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Tables and Attributes</a:t>
            </a:r>
            <a:endParaRPr/>
          </a:p>
        </p:txBody>
      </p:sp>
      <p:graphicFrame>
        <p:nvGraphicFramePr>
          <p:cNvPr id="104" name="Google Shape;104;p4"/>
          <p:cNvGraphicFramePr/>
          <p:nvPr/>
        </p:nvGraphicFramePr>
        <p:xfrm>
          <a:off x="341944" y="1495370"/>
          <a:ext cx="3000000" cy="3000000"/>
        </p:xfrm>
        <a:graphic>
          <a:graphicData uri="http://schemas.openxmlformats.org/drawingml/2006/table">
            <a:tbl>
              <a:tblPr bandRow="1" firstRow="1">
                <a:noFill/>
                <a:tableStyleId>{A299E111-B4A6-44F6-8984-DE8A47B74E7F}</a:tableStyleId>
              </a:tblPr>
              <a:tblGrid>
                <a:gridCol w="1868325"/>
                <a:gridCol w="1802300"/>
                <a:gridCol w="1835300"/>
                <a:gridCol w="1835300"/>
                <a:gridCol w="2029250"/>
                <a:gridCol w="1641375"/>
              </a:tblGrid>
              <a:tr h="370850">
                <a:tc>
                  <a:txBody>
                    <a:bodyPr/>
                    <a:lstStyle/>
                    <a:p>
                      <a:pPr indent="0" lvl="0" marL="0" marR="0" rtl="0" algn="ctr">
                        <a:spcBef>
                          <a:spcPts val="0"/>
                        </a:spcBef>
                        <a:spcAft>
                          <a:spcPts val="0"/>
                        </a:spcAft>
                        <a:buNone/>
                      </a:pPr>
                      <a:r>
                        <a:rPr b="1" lang="en-US" sz="1800" u="none" cap="none" strike="noStrike"/>
                        <a:t>TABLE-1</a:t>
                      </a:r>
                      <a:endParaRPr b="1"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TABLE-2</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TABLE-3</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TABLE-4</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TABLE-5</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TABLE-6</a:t>
                      </a:r>
                      <a:endParaRPr sz="1800" u="none" cap="none" strike="noStrike"/>
                    </a:p>
                  </a:txBody>
                  <a:tcPr marT="45725" marB="45725" marR="91450" marL="91450" anchor="ctr"/>
                </a:tc>
              </a:tr>
              <a:tr h="370850">
                <a:tc>
                  <a:txBody>
                    <a:bodyPr/>
                    <a:lstStyle/>
                    <a:p>
                      <a:pPr indent="0" lvl="0" marL="0" marR="0" rtl="0" algn="l">
                        <a:spcBef>
                          <a:spcPts val="0"/>
                        </a:spcBef>
                        <a:spcAft>
                          <a:spcPts val="0"/>
                        </a:spcAft>
                        <a:buNone/>
                      </a:pPr>
                      <a:r>
                        <a:rPr b="1" lang="en-US" sz="1800" u="none" cap="none" strike="noStrike"/>
                        <a:t>Users</a:t>
                      </a:r>
                      <a:endParaRPr b="1" sz="1800"/>
                    </a:p>
                  </a:txBody>
                  <a:tcPr marT="45725" marB="45725" marR="91450" marL="91450"/>
                </a:tc>
                <a:tc>
                  <a:txBody>
                    <a:bodyPr/>
                    <a:lstStyle/>
                    <a:p>
                      <a:pPr indent="0" lvl="0" marL="0" marR="0" rtl="0" algn="l">
                        <a:spcBef>
                          <a:spcPts val="0"/>
                        </a:spcBef>
                        <a:spcAft>
                          <a:spcPts val="0"/>
                        </a:spcAft>
                        <a:buNone/>
                      </a:pPr>
                      <a:r>
                        <a:rPr b="1" lang="en-US" sz="1800"/>
                        <a:t>Categories</a:t>
                      </a:r>
                      <a:endParaRPr b="1" sz="1800"/>
                    </a:p>
                  </a:txBody>
                  <a:tcPr marT="45725" marB="45725" marR="91450" marL="91450"/>
                </a:tc>
                <a:tc>
                  <a:txBody>
                    <a:bodyPr/>
                    <a:lstStyle/>
                    <a:p>
                      <a:pPr indent="0" lvl="0" marL="0" marR="0" rtl="0" algn="l">
                        <a:spcBef>
                          <a:spcPts val="0"/>
                        </a:spcBef>
                        <a:spcAft>
                          <a:spcPts val="0"/>
                        </a:spcAft>
                        <a:buNone/>
                      </a:pPr>
                      <a:r>
                        <a:rPr b="1" lang="en-US" sz="1800"/>
                        <a:t>Products</a:t>
                      </a:r>
                      <a:endParaRPr b="1" sz="1800"/>
                    </a:p>
                  </a:txBody>
                  <a:tcPr marT="45725" marB="45725" marR="91450" marL="91450"/>
                </a:tc>
                <a:tc>
                  <a:txBody>
                    <a:bodyPr/>
                    <a:lstStyle/>
                    <a:p>
                      <a:pPr indent="0" lvl="0" marL="0" marR="0" rtl="0" algn="l">
                        <a:spcBef>
                          <a:spcPts val="0"/>
                        </a:spcBef>
                        <a:spcAft>
                          <a:spcPts val="0"/>
                        </a:spcAft>
                        <a:buNone/>
                      </a:pPr>
                      <a:r>
                        <a:rPr b="1" lang="en-US" sz="1800"/>
                        <a:t>Tags</a:t>
                      </a:r>
                      <a:endParaRPr b="1" sz="1800"/>
                    </a:p>
                  </a:txBody>
                  <a:tcPr marT="45725" marB="45725" marR="91450" marL="91450"/>
                </a:tc>
                <a:tc>
                  <a:txBody>
                    <a:bodyPr/>
                    <a:lstStyle/>
                    <a:p>
                      <a:pPr indent="0" lvl="0" marL="0" marR="0" rtl="0" algn="l">
                        <a:spcBef>
                          <a:spcPts val="0"/>
                        </a:spcBef>
                        <a:spcAft>
                          <a:spcPts val="0"/>
                        </a:spcAft>
                        <a:buNone/>
                      </a:pPr>
                      <a:r>
                        <a:rPr b="1" lang="en-US" sz="1800"/>
                        <a:t>Product_Tags</a:t>
                      </a:r>
                      <a:endParaRPr b="1" sz="1800"/>
                    </a:p>
                  </a:txBody>
                  <a:tcPr marT="45725" marB="45725" marR="91450" marL="91450"/>
                </a:tc>
                <a:tc>
                  <a:txBody>
                    <a:bodyPr/>
                    <a:lstStyle/>
                    <a:p>
                      <a:pPr indent="0" lvl="0" marL="0" marR="0" rtl="0" algn="l">
                        <a:spcBef>
                          <a:spcPts val="0"/>
                        </a:spcBef>
                        <a:spcAft>
                          <a:spcPts val="0"/>
                        </a:spcAft>
                        <a:buNone/>
                      </a:pPr>
                      <a:r>
                        <a:rPr b="1" lang="en-US" sz="1800"/>
                        <a:t>Subscriptions</a:t>
                      </a:r>
                      <a:endParaRPr b="1" sz="1800"/>
                    </a:p>
                  </a:txBody>
                  <a:tcPr marT="45725" marB="45725" marR="91450" marL="91450"/>
                </a:tc>
              </a:tr>
              <a:tr h="370850">
                <a:tc>
                  <a:txBody>
                    <a:bodyPr/>
                    <a:lstStyle/>
                    <a:p>
                      <a:pPr indent="0" lvl="0" marL="0" marR="0" rtl="0" algn="l">
                        <a:spcBef>
                          <a:spcPts val="0"/>
                        </a:spcBef>
                        <a:spcAft>
                          <a:spcPts val="0"/>
                        </a:spcAft>
                        <a:buNone/>
                      </a:pPr>
                      <a:r>
                        <a:rPr lang="en-US" sz="1600"/>
                        <a:t>User_id (PK)</a:t>
                      </a:r>
                      <a:endParaRPr sz="1600"/>
                    </a:p>
                  </a:txBody>
                  <a:tcPr marT="45725" marB="45725" marR="91450" marL="91450"/>
                </a:tc>
                <a:tc>
                  <a:txBody>
                    <a:bodyPr/>
                    <a:lstStyle/>
                    <a:p>
                      <a:pPr indent="0" lvl="0" marL="0" marR="0" rtl="0" algn="l">
                        <a:spcBef>
                          <a:spcPts val="0"/>
                        </a:spcBef>
                        <a:spcAft>
                          <a:spcPts val="0"/>
                        </a:spcAft>
                        <a:buNone/>
                      </a:pPr>
                      <a:r>
                        <a:rPr lang="en-US" sz="1600"/>
                        <a:t>category_id (PK)</a:t>
                      </a:r>
                      <a:endParaRPr sz="1600"/>
                    </a:p>
                  </a:txBody>
                  <a:tcPr marT="45725" marB="45725" marR="91450" marL="91450"/>
                </a:tc>
                <a:tc>
                  <a:txBody>
                    <a:bodyPr/>
                    <a:lstStyle/>
                    <a:p>
                      <a:pPr indent="0" lvl="0" marL="0" marR="0" rtl="0" algn="l">
                        <a:spcBef>
                          <a:spcPts val="0"/>
                        </a:spcBef>
                        <a:spcAft>
                          <a:spcPts val="0"/>
                        </a:spcAft>
                        <a:buNone/>
                      </a:pPr>
                      <a:r>
                        <a:rPr lang="en-US" sz="1600"/>
                        <a:t>product_id (PK)</a:t>
                      </a:r>
                      <a:endParaRPr sz="1600"/>
                    </a:p>
                  </a:txBody>
                  <a:tcPr marT="45725" marB="45725" marR="91450" marL="91450"/>
                </a:tc>
                <a:tc>
                  <a:txBody>
                    <a:bodyPr/>
                    <a:lstStyle/>
                    <a:p>
                      <a:pPr indent="0" lvl="0" marL="0" marR="0" rtl="0" algn="l">
                        <a:spcBef>
                          <a:spcPts val="0"/>
                        </a:spcBef>
                        <a:spcAft>
                          <a:spcPts val="0"/>
                        </a:spcAft>
                        <a:buNone/>
                      </a:pPr>
                      <a:r>
                        <a:rPr lang="en-US" sz="1600"/>
                        <a:t>tag_id (PK)</a:t>
                      </a:r>
                      <a:endParaRPr sz="1600"/>
                    </a:p>
                  </a:txBody>
                  <a:tcPr marT="45725" marB="45725" marR="91450" marL="91450"/>
                </a:tc>
                <a:tc>
                  <a:txBody>
                    <a:bodyPr/>
                    <a:lstStyle/>
                    <a:p>
                      <a:pPr indent="0" lvl="0" marL="0" marR="0" rtl="0" algn="l">
                        <a:spcBef>
                          <a:spcPts val="0"/>
                        </a:spcBef>
                        <a:spcAft>
                          <a:spcPts val="0"/>
                        </a:spcAft>
                        <a:buNone/>
                      </a:pPr>
                      <a:r>
                        <a:rPr lang="en-US" sz="1600"/>
                        <a:t>product_id (FK)</a:t>
                      </a:r>
                      <a:endParaRPr sz="1600"/>
                    </a:p>
                  </a:txBody>
                  <a:tcPr marT="45725" marB="45725" marR="91450" marL="91450"/>
                </a:tc>
                <a:tc>
                  <a:txBody>
                    <a:bodyPr/>
                    <a:lstStyle/>
                    <a:p>
                      <a:pPr indent="0" lvl="0" marL="0" marR="0" rtl="0" algn="l">
                        <a:spcBef>
                          <a:spcPts val="0"/>
                        </a:spcBef>
                        <a:spcAft>
                          <a:spcPts val="0"/>
                        </a:spcAft>
                        <a:buNone/>
                      </a:pPr>
                      <a:r>
                        <a:rPr lang="en-US" sz="1600"/>
                        <a:t>subscription_id (PK)</a:t>
                      </a:r>
                      <a:endParaRPr sz="1600"/>
                    </a:p>
                  </a:txBody>
                  <a:tcPr marT="45725" marB="45725" marR="91450" marL="91450"/>
                </a:tc>
              </a:tr>
              <a:tr h="370850">
                <a:tc>
                  <a:txBody>
                    <a:bodyPr/>
                    <a:lstStyle/>
                    <a:p>
                      <a:pPr indent="0" lvl="0" marL="0" marR="0" rtl="0" algn="l">
                        <a:spcBef>
                          <a:spcPts val="0"/>
                        </a:spcBef>
                        <a:spcAft>
                          <a:spcPts val="0"/>
                        </a:spcAft>
                        <a:buNone/>
                      </a:pPr>
                      <a:r>
                        <a:rPr lang="en-US" sz="1600"/>
                        <a:t>First_name</a:t>
                      </a:r>
                      <a:endParaRPr sz="1600"/>
                    </a:p>
                  </a:txBody>
                  <a:tcPr marT="45725" marB="45725" marR="91450" marL="91450"/>
                </a:tc>
                <a:tc>
                  <a:txBody>
                    <a:bodyPr/>
                    <a:lstStyle/>
                    <a:p>
                      <a:pPr indent="0" lvl="0" marL="0" marR="0" rtl="0" algn="l">
                        <a:spcBef>
                          <a:spcPts val="0"/>
                        </a:spcBef>
                        <a:spcAft>
                          <a:spcPts val="0"/>
                        </a:spcAft>
                        <a:buNone/>
                      </a:pPr>
                      <a:r>
                        <a:rPr lang="en-US" sz="1600"/>
                        <a:t>category_name</a:t>
                      </a:r>
                      <a:endParaRPr sz="1600"/>
                    </a:p>
                  </a:txBody>
                  <a:tcPr marT="45725" marB="45725" marR="91450" marL="91450"/>
                </a:tc>
                <a:tc>
                  <a:txBody>
                    <a:bodyPr/>
                    <a:lstStyle/>
                    <a:p>
                      <a:pPr indent="0" lvl="0" marL="0" marR="0" rtl="0" algn="l">
                        <a:spcBef>
                          <a:spcPts val="0"/>
                        </a:spcBef>
                        <a:spcAft>
                          <a:spcPts val="0"/>
                        </a:spcAft>
                        <a:buNone/>
                      </a:pPr>
                      <a:r>
                        <a:rPr lang="en-US" sz="1600"/>
                        <a:t>product_name</a:t>
                      </a:r>
                      <a:endParaRPr sz="1600"/>
                    </a:p>
                  </a:txBody>
                  <a:tcPr marT="45725" marB="45725" marR="91450" marL="91450"/>
                </a:tc>
                <a:tc>
                  <a:txBody>
                    <a:bodyPr/>
                    <a:lstStyle/>
                    <a:p>
                      <a:pPr indent="0" lvl="0" marL="0" marR="0" rtl="0" algn="l">
                        <a:spcBef>
                          <a:spcPts val="0"/>
                        </a:spcBef>
                        <a:spcAft>
                          <a:spcPts val="0"/>
                        </a:spcAft>
                        <a:buNone/>
                      </a:pPr>
                      <a:r>
                        <a:rPr lang="en-US" sz="1600"/>
                        <a:t>tag_name </a:t>
                      </a:r>
                      <a:endParaRPr sz="1600"/>
                    </a:p>
                  </a:txBody>
                  <a:tcPr marT="45725" marB="45725" marR="91450" marL="91450"/>
                </a:tc>
                <a:tc>
                  <a:txBody>
                    <a:bodyPr/>
                    <a:lstStyle/>
                    <a:p>
                      <a:pPr indent="0" lvl="0" marL="0" marR="0" rtl="0" algn="l">
                        <a:spcBef>
                          <a:spcPts val="0"/>
                        </a:spcBef>
                        <a:spcAft>
                          <a:spcPts val="0"/>
                        </a:spcAft>
                        <a:buNone/>
                      </a:pPr>
                      <a:r>
                        <a:rPr lang="en-US" sz="1600"/>
                        <a:t>tag_id(FK)</a:t>
                      </a:r>
                      <a:endParaRPr sz="1600"/>
                    </a:p>
                  </a:txBody>
                  <a:tcPr marT="45725" marB="45725" marR="91450" marL="91450"/>
                </a:tc>
                <a:tc>
                  <a:txBody>
                    <a:bodyPr/>
                    <a:lstStyle/>
                    <a:p>
                      <a:pPr indent="0" lvl="0" marL="0" marR="0" rtl="0" algn="l">
                        <a:spcBef>
                          <a:spcPts val="0"/>
                        </a:spcBef>
                        <a:spcAft>
                          <a:spcPts val="0"/>
                        </a:spcAft>
                        <a:buNone/>
                      </a:pPr>
                      <a:r>
                        <a:rPr lang="en-US" sz="1800"/>
                        <a:t>buyer_id (FK )</a:t>
                      </a:r>
                      <a:endParaRPr sz="1800"/>
                    </a:p>
                  </a:txBody>
                  <a:tcPr marT="45725" marB="45725" marR="91450" marL="91450"/>
                </a:tc>
              </a:tr>
              <a:tr h="370850">
                <a:tc>
                  <a:txBody>
                    <a:bodyPr/>
                    <a:lstStyle/>
                    <a:p>
                      <a:pPr indent="0" lvl="0" marL="0" marR="0" rtl="0" algn="l">
                        <a:spcBef>
                          <a:spcPts val="0"/>
                        </a:spcBef>
                        <a:spcAft>
                          <a:spcPts val="0"/>
                        </a:spcAft>
                        <a:buNone/>
                      </a:pPr>
                      <a:r>
                        <a:rPr lang="en-US" sz="1600"/>
                        <a:t>Last_name</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description</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(both, composite PK)</a:t>
                      </a:r>
                      <a:endParaRPr sz="1600"/>
                    </a:p>
                  </a:txBody>
                  <a:tcPr marT="45725" marB="45725" marR="91450" marL="91450"/>
                </a:tc>
                <a:tc>
                  <a:txBody>
                    <a:bodyPr/>
                    <a:lstStyle/>
                    <a:p>
                      <a:pPr indent="0" lvl="0" marL="0" marR="0" rtl="0" algn="l">
                        <a:spcBef>
                          <a:spcPts val="0"/>
                        </a:spcBef>
                        <a:spcAft>
                          <a:spcPts val="0"/>
                        </a:spcAft>
                        <a:buNone/>
                      </a:pPr>
                      <a:r>
                        <a:rPr lang="en-US" sz="1800"/>
                        <a:t>product_id (FK)</a:t>
                      </a:r>
                      <a:endParaRPr sz="1800"/>
                    </a:p>
                  </a:txBody>
                  <a:tcPr marT="45725" marB="45725" marR="91450" marL="91450"/>
                </a:tc>
              </a:tr>
              <a:tr h="370850">
                <a:tc>
                  <a:txBody>
                    <a:bodyPr/>
                    <a:lstStyle/>
                    <a:p>
                      <a:pPr indent="0" lvl="0" marL="0" marR="0" rtl="0" algn="l">
                        <a:spcBef>
                          <a:spcPts val="0"/>
                        </a:spcBef>
                        <a:spcAft>
                          <a:spcPts val="0"/>
                        </a:spcAft>
                        <a:buNone/>
                      </a:pPr>
                      <a:r>
                        <a:rPr lang="en-US" sz="1600"/>
                        <a:t>Email</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product_type</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start_date</a:t>
                      </a:r>
                      <a:endParaRPr sz="1800"/>
                    </a:p>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600"/>
                        <a:t>Password_hash</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Price</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end_date</a:t>
                      </a:r>
                      <a:endParaRPr sz="1800"/>
                    </a:p>
                  </a:txBody>
                  <a:tcPr marT="45725" marB="45725" marR="91450" marL="91450"/>
                </a:tc>
              </a:tr>
              <a:tr h="370850">
                <a:tc>
                  <a:txBody>
                    <a:bodyPr/>
                    <a:lstStyle/>
                    <a:p>
                      <a:pPr indent="0" lvl="0" marL="0" marR="0" rtl="0" algn="l">
                        <a:spcBef>
                          <a:spcPts val="0"/>
                        </a:spcBef>
                        <a:spcAft>
                          <a:spcPts val="0"/>
                        </a:spcAft>
                        <a:buNone/>
                      </a:pPr>
                      <a:r>
                        <a:rPr lang="en-US" sz="1600"/>
                        <a:t>Role(buyer/seller)</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seller_id(FK)</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rPr lang="en-US" sz="1800"/>
                        <a:t>status</a:t>
                      </a:r>
                      <a:endParaRPr sz="1800"/>
                    </a:p>
                  </a:txBody>
                  <a:tcPr marT="45725" marB="45725" marR="91450" marL="91450"/>
                </a:tc>
              </a:tr>
              <a:tr h="370850">
                <a:tc>
                  <a:txBody>
                    <a:bodyPr/>
                    <a:lstStyle/>
                    <a:p>
                      <a:pPr indent="0" lvl="0" marL="0" marR="0" rtl="0" algn="l">
                        <a:spcBef>
                          <a:spcPts val="0"/>
                        </a:spcBef>
                        <a:spcAft>
                          <a:spcPts val="0"/>
                        </a:spcAft>
                        <a:buNone/>
                      </a:pPr>
                      <a:r>
                        <a:rPr lang="en-US" sz="1600"/>
                        <a:t>created_at</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category_id(FK)</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600"/>
                        <a:t>account_status</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external_url</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created_at</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t/>
                      </a:r>
                      <a:endParaRPr sz="1600"/>
                    </a:p>
                  </a:txBody>
                  <a:tcPr marT="45725" marB="45725" marR="91450" marL="91450"/>
                </a:tc>
                <a:tc>
                  <a:txBody>
                    <a:bodyPr/>
                    <a:lstStyle/>
                    <a:p>
                      <a:pPr indent="0" lvl="0" marL="0" marR="0" rtl="0" algn="l">
                        <a:spcBef>
                          <a:spcPts val="0"/>
                        </a:spcBef>
                        <a:spcAft>
                          <a:spcPts val="0"/>
                        </a:spcAft>
                        <a:buNone/>
                      </a:pPr>
                      <a:r>
                        <a:rPr lang="en-US" sz="1600"/>
                        <a:t>status</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graphicFrame>
        <p:nvGraphicFramePr>
          <p:cNvPr id="109" name="Google Shape;109;p5"/>
          <p:cNvGraphicFramePr/>
          <p:nvPr/>
        </p:nvGraphicFramePr>
        <p:xfrm>
          <a:off x="242298" y="1486578"/>
          <a:ext cx="3000000" cy="3000000"/>
        </p:xfrm>
        <a:graphic>
          <a:graphicData uri="http://schemas.openxmlformats.org/drawingml/2006/table">
            <a:tbl>
              <a:tblPr bandRow="1" firstRow="1">
                <a:noFill/>
                <a:tableStyleId>{A299E111-B4A6-44F6-8984-DE8A47B74E7F}</a:tableStyleId>
              </a:tblPr>
              <a:tblGrid>
                <a:gridCol w="1808925"/>
                <a:gridCol w="1808925"/>
                <a:gridCol w="1808925"/>
              </a:tblGrid>
              <a:tr h="370850">
                <a:tc>
                  <a:txBody>
                    <a:bodyPr/>
                    <a:lstStyle/>
                    <a:p>
                      <a:pPr indent="0" lvl="0" marL="0" marR="0" rtl="0" algn="ctr">
                        <a:spcBef>
                          <a:spcPts val="0"/>
                        </a:spcBef>
                        <a:spcAft>
                          <a:spcPts val="0"/>
                        </a:spcAft>
                        <a:buNone/>
                      </a:pPr>
                      <a:r>
                        <a:rPr lang="en-US" sz="1800"/>
                        <a:t>TABLE-7</a:t>
                      </a:r>
                      <a:endParaRPr sz="1800"/>
                    </a:p>
                  </a:txBody>
                  <a:tcPr marT="45725" marB="45725" marR="91450" marL="91450" anchor="ctr"/>
                </a:tc>
                <a:tc>
                  <a:txBody>
                    <a:bodyPr/>
                    <a:lstStyle/>
                    <a:p>
                      <a:pPr indent="0" lvl="0" marL="0" marR="0" rtl="0" algn="ctr">
                        <a:spcBef>
                          <a:spcPts val="0"/>
                        </a:spcBef>
                        <a:spcAft>
                          <a:spcPts val="0"/>
                        </a:spcAft>
                        <a:buNone/>
                      </a:pPr>
                      <a:r>
                        <a:rPr lang="en-US" sz="1800"/>
                        <a:t>TABLE-8</a:t>
                      </a:r>
                      <a:endParaRPr sz="1800"/>
                    </a:p>
                  </a:txBody>
                  <a:tcPr marT="45725" marB="45725" marR="91450" marL="91450" anchor="ctr"/>
                </a:tc>
                <a:tc>
                  <a:txBody>
                    <a:bodyPr/>
                    <a:lstStyle/>
                    <a:p>
                      <a:pPr indent="0" lvl="0" marL="0" marR="0" rtl="0" algn="ctr">
                        <a:spcBef>
                          <a:spcPts val="0"/>
                        </a:spcBef>
                        <a:spcAft>
                          <a:spcPts val="0"/>
                        </a:spcAft>
                        <a:buNone/>
                      </a:pPr>
                      <a:r>
                        <a:rPr lang="en-US" sz="1800"/>
                        <a:t>TABLE-9</a:t>
                      </a:r>
                      <a:endParaRPr sz="1800"/>
                    </a:p>
                  </a:txBody>
                  <a:tcPr marT="45725" marB="45725" marR="91450" marL="91450" anchor="ctr"/>
                </a:tc>
              </a:tr>
              <a:tr h="370850">
                <a:tc>
                  <a:txBody>
                    <a:bodyPr/>
                    <a:lstStyle/>
                    <a:p>
                      <a:pPr indent="0" lvl="0" marL="0" marR="0" rtl="0" algn="l">
                        <a:spcBef>
                          <a:spcPts val="0"/>
                        </a:spcBef>
                        <a:spcAft>
                          <a:spcPts val="0"/>
                        </a:spcAft>
                        <a:buNone/>
                      </a:pPr>
                      <a:r>
                        <a:rPr b="1" lang="en-US" sz="1800"/>
                        <a:t>Payments</a:t>
                      </a:r>
                      <a:endParaRPr b="1" sz="1800"/>
                    </a:p>
                  </a:txBody>
                  <a:tcPr marT="45725" marB="45725" marR="91450" marL="91450"/>
                </a:tc>
                <a:tc>
                  <a:txBody>
                    <a:bodyPr/>
                    <a:lstStyle/>
                    <a:p>
                      <a:pPr indent="0" lvl="0" marL="0" marR="0" rtl="0" algn="l">
                        <a:spcBef>
                          <a:spcPts val="0"/>
                        </a:spcBef>
                        <a:spcAft>
                          <a:spcPts val="0"/>
                        </a:spcAft>
                        <a:buNone/>
                      </a:pPr>
                      <a:r>
                        <a:rPr b="1" lang="en-US" sz="1800"/>
                        <a:t>Reviews</a:t>
                      </a:r>
                      <a:endParaRPr b="1" sz="1800"/>
                    </a:p>
                  </a:txBody>
                  <a:tcPr marT="45725" marB="45725" marR="91450" marL="91450"/>
                </a:tc>
                <a:tc>
                  <a:txBody>
                    <a:bodyPr/>
                    <a:lstStyle/>
                    <a:p>
                      <a:pPr indent="0" lvl="0" marL="0" marR="0" rtl="0" algn="l">
                        <a:spcBef>
                          <a:spcPts val="0"/>
                        </a:spcBef>
                        <a:spcAft>
                          <a:spcPts val="0"/>
                        </a:spcAft>
                        <a:buNone/>
                      </a:pPr>
                      <a:r>
                        <a:rPr b="1" lang="en-US" sz="1800"/>
                        <a:t>Seller_Payouts</a:t>
                      </a:r>
                      <a:endParaRPr b="1" sz="1800"/>
                    </a:p>
                  </a:txBody>
                  <a:tcPr marT="45725" marB="45725" marR="91450" marL="91450"/>
                </a:tc>
              </a:tr>
              <a:tr h="370850">
                <a:tc>
                  <a:txBody>
                    <a:bodyPr/>
                    <a:lstStyle/>
                    <a:p>
                      <a:pPr indent="0" lvl="0" marL="0" marR="0" rtl="0" algn="l">
                        <a:spcBef>
                          <a:spcPts val="0"/>
                        </a:spcBef>
                        <a:spcAft>
                          <a:spcPts val="0"/>
                        </a:spcAft>
                        <a:buNone/>
                      </a:pPr>
                      <a:r>
                        <a:rPr lang="en-US" sz="1600"/>
                        <a:t>payment_id (PK)</a:t>
                      </a:r>
                      <a:endParaRPr sz="1600"/>
                    </a:p>
                  </a:txBody>
                  <a:tcPr marT="45725" marB="45725" marR="91450" marL="91450"/>
                </a:tc>
                <a:tc>
                  <a:txBody>
                    <a:bodyPr/>
                    <a:lstStyle/>
                    <a:p>
                      <a:pPr indent="0" lvl="0" marL="0" marR="0" rtl="0" algn="l">
                        <a:spcBef>
                          <a:spcPts val="0"/>
                        </a:spcBef>
                        <a:spcAft>
                          <a:spcPts val="0"/>
                        </a:spcAft>
                        <a:buNone/>
                      </a:pPr>
                      <a:r>
                        <a:rPr lang="en-US" sz="1600"/>
                        <a:t>review_id (PK)</a:t>
                      </a:r>
                      <a:endParaRPr sz="1600"/>
                    </a:p>
                  </a:txBody>
                  <a:tcPr marT="45725" marB="45725" marR="91450" marL="91450"/>
                </a:tc>
                <a:tc>
                  <a:txBody>
                    <a:bodyPr/>
                    <a:lstStyle/>
                    <a:p>
                      <a:pPr indent="0" lvl="0" marL="0" marR="0" rtl="0" algn="l">
                        <a:spcBef>
                          <a:spcPts val="0"/>
                        </a:spcBef>
                        <a:spcAft>
                          <a:spcPts val="0"/>
                        </a:spcAft>
                        <a:buNone/>
                      </a:pPr>
                      <a:r>
                        <a:rPr lang="en-US" sz="1800"/>
                        <a:t>payout_id (PK)</a:t>
                      </a:r>
                      <a:endParaRPr sz="1800"/>
                    </a:p>
                  </a:txBody>
                  <a:tcPr marT="45725" marB="45725" marR="91450" marL="91450"/>
                </a:tc>
              </a:tr>
              <a:tr h="370850">
                <a:tc>
                  <a:txBody>
                    <a:bodyPr/>
                    <a:lstStyle/>
                    <a:p>
                      <a:pPr indent="0" lvl="0" marL="0" marR="0" rtl="0" algn="l">
                        <a:spcBef>
                          <a:spcPts val="0"/>
                        </a:spcBef>
                        <a:spcAft>
                          <a:spcPts val="0"/>
                        </a:spcAft>
                        <a:buNone/>
                      </a:pPr>
                      <a:r>
                        <a:rPr lang="en-US" sz="1600"/>
                        <a:t>subscription_id(FK)</a:t>
                      </a:r>
                      <a:endParaRPr sz="1600"/>
                    </a:p>
                  </a:txBody>
                  <a:tcPr marT="45725" marB="45725" marR="91450" marL="91450"/>
                </a:tc>
                <a:tc>
                  <a:txBody>
                    <a:bodyPr/>
                    <a:lstStyle/>
                    <a:p>
                      <a:pPr indent="0" lvl="0" marL="0" marR="0" rtl="0" algn="l">
                        <a:spcBef>
                          <a:spcPts val="0"/>
                        </a:spcBef>
                        <a:spcAft>
                          <a:spcPts val="0"/>
                        </a:spcAft>
                        <a:buNone/>
                      </a:pPr>
                      <a:r>
                        <a:rPr lang="en-US" sz="1600"/>
                        <a:t>product_id (FK)</a:t>
                      </a:r>
                      <a:endParaRPr sz="1600"/>
                    </a:p>
                  </a:txBody>
                  <a:tcPr marT="45725" marB="45725" marR="91450" marL="91450"/>
                </a:tc>
                <a:tc>
                  <a:txBody>
                    <a:bodyPr/>
                    <a:lstStyle/>
                    <a:p>
                      <a:pPr indent="0" lvl="0" marL="0" marR="0" rtl="0" algn="l">
                        <a:spcBef>
                          <a:spcPts val="0"/>
                        </a:spcBef>
                        <a:spcAft>
                          <a:spcPts val="0"/>
                        </a:spcAft>
                        <a:buNone/>
                      </a:pPr>
                      <a:r>
                        <a:rPr lang="en-US" sz="1800"/>
                        <a:t>seller_id (FK)</a:t>
                      </a:r>
                      <a:endParaRPr sz="1800"/>
                    </a:p>
                  </a:txBody>
                  <a:tcPr marT="45725" marB="45725" marR="91450" marL="91450"/>
                </a:tc>
              </a:tr>
              <a:tr h="370850">
                <a:tc>
                  <a:txBody>
                    <a:bodyPr/>
                    <a:lstStyle/>
                    <a:p>
                      <a:pPr indent="0" lvl="0" marL="0" marR="0" rtl="0" algn="l">
                        <a:spcBef>
                          <a:spcPts val="0"/>
                        </a:spcBef>
                        <a:spcAft>
                          <a:spcPts val="0"/>
                        </a:spcAft>
                        <a:buNone/>
                      </a:pPr>
                      <a:r>
                        <a:rPr lang="en-US" sz="1600"/>
                        <a:t>payment_date</a:t>
                      </a:r>
                      <a:endParaRPr sz="1600"/>
                    </a:p>
                  </a:txBody>
                  <a:tcPr marT="45725" marB="45725" marR="91450" marL="91450"/>
                </a:tc>
                <a:tc>
                  <a:txBody>
                    <a:bodyPr/>
                    <a:lstStyle/>
                    <a:p>
                      <a:pPr indent="0" lvl="0" marL="0" marR="0" rtl="0" algn="l">
                        <a:spcBef>
                          <a:spcPts val="0"/>
                        </a:spcBef>
                        <a:spcAft>
                          <a:spcPts val="0"/>
                        </a:spcAft>
                        <a:buNone/>
                      </a:pPr>
                      <a:r>
                        <a:rPr lang="en-US" sz="1600"/>
                        <a:t>buyer_id (FK)</a:t>
                      </a:r>
                      <a:endParaRPr sz="1600"/>
                    </a:p>
                  </a:txBody>
                  <a:tcPr marT="45725" marB="45725" marR="91450" marL="91450"/>
                </a:tc>
                <a:tc>
                  <a:txBody>
                    <a:bodyPr/>
                    <a:lstStyle/>
                    <a:p>
                      <a:pPr indent="0" lvl="0" marL="0" marR="0" rtl="0" algn="l">
                        <a:spcBef>
                          <a:spcPts val="0"/>
                        </a:spcBef>
                        <a:spcAft>
                          <a:spcPts val="0"/>
                        </a:spcAft>
                        <a:buNone/>
                      </a:pPr>
                      <a:r>
                        <a:rPr lang="en-US" sz="1800"/>
                        <a:t>payout_date</a:t>
                      </a:r>
                      <a:endParaRPr sz="1800"/>
                    </a:p>
                  </a:txBody>
                  <a:tcPr marT="45725" marB="45725" marR="91450" marL="91450"/>
                </a:tc>
              </a:tr>
              <a:tr h="370850">
                <a:tc>
                  <a:txBody>
                    <a:bodyPr/>
                    <a:lstStyle/>
                    <a:p>
                      <a:pPr indent="0" lvl="0" marL="0" marR="0" rtl="0" algn="l">
                        <a:spcBef>
                          <a:spcPts val="0"/>
                        </a:spcBef>
                        <a:spcAft>
                          <a:spcPts val="0"/>
                        </a:spcAft>
                        <a:buNone/>
                      </a:pPr>
                      <a:r>
                        <a:rPr lang="en-US" sz="1600"/>
                        <a:t>Amount</a:t>
                      </a:r>
                      <a:endParaRPr sz="1600"/>
                    </a:p>
                  </a:txBody>
                  <a:tcPr marT="45725" marB="45725" marR="91450" marL="91450"/>
                </a:tc>
                <a:tc>
                  <a:txBody>
                    <a:bodyPr/>
                    <a:lstStyle/>
                    <a:p>
                      <a:pPr indent="0" lvl="0" marL="0" marR="0" rtl="0" algn="l">
                        <a:spcBef>
                          <a:spcPts val="0"/>
                        </a:spcBef>
                        <a:spcAft>
                          <a:spcPts val="0"/>
                        </a:spcAft>
                        <a:buNone/>
                      </a:pPr>
                      <a:r>
                        <a:rPr lang="en-US" sz="1600"/>
                        <a:t>rating</a:t>
                      </a:r>
                      <a:endParaRPr sz="1600"/>
                    </a:p>
                  </a:txBody>
                  <a:tcPr marT="45725" marB="45725" marR="91450" marL="91450"/>
                </a:tc>
                <a:tc>
                  <a:txBody>
                    <a:bodyPr/>
                    <a:lstStyle/>
                    <a:p>
                      <a:pPr indent="0" lvl="0" marL="0" marR="0" rtl="0" algn="l">
                        <a:spcBef>
                          <a:spcPts val="0"/>
                        </a:spcBef>
                        <a:spcAft>
                          <a:spcPts val="0"/>
                        </a:spcAft>
                        <a:buNone/>
                      </a:pPr>
                      <a:r>
                        <a:rPr lang="en-US" sz="1800"/>
                        <a:t>total_amount</a:t>
                      </a:r>
                      <a:endParaRPr sz="1800"/>
                    </a:p>
                  </a:txBody>
                  <a:tcPr marT="45725" marB="45725" marR="91450" marL="91450"/>
                </a:tc>
              </a:tr>
              <a:tr h="370850">
                <a:tc>
                  <a:txBody>
                    <a:bodyPr/>
                    <a:lstStyle/>
                    <a:p>
                      <a:pPr indent="0" lvl="0" marL="0" marR="0" rtl="0" algn="l">
                        <a:spcBef>
                          <a:spcPts val="0"/>
                        </a:spcBef>
                        <a:spcAft>
                          <a:spcPts val="0"/>
                        </a:spcAft>
                        <a:buNone/>
                      </a:pPr>
                      <a:r>
                        <a:rPr lang="en-US" sz="1600"/>
                        <a:t>Commission</a:t>
                      </a:r>
                      <a:endParaRPr sz="1600"/>
                    </a:p>
                  </a:txBody>
                  <a:tcPr marT="45725" marB="45725" marR="91450" marL="91450"/>
                </a:tc>
                <a:tc>
                  <a:txBody>
                    <a:bodyPr/>
                    <a:lstStyle/>
                    <a:p>
                      <a:pPr indent="0" lvl="0" marL="0" marR="0" rtl="0" algn="l">
                        <a:spcBef>
                          <a:spcPts val="0"/>
                        </a:spcBef>
                        <a:spcAft>
                          <a:spcPts val="0"/>
                        </a:spcAft>
                        <a:buNone/>
                      </a:pPr>
                      <a:r>
                        <a:rPr lang="en-US" sz="1600"/>
                        <a:t>Comment</a:t>
                      </a:r>
                      <a:endParaRPr sz="1600"/>
                    </a:p>
                  </a:txBody>
                  <a:tcPr marT="45725" marB="45725" marR="91450" marL="91450"/>
                </a:tc>
                <a:tc>
                  <a:txBody>
                    <a:bodyPr/>
                    <a:lstStyle/>
                    <a:p>
                      <a:pPr indent="0" lvl="0" marL="0" marR="0" rtl="0" algn="l">
                        <a:spcBef>
                          <a:spcPts val="0"/>
                        </a:spcBef>
                        <a:spcAft>
                          <a:spcPts val="0"/>
                        </a:spcAft>
                        <a:buNone/>
                      </a:pPr>
                      <a:r>
                        <a:rPr lang="en-US" sz="1800"/>
                        <a:t>payout_status</a:t>
                      </a:r>
                      <a:endParaRPr sz="1800"/>
                    </a:p>
                  </a:txBody>
                  <a:tcPr marT="45725" marB="45725" marR="91450" marL="91450"/>
                </a:tc>
              </a:tr>
              <a:tr h="370850">
                <a:tc>
                  <a:txBody>
                    <a:bodyPr/>
                    <a:lstStyle/>
                    <a:p>
                      <a:pPr indent="0" lvl="0" marL="0" marR="0" rtl="0" algn="l">
                        <a:spcBef>
                          <a:spcPts val="0"/>
                        </a:spcBef>
                        <a:spcAft>
                          <a:spcPts val="0"/>
                        </a:spcAft>
                        <a:buNone/>
                      </a:pPr>
                      <a:r>
                        <a:rPr lang="en-US" sz="1600"/>
                        <a:t>seller_earning</a:t>
                      </a:r>
                      <a:endParaRPr sz="1600"/>
                    </a:p>
                  </a:txBody>
                  <a:tcPr marT="45725" marB="45725" marR="91450" marL="91450"/>
                </a:tc>
                <a:tc>
                  <a:txBody>
                    <a:bodyPr/>
                    <a:lstStyle/>
                    <a:p>
                      <a:pPr indent="0" lvl="0" marL="0" marR="0" rtl="0" algn="l">
                        <a:spcBef>
                          <a:spcPts val="0"/>
                        </a:spcBef>
                        <a:spcAft>
                          <a:spcPts val="0"/>
                        </a:spcAft>
                        <a:buNone/>
                      </a:pPr>
                      <a:r>
                        <a:rPr lang="en-US" sz="1600"/>
                        <a:t>review_date</a:t>
                      </a:r>
                      <a:endParaRPr sz="16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r h="370850">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Data Source</a:t>
            </a:r>
            <a:endParaRPr/>
          </a:p>
        </p:txBody>
      </p:sp>
      <p:sp>
        <p:nvSpPr>
          <p:cNvPr id="115" name="Google Shape;115;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Data will be synthetically generated using the Python Faker library: https://faker.readthedocs.io/ </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The schema, relationships, and financial rules will be defined programmatically. Integrity will be verified through automated testing before database import.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Weekly Timeline</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 Knowing the business (mini-world) environment</a:t>
            </a:r>
            <a:endParaRPr/>
          </a:p>
          <a:p>
            <a:pPr indent="0" lvl="0" marL="0" rtl="0" algn="l">
              <a:lnSpc>
                <a:spcPct val="90000"/>
              </a:lnSpc>
              <a:spcBef>
                <a:spcPts val="1000"/>
              </a:spcBef>
              <a:spcAft>
                <a:spcPts val="0"/>
              </a:spcAft>
              <a:buClr>
                <a:schemeClr val="dk1"/>
              </a:buClr>
              <a:buSzPts val="2800"/>
              <a:buNone/>
            </a:pPr>
            <a:r>
              <a:rPr lang="en-US"/>
              <a:t>* Conceptual Model</a:t>
            </a:r>
            <a:endParaRPr/>
          </a:p>
          <a:p>
            <a:pPr indent="0" lvl="0" marL="0" rtl="0" algn="l">
              <a:lnSpc>
                <a:spcPct val="90000"/>
              </a:lnSpc>
              <a:spcBef>
                <a:spcPts val="1000"/>
              </a:spcBef>
              <a:spcAft>
                <a:spcPts val="0"/>
              </a:spcAft>
              <a:buClr>
                <a:schemeClr val="dk1"/>
              </a:buClr>
              <a:buSzPts val="2800"/>
              <a:buNone/>
            </a:pPr>
            <a:r>
              <a:rPr lang="en-US"/>
              <a:t>	- Schemas</a:t>
            </a:r>
            <a:endParaRPr/>
          </a:p>
          <a:p>
            <a:pPr indent="0" lvl="0" marL="0" rtl="0" algn="l">
              <a:lnSpc>
                <a:spcPct val="90000"/>
              </a:lnSpc>
              <a:spcBef>
                <a:spcPts val="1000"/>
              </a:spcBef>
              <a:spcAft>
                <a:spcPts val="0"/>
              </a:spcAft>
              <a:buClr>
                <a:schemeClr val="dk1"/>
              </a:buClr>
              <a:buSzPts val="2800"/>
              <a:buNone/>
            </a:pPr>
            <a:r>
              <a:rPr lang="en-US"/>
              <a:t>	- Constraints</a:t>
            </a:r>
            <a:endParaRPr/>
          </a:p>
          <a:p>
            <a:pPr indent="0" lvl="0" marL="0" rtl="0" algn="l">
              <a:lnSpc>
                <a:spcPct val="90000"/>
              </a:lnSpc>
              <a:spcBef>
                <a:spcPts val="1000"/>
              </a:spcBef>
              <a:spcAft>
                <a:spcPts val="0"/>
              </a:spcAft>
              <a:buClr>
                <a:schemeClr val="dk1"/>
              </a:buClr>
              <a:buSzPts val="2800"/>
              <a:buNone/>
            </a:pPr>
            <a:r>
              <a:rPr lang="en-US"/>
              <a:t>	- ER-D</a:t>
            </a:r>
            <a:endParaRPr/>
          </a:p>
          <a:p>
            <a:pPr indent="0" lvl="0" marL="0" rtl="0" algn="l">
              <a:lnSpc>
                <a:spcPct val="90000"/>
              </a:lnSpc>
              <a:spcBef>
                <a:spcPts val="1000"/>
              </a:spcBef>
              <a:spcAft>
                <a:spcPts val="0"/>
              </a:spcAft>
              <a:buClr>
                <a:schemeClr val="dk1"/>
              </a:buClr>
              <a:buSzPts val="2800"/>
              <a:buNone/>
            </a:pPr>
            <a:r>
              <a:rPr lang="en-US"/>
              <a:t>* Create tables</a:t>
            </a:r>
            <a:endParaRPr/>
          </a:p>
          <a:p>
            <a:pPr indent="0" lvl="0" marL="0" rtl="0" algn="l">
              <a:lnSpc>
                <a:spcPct val="90000"/>
              </a:lnSpc>
              <a:spcBef>
                <a:spcPts val="1000"/>
              </a:spcBef>
              <a:spcAft>
                <a:spcPts val="0"/>
              </a:spcAft>
              <a:buClr>
                <a:schemeClr val="dk1"/>
              </a:buClr>
              <a:buSzPts val="2800"/>
              <a:buNone/>
            </a:pPr>
            <a:r>
              <a:rPr lang="en-US"/>
              <a:t>* Populate tables</a:t>
            </a:r>
            <a:endParaRPr/>
          </a:p>
          <a:p>
            <a:pPr indent="0" lvl="0" marL="0" rtl="0" algn="l">
              <a:lnSpc>
                <a:spcPct val="90000"/>
              </a:lnSpc>
              <a:spcBef>
                <a:spcPts val="1000"/>
              </a:spcBef>
              <a:spcAft>
                <a:spcPts val="0"/>
              </a:spcAft>
              <a:buClr>
                <a:schemeClr val="dk1"/>
              </a:buClr>
              <a:buSzPts val="2800"/>
              <a:buNone/>
            </a:pPr>
            <a:r>
              <a:rPr lang="en-US"/>
              <a:t>* Run Queries</a:t>
            </a:r>
            <a:endParaRPr/>
          </a:p>
          <a:p>
            <a:pPr indent="0" lvl="0" marL="0" rtl="0" algn="l">
              <a:lnSpc>
                <a:spcPct val="90000"/>
              </a:lnSpc>
              <a:spcBef>
                <a:spcPts val="1000"/>
              </a:spcBef>
              <a:spcAft>
                <a:spcPts val="0"/>
              </a:spcAft>
              <a:buClr>
                <a:schemeClr val="dk1"/>
              </a:buClr>
              <a:buSzPts val="2800"/>
              <a:buNone/>
            </a:pPr>
            <a:r>
              <a:rPr lang="en-US"/>
              <a:t>* Analyze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Credits and References</a:t>
            </a:r>
            <a:endParaRPr/>
          </a:p>
        </p:txBody>
      </p:sp>
      <p:sp>
        <p:nvSpPr>
          <p:cNvPr id="127" name="Google Shape;127;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2018-04-19T19:36:03Z</dcterms:created>
  <dc:creator>Omer</dc:creator>
</cp:coreProperties>
</file>