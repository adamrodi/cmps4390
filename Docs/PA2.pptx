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73" r:id="rId24"/>
    <p:sldId id="284" r:id="rId25"/>
    <p:sldId id="285" r:id="rId26"/>
    <p:sldId id="286" r:id="rId27"/>
    <p:sldId id="287" r:id="rId28"/>
    <p:sldId id="288" r:id="rId29"/>
    <p:sldId id="289" r:id="rId30"/>
    <p:sldId id="268" r:id="rId31"/>
  </p:sldIdLst>
  <p:sldSz cx="12192000" cy="6858000"/>
  <p:notesSz cx="9309100" cy="70532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3" roundtripDataSignature="AMtx7mi83n313+4sKTzKdoD5rtEtzXbB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05"/>
    <p:restoredTop sz="94725"/>
  </p:normalViewPr>
  <p:slideViewPr>
    <p:cSldViewPr snapToGrid="0">
      <p:cViewPr>
        <p:scale>
          <a:sx n="90" d="100"/>
          <a:sy n="90" d="100"/>
        </p:scale>
        <p:origin x="-8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551825" y="528975"/>
            <a:ext cx="6206375" cy="26449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51825" y="528975"/>
            <a:ext cx="6206375" cy="26449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51825" y="528975"/>
            <a:ext cx="6206375" cy="26449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356e2efa7_0_11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g3d356e2efa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356e2efa7_0_33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3d356e2efa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356e2efa7_0_49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g3d356e2efa7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356e2efa7_0_59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g3d356e2efa7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356e2efa7_0_77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3d356e2efa7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51825" y="528975"/>
            <a:ext cx="6206375" cy="26449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356e2efa7_0_103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d356e2efa7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356e2efa7_0_117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00" cy="31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g3d356e2efa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05050" y="528638"/>
            <a:ext cx="4700588" cy="2644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>
            <a:spLocks noGrp="1"/>
          </p:cNvSpPr>
          <p:nvPr>
            <p:ph type="body" idx="1"/>
          </p:nvPr>
        </p:nvSpPr>
        <p:spPr>
          <a:xfrm>
            <a:off x="930900" y="3350275"/>
            <a:ext cx="7447275" cy="317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51825" y="528975"/>
            <a:ext cx="6206375" cy="26449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Project Assignment 2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TEAM MANGO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Adam Rodi, Samiksha Gnawali, Suyog Karki</a:t>
            </a:r>
            <a:endParaRPr/>
          </a:p>
        </p:txBody>
      </p:sp>
      <p:sp>
        <p:nvSpPr>
          <p:cNvPr id="86" name="Google Shape;86;p1"/>
          <p:cNvSpPr/>
          <p:nvPr/>
        </p:nvSpPr>
        <p:spPr>
          <a:xfrm>
            <a:off x="4306784" y="452281"/>
            <a:ext cx="4160323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must </a:t>
            </a:r>
            <a:r>
              <a:rPr lang="en-US" sz="18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exactly follow </a:t>
            </a:r>
            <a:r>
              <a:rPr lang="en-US" sz="1800" b="1" i="1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template.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 not change the order and the format.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 background coloring or formatting.</a:t>
            </a:r>
            <a:endParaRPr sz="18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 b="1"/>
              <a:t>DDL QUERIES</a:t>
            </a:r>
            <a:endParaRPr/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b="1"/>
              <a:t>Instructions: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i="1"/>
              <a:t>- must include </a:t>
            </a:r>
            <a:r>
              <a:rPr lang="en-US" b="1" i="1">
                <a:solidFill>
                  <a:srgbClr val="FF0000"/>
                </a:solidFill>
              </a:rPr>
              <a:t>ALL</a:t>
            </a:r>
            <a:r>
              <a:rPr lang="en-US" i="1"/>
              <a:t> queries listed in Queries.sql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i="1"/>
              <a:t>- must follow the </a:t>
            </a:r>
            <a:r>
              <a:rPr lang="en-US" b="1" i="1"/>
              <a:t>exact</a:t>
            </a:r>
            <a:r>
              <a:rPr lang="en-US" i="1"/>
              <a:t> format provided in the template slide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455068" cy="4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ct val="100000"/>
            </a:pPr>
            <a:r>
              <a:rPr lang="en-US" sz="4000" dirty="0"/>
              <a:t>QD1: CREATE TABLE</a:t>
            </a:r>
            <a:endParaRPr sz="4800" dirty="0"/>
          </a:p>
        </p:txBody>
      </p:sp>
      <p:sp>
        <p:nvSpPr>
          <p:cNvPr id="98" name="Google Shape;98;p3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1873" cy="431890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DATABASE AIMarketplace;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AIMarketplace;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4751625" y="912550"/>
            <a:ext cx="7307700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and select the database</a:t>
            </a:r>
            <a:endParaRPr dirty="0"/>
          </a:p>
        </p:txBody>
      </p:sp>
      <p:pic>
        <p:nvPicPr>
          <p:cNvPr id="102" name="Google Shape;10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1626" y="912550"/>
            <a:ext cx="7307699" cy="5032899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356e2efa7_0_11"/>
          <p:cNvSpPr txBox="1">
            <a:spLocks noGrp="1"/>
          </p:cNvSpPr>
          <p:nvPr>
            <p:ph type="title"/>
          </p:nvPr>
        </p:nvSpPr>
        <p:spPr>
          <a:xfrm>
            <a:off x="176892" y="152854"/>
            <a:ext cx="4395107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SzPct val="100000"/>
            </a:pPr>
            <a:r>
              <a:rPr lang="en-US" sz="4000" dirty="0"/>
              <a:t>QD1: CREATE TABLE</a:t>
            </a:r>
            <a:endParaRPr sz="4000" dirty="0"/>
          </a:p>
        </p:txBody>
      </p:sp>
      <p:sp>
        <p:nvSpPr>
          <p:cNvPr id="108" name="Google Shape;108;g3d356e2efa7_0_11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 fontScale="47500" lnSpcReduction="20000"/>
          </a:bodyPr>
          <a:lstStyle/>
          <a:p>
            <a:pPr marL="228600" lvl="0" indent="-38862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1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endParaRPr sz="1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CREATE TABLE Users (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user_id            INT           PRIMARY KEY,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first_name     VARCHAR(50)   NOT NULL,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last_name      VARCHAR(50)   NOT NULL,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email               VARCHAR(100)  NOT NULL UNIQUE,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password_hash  VARCHAR(255)  NOT NULL,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role                   VARCHAR(10)   NOT NULL,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created_at       DATETIME      DEFAULT GETDATE(),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    account_status VARCHAR(20)   DEFAULT 'active'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);</a:t>
            </a: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1428"/>
              <a:buFont typeface="Arial"/>
              <a:buNone/>
            </a:pPr>
            <a:r>
              <a:rPr lang="en-US" sz="3500"/>
              <a:t>GO</a:t>
            </a:r>
            <a:endParaRPr sz="35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d356e2efa7_0_11"/>
          <p:cNvSpPr/>
          <p:nvPr/>
        </p:nvSpPr>
        <p:spPr>
          <a:xfrm>
            <a:off x="4751625" y="912550"/>
            <a:ext cx="7307700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g3d356e2efa7_0_11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11" name="Google Shape;111;g3d356e2efa7_0_11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User  for the AI Marketplace Platform.</a:t>
            </a:r>
            <a:b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/>
          </a:p>
        </p:txBody>
      </p:sp>
      <p:pic>
        <p:nvPicPr>
          <p:cNvPr id="112" name="Google Shape;112;g3d356e2efa7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1625" y="958050"/>
            <a:ext cx="7459499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356e2efa7_0_33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3134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/>
              <a:t>QD2: ALTER TABLE</a:t>
            </a:r>
          </a:p>
        </p:txBody>
      </p:sp>
      <p:sp>
        <p:nvSpPr>
          <p:cNvPr id="118" name="Google Shape;118;g3d356e2efa7_0_33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ALTER TABLE Users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ADD phone_number VARCHAR(20) DEFAULT 'N/A';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GO</a:t>
            </a:r>
            <a:endParaRPr sz="2200"/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</p:txBody>
      </p:sp>
      <p:sp>
        <p:nvSpPr>
          <p:cNvPr id="119" name="Google Shape;119;g3d356e2efa7_0_33"/>
          <p:cNvSpPr/>
          <p:nvPr/>
        </p:nvSpPr>
        <p:spPr>
          <a:xfrm>
            <a:off x="4751625" y="912550"/>
            <a:ext cx="7307700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356e2efa7_0_33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21" name="Google Shape;121;g3d356e2efa7_0_33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 </a:t>
            </a:r>
            <a:b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 User table by Adding a phone_number column to store seller contact information on the platform.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/>
          </a:p>
        </p:txBody>
      </p:sp>
      <p:pic>
        <p:nvPicPr>
          <p:cNvPr id="122" name="Google Shape;122;g3d356e2efa7_0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7900" y="912550"/>
            <a:ext cx="7307699" cy="49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356e2efa7_0_49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5024694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2400" dirty="0"/>
              <a:t>QD3: ADD "CHECK" CONSTRAINT</a:t>
            </a:r>
          </a:p>
        </p:txBody>
      </p:sp>
      <p:sp>
        <p:nvSpPr>
          <p:cNvPr id="128" name="Google Shape;128;g3d356e2efa7_0_49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/>
              <a:t>ALTER TABLE Users</a:t>
            </a: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/>
              <a:t>ADD CONSTRAINT chk_user_role </a:t>
            </a: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/>
              <a:t>CHECK (role IN ('buyer', 'seller'));</a:t>
            </a: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/>
              <a:t>GO</a:t>
            </a:r>
            <a:endParaRPr sz="26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d356e2efa7_0_49"/>
          <p:cNvSpPr/>
          <p:nvPr/>
        </p:nvSpPr>
        <p:spPr>
          <a:xfrm>
            <a:off x="4751625" y="912550"/>
            <a:ext cx="7307700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d356e2efa7_0_49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31" name="Google Shape;131;g3d356e2efa7_0_49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constraint by ensuring that a user's role can only be assigned as either 'buyer' or 'seller'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g3d356e2efa7_0_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5775" y="759275"/>
            <a:ext cx="7307699" cy="512477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356e2efa7_0_59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574732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2400" dirty="0"/>
              <a:t>QD4: ADD FK CONSTRAINT(S) TO THE TABLE</a:t>
            </a:r>
          </a:p>
        </p:txBody>
      </p:sp>
      <p:sp>
        <p:nvSpPr>
          <p:cNvPr id="138" name="Google Shape;138;g3d356e2efa7_0_59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 TABLE Products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CONSTRAINT fk_products_seller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FOREIGN KEY (seller_id) 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REFERENCES Users(user_id)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ON DELETE CASCADE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ON UPDATE CASCADE;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g3d356e2efa7_0_59"/>
          <p:cNvSpPr/>
          <p:nvPr/>
        </p:nvSpPr>
        <p:spPr>
          <a:xfrm>
            <a:off x="4751625" y="912550"/>
            <a:ext cx="7307700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g3d356e2efa7_0_59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41" name="Google Shape;141;g3d356e2efa7_0_59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Adds a foreign key constraint linking each product to a valid seller in the Users table</a:t>
            </a:r>
            <a:endParaRPr dirty="0"/>
          </a:p>
        </p:txBody>
      </p:sp>
      <p:pic>
        <p:nvPicPr>
          <p:cNvPr id="142" name="Google Shape;142;g3d356e2efa7_0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6075" y="859275"/>
            <a:ext cx="7183250" cy="50685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356e2efa7_0_77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778828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3600" dirty="0"/>
              <a:t>QD5: Create TRIGGER</a:t>
            </a:r>
          </a:p>
        </p:txBody>
      </p:sp>
      <p:sp>
        <p:nvSpPr>
          <p:cNvPr id="148" name="Google Shape;148;g3d356e2efa7_0_77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228600" lvl="0" indent="-18859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7272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CREATE TRIGGER trg_calculate_commission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ON Payments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AFTER INSERT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AS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BEGIN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    UPDATE Payments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    SET 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        platform_commission = ROUND(i.amount * 0.20, 2),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        seller_earning      = ROUND(i.amount * 0.80, 2)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    FROM Payments p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    INNER JOIN inserted i ON p.payment_id = i.payment_id;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END;</a:t>
            </a:r>
            <a:endParaRPr sz="2200"/>
          </a:p>
          <a:p>
            <a:pPr marL="228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GO</a:t>
            </a:r>
            <a:endParaRPr sz="2200"/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g3d356e2efa7_0_77"/>
          <p:cNvSpPr/>
          <p:nvPr/>
        </p:nvSpPr>
        <p:spPr>
          <a:xfrm>
            <a:off x="4751625" y="912550"/>
            <a:ext cx="7307700" cy="49620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3d356e2efa7_0_77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51" name="Google Shape;151;g3d356e2efa7_0_77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Create trigger to calculate the platform commission (20%) and seller earning (80%) whenever a new payment is inserted into the Payments table.</a:t>
            </a:r>
            <a:endParaRPr/>
          </a:p>
        </p:txBody>
      </p:sp>
      <p:pic>
        <p:nvPicPr>
          <p:cNvPr id="152" name="Google Shape;152;g3d356e2efa7_0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1756" y="912550"/>
            <a:ext cx="7393392" cy="4961999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DML QUERIES</a:t>
            </a:r>
            <a:endParaRPr/>
          </a:p>
        </p:txBody>
      </p:sp>
      <p:sp>
        <p:nvSpPr>
          <p:cNvPr id="158" name="Google Shape;158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b="1"/>
              <a:t>Instructions: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i="1"/>
              <a:t>- must include </a:t>
            </a:r>
            <a:r>
              <a:rPr lang="en-US" b="1" i="1">
                <a:solidFill>
                  <a:srgbClr val="FF0000"/>
                </a:solidFill>
              </a:rPr>
              <a:t>ALL</a:t>
            </a:r>
            <a:r>
              <a:rPr lang="en-US" i="1"/>
              <a:t> queries listed in Queries.sql 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i="1"/>
              <a:t>- must follow the </a:t>
            </a:r>
            <a:r>
              <a:rPr lang="en-US" b="1" i="1"/>
              <a:t>exact</a:t>
            </a:r>
            <a:r>
              <a:rPr lang="en-US" i="1"/>
              <a:t> format provided in the template slide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2400" dirty="0"/>
              <a:t>QM1.1: A TEST QUERY FOR THE TRIGGER CREATED in QD5</a:t>
            </a:r>
          </a:p>
        </p:txBody>
      </p:sp>
      <p:sp>
        <p:nvSpPr>
          <p:cNvPr id="164" name="Google Shape;164;p5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1873" cy="431890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00"/>
              <a:t>SELECT payment_id, amount, platform_commission, seller_earning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00"/>
              <a:t>FROM Payments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00"/>
              <a:t>WHERE payment_id = 1;</a:t>
            </a:r>
            <a:endParaRPr sz="2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</p:txBody>
      </p:sp>
      <p:sp>
        <p:nvSpPr>
          <p:cNvPr id="165" name="Google Shape;165;p5"/>
          <p:cNvSpPr/>
          <p:nvPr/>
        </p:nvSpPr>
        <p:spPr>
          <a:xfrm>
            <a:off x="5029000" y="1308777"/>
            <a:ext cx="7005000" cy="47463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67" name="Google Shape;167;p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 trigger for calculating commission and earnings.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9000" y="1168788"/>
            <a:ext cx="7005000" cy="502627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356e2efa7_0_103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3134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2000" dirty="0"/>
              <a:t>QM1.2: A TEST QUERY FOR THE "CHECK" CONSTRAINT DEFINED in QD3</a:t>
            </a:r>
          </a:p>
        </p:txBody>
      </p:sp>
      <p:sp>
        <p:nvSpPr>
          <p:cNvPr id="174" name="Google Shape;174;g3d356e2efa7_0_103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INSERT INTO Users (user_id, first_name, last_name, email, password_hash, role)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VALUES (3, 'Test', 'Admin', 'admin@test.com', 'hashedpw789', 'admin');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</p:txBody>
      </p:sp>
      <p:sp>
        <p:nvSpPr>
          <p:cNvPr id="175" name="Google Shape;175;g3d356e2efa7_0_103"/>
          <p:cNvSpPr/>
          <p:nvPr/>
        </p:nvSpPr>
        <p:spPr>
          <a:xfrm>
            <a:off x="5029000" y="1308777"/>
            <a:ext cx="7005000" cy="47463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g3d356e2efa7_0_103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77" name="Google Shape;177;g3d356e2efa7_0_103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Tests constraint by attempting to insert a user with an invalid role, which should be </a:t>
            </a:r>
            <a:r>
              <a:rPr lang="en-US" sz="1800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rejected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g3d356e2efa7_0_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0000" y="1162125"/>
            <a:ext cx="7162999" cy="4892941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356e2efa7_0_117"/>
          <p:cNvSpPr txBox="1">
            <a:spLocks noGrp="1"/>
          </p:cNvSpPr>
          <p:nvPr>
            <p:ph type="title"/>
          </p:nvPr>
        </p:nvSpPr>
        <p:spPr>
          <a:xfrm>
            <a:off x="176893" y="152854"/>
            <a:ext cx="43134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sz="2400" dirty="0"/>
              <a:t>QM1.3: A TEST QUERY FOR THE FK CONSTRAINT DEFINED in QD4</a:t>
            </a:r>
          </a:p>
        </p:txBody>
      </p:sp>
      <p:sp>
        <p:nvSpPr>
          <p:cNvPr id="184" name="Google Shape;184;g3d356e2efa7_0_117"/>
          <p:cNvSpPr txBox="1">
            <a:spLocks noGrp="1"/>
          </p:cNvSpPr>
          <p:nvPr>
            <p:ph type="body" idx="1"/>
          </p:nvPr>
        </p:nvSpPr>
        <p:spPr>
          <a:xfrm>
            <a:off x="119741" y="2334985"/>
            <a:ext cx="4632000" cy="43188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Query: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INSERT INTO Products (product_id, product_name, product_type, price, seller_id, category_id)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/>
              <a:t>VALUES (99, 'Fake Product', 'web_app', 50.00, 9999, 1);</a:t>
            </a: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/>
          </a:p>
        </p:txBody>
      </p:sp>
      <p:sp>
        <p:nvSpPr>
          <p:cNvPr id="185" name="Google Shape;185;g3d356e2efa7_0_117"/>
          <p:cNvSpPr/>
          <p:nvPr/>
        </p:nvSpPr>
        <p:spPr>
          <a:xfrm>
            <a:off x="5029000" y="1308777"/>
            <a:ext cx="7005000" cy="47463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g3d356e2efa7_0_117"/>
          <p:cNvSpPr/>
          <p:nvPr/>
        </p:nvSpPr>
        <p:spPr>
          <a:xfrm>
            <a:off x="4955721" y="166953"/>
            <a:ext cx="302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Snapshot of the query output:</a:t>
            </a:r>
            <a:endParaRPr/>
          </a:p>
        </p:txBody>
      </p:sp>
      <p:sp>
        <p:nvSpPr>
          <p:cNvPr id="187" name="Google Shape;187;g3d356e2efa7_0_117"/>
          <p:cNvSpPr txBox="1"/>
          <p:nvPr/>
        </p:nvSpPr>
        <p:spPr>
          <a:xfrm>
            <a:off x="119741" y="759278"/>
            <a:ext cx="4632000" cy="14925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Tests constraint by attempting to insert a product with a non-existent seller, which should be  </a:t>
            </a:r>
            <a:r>
              <a:rPr lang="en-US" sz="1800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rejected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g3d356e2efa7_0_1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9000" y="1308775"/>
            <a:ext cx="7004999" cy="474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rmAutofit fontScale="90000"/>
          </a:bodyPr>
          <a:lstStyle/>
          <a:p>
            <a:r>
              <a:rPr lang="en-US" dirty="0"/>
              <a:t>QM2: INSERT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INSERT INTO Users (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first_name</a:t>
            </a:r>
            <a:r>
              <a:rPr lang="en-US" dirty="0"/>
              <a:t>, </a:t>
            </a:r>
            <a:r>
              <a:rPr lang="en-US" dirty="0" err="1"/>
              <a:t>last_name</a:t>
            </a:r>
            <a:r>
              <a:rPr lang="en-US" dirty="0"/>
              <a:t>, email, </a:t>
            </a:r>
            <a:r>
              <a:rPr lang="en-US" dirty="0" err="1"/>
              <a:t>password_hash</a:t>
            </a:r>
            <a:r>
              <a:rPr lang="en-US" dirty="0"/>
              <a:t>, role)</a:t>
            </a:r>
          </a:p>
          <a:p>
            <a:pPr marL="114300" indent="0">
              <a:buNone/>
            </a:pPr>
            <a:r>
              <a:rPr lang="en-US" dirty="0"/>
              <a:t>VALUES</a:t>
            </a:r>
          </a:p>
          <a:p>
            <a:pPr marL="114300" indent="0">
              <a:buNone/>
            </a:pPr>
            <a:r>
              <a:rPr lang="en-US" dirty="0"/>
              <a:t>    (3, 'Alice', 'Chen',  '</a:t>
            </a:r>
            <a:r>
              <a:rPr lang="en-US" dirty="0" err="1"/>
              <a:t>alice@aimarket.com</a:t>
            </a:r>
            <a:r>
              <a:rPr lang="en-US" dirty="0"/>
              <a:t>', '</a:t>
            </a:r>
            <a:r>
              <a:rPr lang="en-US" dirty="0" err="1"/>
              <a:t>hash_alice</a:t>
            </a:r>
            <a:r>
              <a:rPr lang="en-US" dirty="0"/>
              <a:t>', 'seller'),</a:t>
            </a:r>
          </a:p>
          <a:p>
            <a:pPr marL="114300" indent="0">
              <a:buNone/>
            </a:pPr>
            <a:r>
              <a:rPr lang="en-US" dirty="0"/>
              <a:t>    (4, 'Bob',   'Patel', '</a:t>
            </a:r>
            <a:r>
              <a:rPr lang="en-US" dirty="0" err="1"/>
              <a:t>bob@aimarket.com</a:t>
            </a:r>
            <a:r>
              <a:rPr lang="en-US" dirty="0"/>
              <a:t>',   '</a:t>
            </a:r>
            <a:r>
              <a:rPr lang="en-US" dirty="0" err="1"/>
              <a:t>hash_bob</a:t>
            </a:r>
            <a:r>
              <a:rPr lang="en-US" dirty="0"/>
              <a:t>',   'seller'),</a:t>
            </a:r>
          </a:p>
          <a:p>
            <a:pPr marL="114300" indent="0">
              <a:buNone/>
            </a:pPr>
            <a:r>
              <a:rPr lang="en-US" dirty="0"/>
              <a:t>    (5, 'Carol', 'Smith', '</a:t>
            </a:r>
            <a:r>
              <a:rPr lang="en-US" dirty="0" err="1"/>
              <a:t>carol@aimarket.com</a:t>
            </a:r>
            <a:r>
              <a:rPr lang="en-US" dirty="0"/>
              <a:t>', '</a:t>
            </a:r>
            <a:r>
              <a:rPr lang="en-US" dirty="0" err="1"/>
              <a:t>hash_carol</a:t>
            </a:r>
            <a:r>
              <a:rPr lang="en-US" dirty="0"/>
              <a:t>', 'buyer'),</a:t>
            </a:r>
          </a:p>
          <a:p>
            <a:pPr marL="114300" indent="0">
              <a:buNone/>
            </a:pPr>
            <a:r>
              <a:rPr lang="en-US" dirty="0"/>
              <a:t>    (6, 'David', 'Lee',   '</a:t>
            </a:r>
            <a:r>
              <a:rPr lang="en-US" dirty="0" err="1"/>
              <a:t>david@aimarket.com</a:t>
            </a:r>
            <a:r>
              <a:rPr lang="en-US" dirty="0"/>
              <a:t>', '</a:t>
            </a:r>
            <a:r>
              <a:rPr lang="en-US" dirty="0" err="1"/>
              <a:t>hash_david</a:t>
            </a:r>
            <a:r>
              <a:rPr lang="en-US" dirty="0"/>
              <a:t>', 'buyer');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 </a:t>
            </a:r>
            <a:br>
              <a:rPr lang="en-US" dirty="0"/>
            </a:br>
            <a:r>
              <a:rPr lang="en-US" dirty="0"/>
              <a:t>Populates the marketplace with additional sellers, buyers, categories, AI products, subscriptions, payments, reviews, tags, and seller payouts to represent a realistic set of platform activity.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7205D2-82B3-B893-2D4B-85B9CFD1E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501" y="2389650"/>
            <a:ext cx="6487481" cy="238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517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2" y="152854"/>
            <a:ext cx="4574721" cy="443139"/>
          </a:xfrm>
        </p:spPr>
        <p:txBody>
          <a:bodyPr>
            <a:normAutofit fontScale="90000"/>
          </a:bodyPr>
          <a:lstStyle/>
          <a:p>
            <a:r>
              <a:rPr lang="en-US" dirty="0"/>
              <a:t>QM3: UPDATE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UPDATE </a:t>
            </a:r>
            <a:r>
              <a:rPr lang="en-US" dirty="0" err="1"/>
              <a:t>Seller_Payouts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SET </a:t>
            </a:r>
            <a:r>
              <a:rPr lang="en-US" dirty="0" err="1"/>
              <a:t>payout_status</a:t>
            </a:r>
            <a:r>
              <a:rPr lang="en-US" dirty="0"/>
              <a:t> = 'completed'</a:t>
            </a:r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payout_status</a:t>
            </a:r>
            <a:r>
              <a:rPr lang="en-US" dirty="0"/>
              <a:t> = 'pending'</a:t>
            </a:r>
          </a:p>
          <a:p>
            <a:pPr marL="114300" indent="0">
              <a:buNone/>
            </a:pPr>
            <a:r>
              <a:rPr lang="en-US" dirty="0"/>
              <a:t>  AND </a:t>
            </a:r>
            <a:r>
              <a:rPr lang="en-US" dirty="0" err="1"/>
              <a:t>payout_date</a:t>
            </a:r>
            <a:r>
              <a:rPr lang="en-US" dirty="0"/>
              <a:t> &lt;= DATEADD(DAY, -30, GETDATE());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 </a:t>
            </a:r>
          </a:p>
          <a:p>
            <a:r>
              <a:rPr lang="en-US" dirty="0"/>
              <a:t>Marks all pending seller payouts older than 30 days as completed to reflect disbursements that have been successfully processed by the platform.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4F5727-3A0B-DE04-005B-CD47C480A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574" y="722868"/>
            <a:ext cx="6677957" cy="24196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6F507C-E9FC-5BFA-454E-8643B9616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574" y="3658849"/>
            <a:ext cx="6868484" cy="2162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503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rmAutofit fontScale="90000"/>
          </a:bodyPr>
          <a:lstStyle/>
          <a:p>
            <a:r>
              <a:rPr lang="en-US" dirty="0"/>
              <a:t>QM4: DELETE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DELETE FROM Reviews</a:t>
            </a:r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review_id</a:t>
            </a:r>
            <a:r>
              <a:rPr lang="en-US" dirty="0"/>
              <a:t> = 4;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Removes a buyer's review that was submitted in error for a product they did not use long enough to evaluate, maintaining rating accuracy on the platform.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7BE478-E0AD-4A46-0531-CA0CCC932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075" y="759278"/>
            <a:ext cx="6814249" cy="23451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C0CD89-01AB-F948-43BD-542D4F2A3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583" y="3892601"/>
            <a:ext cx="6536016" cy="196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591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QM5: QUERY DATA WITH WHERE CLAUSE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product_id</a:t>
            </a:r>
            <a:r>
              <a:rPr lang="en-US" dirty="0"/>
              <a:t>, </a:t>
            </a:r>
            <a:r>
              <a:rPr lang="en-US" dirty="0" err="1"/>
              <a:t>product_name</a:t>
            </a:r>
            <a:r>
              <a:rPr lang="en-US" dirty="0"/>
              <a:t>, price, </a:t>
            </a:r>
            <a:r>
              <a:rPr lang="en-US" dirty="0" err="1"/>
              <a:t>product_type</a:t>
            </a:r>
            <a:r>
              <a:rPr lang="en-US" dirty="0"/>
              <a:t>, </a:t>
            </a:r>
            <a:r>
              <a:rPr lang="en-US" dirty="0" err="1"/>
              <a:t>seller_id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Products</a:t>
            </a:r>
          </a:p>
          <a:p>
            <a:pPr marL="114300" indent="0">
              <a:buNone/>
            </a:pPr>
            <a:r>
              <a:rPr lang="en-US" dirty="0"/>
              <a:t>WHERE price &gt; 75.00</a:t>
            </a:r>
          </a:p>
          <a:p>
            <a:pPr marL="114300" indent="0">
              <a:buNone/>
            </a:pPr>
            <a:r>
              <a:rPr lang="en-US" dirty="0"/>
              <a:t>  AND status = 'active';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Retrieves all active products priced above $75 to help buyers browse the platform's premium AI tool offerings.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2A5D4C-EC0D-442F-3E53-773726A21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333" y="759278"/>
            <a:ext cx="6657734" cy="14019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601718C-00D1-F015-B20F-1A71978A2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313" y="4261196"/>
            <a:ext cx="5868219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6255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QM6.1: QUERY DATA WITH 'SUB-QUERY IN WHERE CLAUSE'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first_name</a:t>
            </a:r>
            <a:r>
              <a:rPr lang="en-US" dirty="0"/>
              <a:t>, </a:t>
            </a:r>
            <a:r>
              <a:rPr lang="en-US" dirty="0" err="1"/>
              <a:t>last_name</a:t>
            </a:r>
            <a:r>
              <a:rPr lang="en-US" dirty="0"/>
              <a:t>, email</a:t>
            </a:r>
          </a:p>
          <a:p>
            <a:pPr marL="114300" indent="0">
              <a:buNone/>
            </a:pPr>
            <a:r>
              <a:rPr lang="en-US" dirty="0"/>
              <a:t>FROM Users</a:t>
            </a:r>
          </a:p>
          <a:p>
            <a:pPr marL="114300" indent="0">
              <a:buNone/>
            </a:pPr>
            <a:r>
              <a:rPr lang="en-US" dirty="0"/>
              <a:t>WHERE role = 'buyer'</a:t>
            </a:r>
          </a:p>
          <a:p>
            <a:pPr marL="114300" indent="0">
              <a:buNone/>
            </a:pPr>
            <a:r>
              <a:rPr lang="en-US" dirty="0"/>
              <a:t>  AND </a:t>
            </a:r>
            <a:r>
              <a:rPr lang="en-US" dirty="0" err="1"/>
              <a:t>user_id</a:t>
            </a:r>
            <a:r>
              <a:rPr lang="en-US" dirty="0"/>
              <a:t> IN (</a:t>
            </a:r>
          </a:p>
          <a:p>
            <a:pPr marL="114300" indent="0">
              <a:buNone/>
            </a:pPr>
            <a:r>
              <a:rPr lang="en-US" dirty="0"/>
              <a:t>      SELECT </a:t>
            </a:r>
            <a:r>
              <a:rPr lang="en-US" dirty="0" err="1"/>
              <a:t>s.buyer_id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  FROM Subscriptions s</a:t>
            </a:r>
          </a:p>
          <a:p>
            <a:pPr marL="114300" indent="0">
              <a:buNone/>
            </a:pPr>
            <a:r>
              <a:rPr lang="en-US" dirty="0"/>
              <a:t>      JOIN Products   p ON </a:t>
            </a:r>
            <a:r>
              <a:rPr lang="en-US" dirty="0" err="1"/>
              <a:t>s.product_id</a:t>
            </a:r>
            <a:r>
              <a:rPr lang="en-US" dirty="0"/>
              <a:t>  = </a:t>
            </a:r>
            <a:r>
              <a:rPr lang="en-US" dirty="0" err="1"/>
              <a:t>p.product_id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  JOIN Categories c ON </a:t>
            </a:r>
            <a:r>
              <a:rPr lang="en-US" dirty="0" err="1"/>
              <a:t>p.category_id</a:t>
            </a:r>
            <a:r>
              <a:rPr lang="en-US" dirty="0"/>
              <a:t> = </a:t>
            </a:r>
            <a:r>
              <a:rPr lang="en-US" dirty="0" err="1"/>
              <a:t>c.category_id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  WHERE </a:t>
            </a:r>
            <a:r>
              <a:rPr lang="en-US" dirty="0" err="1"/>
              <a:t>c.category_name</a:t>
            </a:r>
            <a:r>
              <a:rPr lang="en-US" dirty="0"/>
              <a:t> = 'Code Assistant'</a:t>
            </a:r>
          </a:p>
          <a:p>
            <a:pPr marL="114300" indent="0">
              <a:buNone/>
            </a:pPr>
            <a:r>
              <a:rPr lang="en-US" dirty="0"/>
              <a:t>        AND </a:t>
            </a:r>
            <a:r>
              <a:rPr lang="en-US" dirty="0" err="1"/>
              <a:t>s.status</a:t>
            </a:r>
            <a:r>
              <a:rPr lang="en-US" dirty="0"/>
              <a:t> = 'active'</a:t>
            </a:r>
          </a:p>
          <a:p>
            <a:pPr marL="114300" indent="0">
              <a:buNone/>
            </a:pPr>
            <a:r>
              <a:rPr lang="en-US" dirty="0"/>
              <a:t>  );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Retrieves all buyers who hold an active subscription to at least one Code Assistant product to identify the platform's active developer user base.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8E7A5A-3B34-FFA8-4022-2422DF35D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59" y="595993"/>
            <a:ext cx="2948941" cy="8542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D6351F4-073A-B047-033A-98ED81FC3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7159" y="1503480"/>
            <a:ext cx="6299467" cy="10543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AADB29-C81B-6EB9-6D08-1A22E0623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7159" y="2611104"/>
            <a:ext cx="3471382" cy="11444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7286E0-A5B2-2525-59CB-E4DDDCC66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7159" y="3808791"/>
            <a:ext cx="5653298" cy="1144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9AF698-FA18-3EE8-FB52-E8FC316B82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3007" y="5167843"/>
            <a:ext cx="5166517" cy="137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204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QM6.2: QUERY DATA WITH SUB-QUERY IN FROM CLAUSE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p.product_id</a:t>
            </a:r>
            <a:r>
              <a:rPr lang="en-US" dirty="0"/>
              <a:t>, </a:t>
            </a:r>
            <a:r>
              <a:rPr lang="en-US" dirty="0" err="1"/>
              <a:t>p.product_name</a:t>
            </a:r>
            <a:r>
              <a:rPr lang="en-US" dirty="0"/>
              <a:t>, </a:t>
            </a:r>
            <a:r>
              <a:rPr lang="en-US" dirty="0" err="1"/>
              <a:t>p.price</a:t>
            </a:r>
            <a:r>
              <a:rPr lang="en-US" dirty="0"/>
              <a:t>, </a:t>
            </a:r>
            <a:r>
              <a:rPr lang="en-US" dirty="0" err="1"/>
              <a:t>avg_r.avg_rating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Products p</a:t>
            </a:r>
          </a:p>
          <a:p>
            <a:pPr marL="114300" indent="0">
              <a:buNone/>
            </a:pPr>
            <a:r>
              <a:rPr lang="en-US" dirty="0"/>
              <a:t>JOIN (</a:t>
            </a:r>
          </a:p>
          <a:p>
            <a:pPr marL="114300" indent="0">
              <a:buNone/>
            </a:pPr>
            <a:r>
              <a:rPr lang="en-US" dirty="0"/>
              <a:t>    SELECT </a:t>
            </a:r>
            <a:r>
              <a:rPr lang="en-US" dirty="0" err="1"/>
              <a:t>product_id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       ROUND(AVG(CAST(rating AS DECIMAL(5,2))), 2) AS </a:t>
            </a:r>
            <a:r>
              <a:rPr lang="en-US" dirty="0" err="1"/>
              <a:t>avg_rating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FROM Reviews</a:t>
            </a:r>
          </a:p>
          <a:p>
            <a:pPr marL="114300" indent="0">
              <a:buNone/>
            </a:pPr>
            <a:r>
              <a:rPr lang="en-US" dirty="0"/>
              <a:t>    GROUP BY </a:t>
            </a:r>
            <a:r>
              <a:rPr lang="en-US" dirty="0" err="1"/>
              <a:t>product_id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) AS </a:t>
            </a:r>
            <a:r>
              <a:rPr lang="en-US" dirty="0" err="1"/>
              <a:t>avg_r</a:t>
            </a:r>
            <a:r>
              <a:rPr lang="en-US" dirty="0"/>
              <a:t> ON </a:t>
            </a:r>
            <a:r>
              <a:rPr lang="en-US" dirty="0" err="1"/>
              <a:t>p.product_id</a:t>
            </a:r>
            <a:r>
              <a:rPr lang="en-US" dirty="0"/>
              <a:t> = </a:t>
            </a:r>
            <a:r>
              <a:rPr lang="en-US" dirty="0" err="1"/>
              <a:t>avg_r.product_id</a:t>
            </a:r>
            <a:r>
              <a:rPr lang="en-US" dirty="0"/>
              <a:t>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Displays each listed product alongside its average customer rating to help the platform surface high-performing AI tools for its featured section.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45356F-FE7A-AACC-8A11-3B43BF3DF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2" y="819559"/>
            <a:ext cx="4736954" cy="10781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5B03E5-9A7C-3759-F480-B5DFA9395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112" y="1974638"/>
            <a:ext cx="6758380" cy="1171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3A8B4B-7DB3-7A22-B69B-9A23BBF4EC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748" y="4570770"/>
            <a:ext cx="4991161" cy="160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142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QM6.3: QUERY DATA WITH 'SUB-QUERY IN SELECT CLAUSE'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850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</a:t>
            </a:r>
          </a:p>
          <a:p>
            <a:pPr marL="114300" indent="0">
              <a:buNone/>
            </a:pPr>
            <a:r>
              <a:rPr lang="en-US" dirty="0"/>
              <a:t>    </a:t>
            </a:r>
            <a:r>
              <a:rPr lang="en-US" dirty="0" err="1"/>
              <a:t>u.user_id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</a:t>
            </a:r>
            <a:r>
              <a:rPr lang="en-US" dirty="0" err="1"/>
              <a:t>u.first_name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</a:t>
            </a:r>
            <a:r>
              <a:rPr lang="en-US" dirty="0" err="1"/>
              <a:t>u.last_name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(SELECT COUNT(*)</a:t>
            </a:r>
          </a:p>
          <a:p>
            <a:pPr marL="114300" indent="0">
              <a:buNone/>
            </a:pPr>
            <a:r>
              <a:rPr lang="en-US" dirty="0"/>
              <a:t>     FROM Products p</a:t>
            </a:r>
          </a:p>
          <a:p>
            <a:pPr marL="114300" indent="0">
              <a:buNone/>
            </a:pPr>
            <a:r>
              <a:rPr lang="en-US" dirty="0"/>
              <a:t>     WHERE </a:t>
            </a:r>
            <a:r>
              <a:rPr lang="en-US" dirty="0" err="1"/>
              <a:t>p.seller_id</a:t>
            </a:r>
            <a:r>
              <a:rPr lang="en-US" dirty="0"/>
              <a:t> = </a:t>
            </a:r>
            <a:r>
              <a:rPr lang="en-US" dirty="0" err="1"/>
              <a:t>u.user_id</a:t>
            </a:r>
            <a:r>
              <a:rPr lang="en-US" dirty="0"/>
              <a:t>) AS </a:t>
            </a:r>
            <a:r>
              <a:rPr lang="en-US" dirty="0" err="1"/>
              <a:t>product_count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Users u</a:t>
            </a:r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u.role</a:t>
            </a:r>
            <a:r>
              <a:rPr lang="en-US" dirty="0"/>
              <a:t> = 'seller';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Lists every seller account alongside the number of AI products they have published, giving the platform a quick view of individual seller activity levels.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B93FAB-0E04-EFC6-309F-AC6C1F20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40" y="595993"/>
            <a:ext cx="6844519" cy="12921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B95658-879D-3386-0829-E71796007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940" y="1947916"/>
            <a:ext cx="6599620" cy="14810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3DAFCE-BD18-410D-4DAD-EB771F2123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193" y="4237153"/>
            <a:ext cx="4673707" cy="163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932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2" y="152854"/>
            <a:ext cx="4484007" cy="443139"/>
          </a:xfrm>
        </p:spPr>
        <p:txBody>
          <a:bodyPr>
            <a:noAutofit/>
          </a:bodyPr>
          <a:lstStyle/>
          <a:p>
            <a:r>
              <a:rPr lang="en-US" sz="2800" dirty="0"/>
              <a:t>QM7: QUERY DATA WITH EXCEPT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u.user_id</a:t>
            </a:r>
            <a:r>
              <a:rPr lang="en-US" dirty="0"/>
              <a:t>, </a:t>
            </a:r>
            <a:r>
              <a:rPr lang="en-US" dirty="0" err="1"/>
              <a:t>u.first_name</a:t>
            </a:r>
            <a:r>
              <a:rPr lang="en-US" dirty="0"/>
              <a:t>, </a:t>
            </a:r>
            <a:r>
              <a:rPr lang="en-US" dirty="0" err="1"/>
              <a:t>u.last_name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Users u</a:t>
            </a:r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u.role</a:t>
            </a:r>
            <a:r>
              <a:rPr lang="en-US" dirty="0"/>
              <a:t> = 'seller'</a:t>
            </a:r>
          </a:p>
          <a:p>
            <a:pPr marL="114300" indent="0">
              <a:buNone/>
            </a:pPr>
            <a:r>
              <a:rPr lang="en-US" dirty="0"/>
              <a:t>EXCEPT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u.user_id</a:t>
            </a:r>
            <a:r>
              <a:rPr lang="en-US" dirty="0"/>
              <a:t>, </a:t>
            </a:r>
            <a:r>
              <a:rPr lang="en-US" dirty="0" err="1"/>
              <a:t>u.first_name</a:t>
            </a:r>
            <a:r>
              <a:rPr lang="en-US" dirty="0"/>
              <a:t>, </a:t>
            </a:r>
            <a:r>
              <a:rPr lang="en-US" dirty="0" err="1"/>
              <a:t>u.last_name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Users u</a:t>
            </a:r>
          </a:p>
          <a:p>
            <a:pPr marL="114300" indent="0">
              <a:buNone/>
            </a:pPr>
            <a:r>
              <a:rPr lang="en-US" dirty="0"/>
              <a:t>JOIN </a:t>
            </a:r>
            <a:r>
              <a:rPr lang="en-US" dirty="0" err="1"/>
              <a:t>Seller_Payouts</a:t>
            </a:r>
            <a:r>
              <a:rPr lang="en-US" dirty="0"/>
              <a:t> </a:t>
            </a:r>
            <a:r>
              <a:rPr lang="en-US" dirty="0" err="1"/>
              <a:t>sp</a:t>
            </a:r>
            <a:r>
              <a:rPr lang="en-US" dirty="0"/>
              <a:t> ON </a:t>
            </a:r>
            <a:r>
              <a:rPr lang="en-US" dirty="0" err="1"/>
              <a:t>u.user_id</a:t>
            </a:r>
            <a:r>
              <a:rPr lang="en-US" dirty="0"/>
              <a:t> = </a:t>
            </a:r>
            <a:r>
              <a:rPr lang="en-US" dirty="0" err="1"/>
              <a:t>sp.seller_id</a:t>
            </a:r>
            <a:r>
              <a:rPr lang="en-US" dirty="0"/>
              <a:t>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Identifies sellers who have published products but have never received a payout, flagging accounts that may be owed earnings by the platform.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B56FF8-0DDB-45FC-F0BB-CB6CA9A3D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9" y="659297"/>
            <a:ext cx="6690979" cy="14341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522715-1F03-AD2F-FA99-3ED9B02A6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9" y="2216494"/>
            <a:ext cx="4232937" cy="9601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BC2011-23F3-3C99-7D05-2CC8CF261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7983" y="4434095"/>
            <a:ext cx="4913410" cy="143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1492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QM8.1: QUERY DATA WITH ANY/SOME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product_id</a:t>
            </a:r>
            <a:r>
              <a:rPr lang="en-US" dirty="0"/>
              <a:t>, </a:t>
            </a:r>
            <a:r>
              <a:rPr lang="en-US" dirty="0" err="1"/>
              <a:t>product_name</a:t>
            </a:r>
            <a:r>
              <a:rPr lang="en-US" dirty="0"/>
              <a:t>, price, </a:t>
            </a:r>
            <a:r>
              <a:rPr lang="en-US" dirty="0" err="1"/>
              <a:t>product_type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Products</a:t>
            </a:r>
          </a:p>
          <a:p>
            <a:pPr marL="114300" indent="0">
              <a:buNone/>
            </a:pPr>
            <a:r>
              <a:rPr lang="en-US" dirty="0"/>
              <a:t>WHERE price &gt; ANY (</a:t>
            </a:r>
          </a:p>
          <a:p>
            <a:pPr marL="114300" indent="0">
              <a:buNone/>
            </a:pPr>
            <a:r>
              <a:rPr lang="en-US" dirty="0"/>
              <a:t>    SELECT </a:t>
            </a:r>
            <a:r>
              <a:rPr lang="en-US" dirty="0" err="1"/>
              <a:t>p.price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FROM Products   p</a:t>
            </a:r>
          </a:p>
          <a:p>
            <a:pPr marL="114300" indent="0">
              <a:buNone/>
            </a:pPr>
            <a:r>
              <a:rPr lang="en-US" dirty="0"/>
              <a:t>    JOIN Categories c ON </a:t>
            </a:r>
            <a:r>
              <a:rPr lang="en-US" dirty="0" err="1"/>
              <a:t>p.category_id</a:t>
            </a:r>
            <a:r>
              <a:rPr lang="en-US" dirty="0"/>
              <a:t> = </a:t>
            </a:r>
            <a:r>
              <a:rPr lang="en-US" dirty="0" err="1"/>
              <a:t>c.category_id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WHERE </a:t>
            </a:r>
            <a:r>
              <a:rPr lang="en-US" dirty="0" err="1"/>
              <a:t>c.category_name</a:t>
            </a:r>
            <a:r>
              <a:rPr lang="en-US" dirty="0"/>
              <a:t> = 'Text Generation'</a:t>
            </a:r>
          </a:p>
          <a:p>
            <a:pPr marL="114300" indent="0">
              <a:buNone/>
            </a:pPr>
            <a:r>
              <a:rPr lang="en-US" dirty="0"/>
              <a:t>);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Finds all products priced higher than at least one Text Generation product, helping buyers compare costs against the platform's baseline AI text tools.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AB1BBD-5370-BED6-A6D7-3CC7A303B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324" y="643295"/>
            <a:ext cx="3315181" cy="10433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55EF2B-AB33-7AC0-C85C-53E8A7C51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324" y="1793631"/>
            <a:ext cx="6879751" cy="12777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BD6775-3936-7510-E82E-4F02522BC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750" y="4033147"/>
            <a:ext cx="5257509" cy="2038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QM8.2: QUERY DATA WITH ALL in front of a sub-query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product_id</a:t>
            </a:r>
            <a:r>
              <a:rPr lang="en-US" dirty="0"/>
              <a:t>, </a:t>
            </a:r>
            <a:r>
              <a:rPr lang="en-US" dirty="0" err="1"/>
              <a:t>product_name</a:t>
            </a:r>
            <a:r>
              <a:rPr lang="en-US" dirty="0"/>
              <a:t>, price, </a:t>
            </a:r>
            <a:r>
              <a:rPr lang="en-US" dirty="0" err="1"/>
              <a:t>product_type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Products</a:t>
            </a:r>
          </a:p>
          <a:p>
            <a:pPr marL="114300" indent="0">
              <a:buNone/>
            </a:pPr>
            <a:r>
              <a:rPr lang="en-US" dirty="0"/>
              <a:t>WHERE price &gt; ALL (</a:t>
            </a:r>
          </a:p>
          <a:p>
            <a:pPr marL="114300" indent="0">
              <a:buNone/>
            </a:pPr>
            <a:r>
              <a:rPr lang="en-US" dirty="0"/>
              <a:t>    SELECT </a:t>
            </a:r>
            <a:r>
              <a:rPr lang="en-US" dirty="0" err="1"/>
              <a:t>p.price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FROM Products   p</a:t>
            </a:r>
          </a:p>
          <a:p>
            <a:pPr marL="114300" indent="0">
              <a:buNone/>
            </a:pPr>
            <a:r>
              <a:rPr lang="en-US" dirty="0"/>
              <a:t>    JOIN Categories c ON </a:t>
            </a:r>
            <a:r>
              <a:rPr lang="en-US" dirty="0" err="1"/>
              <a:t>p.category_id</a:t>
            </a:r>
            <a:r>
              <a:rPr lang="en-US" dirty="0"/>
              <a:t> = </a:t>
            </a:r>
            <a:r>
              <a:rPr lang="en-US" dirty="0" err="1"/>
              <a:t>c.category_id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    WHERE </a:t>
            </a:r>
            <a:r>
              <a:rPr lang="en-US" dirty="0" err="1"/>
              <a:t>c.category_name</a:t>
            </a:r>
            <a:r>
              <a:rPr lang="en-US" dirty="0"/>
              <a:t> = 'Text Generation'</a:t>
            </a:r>
          </a:p>
          <a:p>
            <a:pPr marL="114300" indent="0">
              <a:buNone/>
            </a:pPr>
            <a:r>
              <a:rPr lang="en-US" dirty="0"/>
              <a:t>);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Retrieves products whose price exceeds every Text Generation product on the platform, identifying the most premium AI tools relative to the text-generation tier.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D88296-6C41-5DDD-0E73-38EB86964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324" y="643295"/>
            <a:ext cx="3315181" cy="10433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0BEC2-5921-6A21-A8E2-275B64710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324" y="1793631"/>
            <a:ext cx="6879751" cy="12777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0470A8-FE5E-6326-8A32-51CABF536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807" y="4413924"/>
            <a:ext cx="5434784" cy="115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839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62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u.first_name</a:t>
            </a:r>
            <a:r>
              <a:rPr lang="en-US" dirty="0"/>
              <a:t>, </a:t>
            </a:r>
            <a:r>
              <a:rPr lang="en-US" dirty="0" err="1"/>
              <a:t>u.last_name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   </a:t>
            </a:r>
            <a:r>
              <a:rPr lang="en-US" dirty="0" err="1"/>
              <a:t>p.product_name</a:t>
            </a:r>
            <a:r>
              <a:rPr lang="en-US" dirty="0"/>
              <a:t>, </a:t>
            </a:r>
            <a:r>
              <a:rPr lang="en-US" dirty="0" err="1"/>
              <a:t>p.price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   </a:t>
            </a:r>
            <a:r>
              <a:rPr lang="en-US" dirty="0" err="1"/>
              <a:t>pay.amount</a:t>
            </a:r>
            <a:r>
              <a:rPr lang="en-US" dirty="0"/>
              <a:t>, </a:t>
            </a:r>
            <a:r>
              <a:rPr lang="en-US" dirty="0" err="1"/>
              <a:t>pay.platform_commission</a:t>
            </a:r>
            <a:r>
              <a:rPr lang="en-US" dirty="0"/>
              <a:t>, </a:t>
            </a:r>
            <a:r>
              <a:rPr lang="en-US" dirty="0" err="1"/>
              <a:t>pay.seller_earning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Payments pay</a:t>
            </a:r>
          </a:p>
          <a:p>
            <a:pPr marL="114300" indent="0">
              <a:buNone/>
            </a:pPr>
            <a:r>
              <a:rPr lang="en-US" dirty="0"/>
              <a:t>INNER JOIN Subscriptions s ON </a:t>
            </a:r>
            <a:r>
              <a:rPr lang="en-US" dirty="0" err="1"/>
              <a:t>pay.subscription_id</a:t>
            </a:r>
            <a:r>
              <a:rPr lang="en-US" dirty="0"/>
              <a:t> = </a:t>
            </a:r>
            <a:r>
              <a:rPr lang="en-US" dirty="0" err="1"/>
              <a:t>s.subscription_id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INNER JOIN Users u ON </a:t>
            </a:r>
            <a:r>
              <a:rPr lang="en-US" dirty="0" err="1"/>
              <a:t>s.buyer_id</a:t>
            </a:r>
            <a:r>
              <a:rPr lang="en-US" dirty="0"/>
              <a:t>  = </a:t>
            </a:r>
            <a:r>
              <a:rPr lang="en-US" dirty="0" err="1"/>
              <a:t>u.user_id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INNER JOIN Products p ON </a:t>
            </a:r>
            <a:r>
              <a:rPr lang="en-US" dirty="0" err="1"/>
              <a:t>s.product_id</a:t>
            </a:r>
            <a:r>
              <a:rPr lang="en-US" dirty="0"/>
              <a:t> = </a:t>
            </a:r>
            <a:r>
              <a:rPr lang="en-US" dirty="0" err="1"/>
              <a:t>p.product_id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p.price</a:t>
            </a:r>
            <a:r>
              <a:rPr lang="en-US" dirty="0"/>
              <a:t> &gt; 30.00</a:t>
            </a:r>
          </a:p>
          <a:p>
            <a:pPr marL="114300" indent="0">
              <a:buNone/>
            </a:pPr>
            <a:r>
              <a:rPr lang="en-US" dirty="0"/>
              <a:t>  AND </a:t>
            </a:r>
            <a:r>
              <a:rPr lang="en-US" dirty="0" err="1"/>
              <a:t>s.status</a:t>
            </a:r>
            <a:r>
              <a:rPr lang="en-US" dirty="0"/>
              <a:t> = 'active';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QM9.1: INNER-JOIN-QUERY WITH WHERE CLAUSE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Retrieves each active subscriber's name alongside the product they purchased and the platform's commission split for that payment, giving finance a breakdown of revenue for premium-priced subscriptions.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644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5BF77-9CFE-8CFA-C4D4-57294098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C02E2-BF03-1309-FAE4-092461591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QM9.2: LEFT-OUTER-JOIN-QUERY WITH WHERE CLAUSE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01DA5-B75A-72D3-AB32-AFE681630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u.user_id</a:t>
            </a:r>
            <a:r>
              <a:rPr lang="en-US" dirty="0"/>
              <a:t>, </a:t>
            </a:r>
            <a:r>
              <a:rPr lang="en-US" dirty="0" err="1"/>
              <a:t>u.first_name</a:t>
            </a:r>
            <a:r>
              <a:rPr lang="en-US" dirty="0"/>
              <a:t>, </a:t>
            </a:r>
            <a:r>
              <a:rPr lang="en-US" dirty="0" err="1"/>
              <a:t>u.last_name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   </a:t>
            </a:r>
            <a:r>
              <a:rPr lang="en-US" dirty="0" err="1"/>
              <a:t>sp.payout_id</a:t>
            </a:r>
            <a:r>
              <a:rPr lang="en-US" dirty="0"/>
              <a:t>, </a:t>
            </a:r>
            <a:r>
              <a:rPr lang="en-US" dirty="0" err="1"/>
              <a:t>sp.total_amount</a:t>
            </a:r>
            <a:r>
              <a:rPr lang="en-US" dirty="0"/>
              <a:t>, </a:t>
            </a:r>
            <a:r>
              <a:rPr lang="en-US" dirty="0" err="1"/>
              <a:t>sp.payout_status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Users u</a:t>
            </a:r>
          </a:p>
          <a:p>
            <a:pPr marL="114300" indent="0">
              <a:buNone/>
            </a:pPr>
            <a:r>
              <a:rPr lang="en-US" dirty="0"/>
              <a:t>LEFT OUTER JOIN </a:t>
            </a:r>
            <a:r>
              <a:rPr lang="en-US" dirty="0" err="1"/>
              <a:t>Seller_Payouts</a:t>
            </a:r>
            <a:r>
              <a:rPr lang="en-US" dirty="0"/>
              <a:t> </a:t>
            </a:r>
            <a:r>
              <a:rPr lang="en-US" dirty="0" err="1"/>
              <a:t>sp</a:t>
            </a:r>
            <a:r>
              <a:rPr lang="en-US" dirty="0"/>
              <a:t> ON </a:t>
            </a:r>
            <a:r>
              <a:rPr lang="en-US" dirty="0" err="1"/>
              <a:t>u.user_id</a:t>
            </a:r>
            <a:r>
              <a:rPr lang="en-US" dirty="0"/>
              <a:t> = </a:t>
            </a:r>
            <a:r>
              <a:rPr lang="en-US" dirty="0" err="1"/>
              <a:t>sp.seller_id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u.role</a:t>
            </a:r>
            <a:r>
              <a:rPr lang="en-US" dirty="0"/>
              <a:t> = 'seller';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BD1572-19F5-C61D-E713-D5B99423F120}"/>
              </a:ext>
            </a:extLst>
          </p:cNvPr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854E9C-6877-19BB-D5A3-4EA031238022}"/>
              </a:ext>
            </a:extLst>
          </p:cNvPr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E981AC-C887-6A80-4864-57DACEAA0BF8}"/>
              </a:ext>
            </a:extLst>
          </p:cNvPr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Lists every seller account together with their payout record so the platform can audit which sellers have never received a payout; sellers with no matching payout row appear with NULL in all payout columns.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0285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BC2D0-2CD3-4623-15B3-8AF4A43FC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0B63A-EDCB-DBBE-6F1D-DD7F20F2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QM9.3: RIGHT-OUTER-JOIN-QUERY WITH WHERE CLAUSE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B5E88-BD9D-C451-7761-2A253F511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r.review_id</a:t>
            </a:r>
            <a:r>
              <a:rPr lang="en-US" dirty="0"/>
              <a:t>, </a:t>
            </a:r>
            <a:r>
              <a:rPr lang="en-US" dirty="0" err="1"/>
              <a:t>r.rating</a:t>
            </a:r>
            <a:r>
              <a:rPr lang="en-US" dirty="0"/>
              <a:t>, </a:t>
            </a:r>
            <a:r>
              <a:rPr lang="en-US" dirty="0" err="1"/>
              <a:t>r.comment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/>
              <a:t>       </a:t>
            </a:r>
            <a:r>
              <a:rPr lang="en-US" dirty="0" err="1"/>
              <a:t>p.product_id</a:t>
            </a:r>
            <a:r>
              <a:rPr lang="en-US" dirty="0"/>
              <a:t>, </a:t>
            </a:r>
            <a:r>
              <a:rPr lang="en-US" dirty="0" err="1"/>
              <a:t>p.product_name</a:t>
            </a:r>
            <a:r>
              <a:rPr lang="en-US" dirty="0"/>
              <a:t>, </a:t>
            </a:r>
            <a:r>
              <a:rPr lang="en-US" dirty="0" err="1"/>
              <a:t>p.price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Reviews r</a:t>
            </a:r>
          </a:p>
          <a:p>
            <a:pPr marL="114300" indent="0">
              <a:buNone/>
            </a:pPr>
            <a:r>
              <a:rPr lang="en-US" dirty="0"/>
              <a:t>RIGHT OUTER JOIN Products p ON </a:t>
            </a:r>
            <a:r>
              <a:rPr lang="en-US" dirty="0" err="1"/>
              <a:t>r.product_id</a:t>
            </a:r>
            <a:r>
              <a:rPr lang="en-US" dirty="0"/>
              <a:t> = </a:t>
            </a:r>
            <a:r>
              <a:rPr lang="en-US" dirty="0" err="1"/>
              <a:t>p.product_id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p.status</a:t>
            </a:r>
            <a:r>
              <a:rPr lang="en-US" dirty="0"/>
              <a:t> = 'active';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6519E4-F081-DBF1-C0A2-5EA5E1E84A2B}"/>
              </a:ext>
            </a:extLst>
          </p:cNvPr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E859D5-34F5-C684-E702-2CA552D9671C}"/>
              </a:ext>
            </a:extLst>
          </p:cNvPr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5920E0-14CB-4EFC-49E9-9569998C4A46}"/>
              </a:ext>
            </a:extLst>
          </p:cNvPr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Displays all active products alongside any reviews they have received so the platform can identify listings with no reviews; products with no reviews appear with NULL in all review columns.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00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29BB4-5A62-71EE-F3C9-5FBA0DFD2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917F7-C837-03E0-7283-818249E24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QM9.4: FULL-OUTER-JOIN-QUERY WITH WHERE CLAUSE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0EBD2F-2B5E-07E5-893E-81F4E5557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dirty="0"/>
              <a:t>SELECT </a:t>
            </a:r>
            <a:r>
              <a:rPr lang="en-US" dirty="0" err="1"/>
              <a:t>r.review_id</a:t>
            </a:r>
            <a:r>
              <a:rPr lang="en-US" dirty="0"/>
              <a:t>, </a:t>
            </a:r>
            <a:r>
              <a:rPr lang="en-US" dirty="0" err="1"/>
              <a:t>r.buyer_id</a:t>
            </a:r>
            <a:r>
              <a:rPr lang="en-US" dirty="0"/>
              <a:t>, </a:t>
            </a:r>
            <a:r>
              <a:rPr lang="en-US" dirty="0" err="1"/>
              <a:t>r.rating</a:t>
            </a:r>
            <a:r>
              <a:rPr lang="en-US" dirty="0"/>
              <a:t>,</a:t>
            </a:r>
          </a:p>
          <a:p>
            <a:pPr marL="114300" indent="0">
              <a:buNone/>
            </a:pPr>
            <a:r>
              <a:rPr lang="en-US" dirty="0" err="1"/>
              <a:t>sp.payout_id</a:t>
            </a:r>
            <a:r>
              <a:rPr lang="en-US" dirty="0"/>
              <a:t>, </a:t>
            </a:r>
            <a:r>
              <a:rPr lang="en-US" dirty="0" err="1"/>
              <a:t>sp.seller_id</a:t>
            </a:r>
            <a:r>
              <a:rPr lang="en-US" dirty="0"/>
              <a:t>, </a:t>
            </a:r>
            <a:r>
              <a:rPr lang="en-US" dirty="0" err="1"/>
              <a:t>sp.total_amount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FROM Reviews r</a:t>
            </a:r>
          </a:p>
          <a:p>
            <a:pPr marL="114300" indent="0">
              <a:buNone/>
            </a:pPr>
            <a:r>
              <a:rPr lang="en-US" dirty="0"/>
              <a:t>FULL OUTER JOIN </a:t>
            </a:r>
            <a:r>
              <a:rPr lang="en-US" dirty="0" err="1"/>
              <a:t>Seller_Payouts</a:t>
            </a:r>
            <a:r>
              <a:rPr lang="en-US" dirty="0"/>
              <a:t> </a:t>
            </a:r>
            <a:r>
              <a:rPr lang="en-US" dirty="0" err="1"/>
              <a:t>sp</a:t>
            </a:r>
            <a:r>
              <a:rPr lang="en-US" dirty="0"/>
              <a:t> ON </a:t>
            </a:r>
            <a:r>
              <a:rPr lang="en-US" dirty="0" err="1"/>
              <a:t>r.buyer_id</a:t>
            </a:r>
            <a:r>
              <a:rPr lang="en-US" dirty="0"/>
              <a:t> = </a:t>
            </a:r>
            <a:r>
              <a:rPr lang="en-US" dirty="0" err="1"/>
              <a:t>sp.seller_id</a:t>
            </a:r>
            <a:endParaRPr lang="en-US" dirty="0"/>
          </a:p>
          <a:p>
            <a:pPr marL="114300" indent="0">
              <a:buNone/>
            </a:pPr>
            <a:r>
              <a:rPr lang="en-US" dirty="0"/>
              <a:t>WHERE </a:t>
            </a:r>
            <a:r>
              <a:rPr lang="en-US" dirty="0" err="1"/>
              <a:t>r.review_id</a:t>
            </a:r>
            <a:r>
              <a:rPr lang="en-US" dirty="0"/>
              <a:t> IS NOT NULL OR </a:t>
            </a:r>
            <a:r>
              <a:rPr lang="en-US" dirty="0" err="1"/>
              <a:t>sp.payout_id</a:t>
            </a:r>
            <a:r>
              <a:rPr lang="en-US" dirty="0"/>
              <a:t> IS NOT NULL;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19587D-5C22-3083-5DA8-2ADD312F7BCA}"/>
              </a:ext>
            </a:extLst>
          </p:cNvPr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434E0D-03C4-0680-9831-D5B0DBE86874}"/>
              </a:ext>
            </a:extLst>
          </p:cNvPr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EE7426-95F5-0982-CBD0-B1182FBB51F1}"/>
              </a:ext>
            </a:extLst>
          </p:cNvPr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Compares buyer review activity against seller payout records to confirm that no single account is simultaneously earning payouts and submitting reviews, ensuring role integrity across all platform users.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143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D988-C203-E77A-0213-54007CA9F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94E80-3C55-F5AB-43EE-BD5A4C3E5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92" y="152854"/>
            <a:ext cx="4574721" cy="443139"/>
          </a:xfrm>
        </p:spPr>
        <p:txBody>
          <a:bodyPr>
            <a:noAutofit/>
          </a:bodyPr>
          <a:lstStyle/>
          <a:p>
            <a:r>
              <a:rPr lang="en-US" sz="2400" dirty="0"/>
              <a:t>QM10.1: AGGREGATION-JOIN-QUERY WITH GROUP BY &amp; HAVING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CEA5C-C237-E581-D014-36BC7A441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47500" lnSpcReduction="20000"/>
          </a:bodyPr>
          <a:lstStyle/>
          <a:p>
            <a:r>
              <a:rPr lang="en-US" sz="3300" dirty="0"/>
              <a:t>SQL Query:</a:t>
            </a:r>
          </a:p>
          <a:p>
            <a:pPr marL="114300" indent="0">
              <a:buNone/>
            </a:pPr>
            <a:r>
              <a:rPr lang="en-US" sz="3300" dirty="0"/>
              <a:t>SELECT </a:t>
            </a:r>
            <a:r>
              <a:rPr lang="en-US" sz="3300" dirty="0" err="1"/>
              <a:t>u.user_id</a:t>
            </a:r>
            <a:r>
              <a:rPr lang="en-US" sz="3300" dirty="0"/>
              <a:t>, </a:t>
            </a:r>
            <a:r>
              <a:rPr lang="en-US" sz="3300" dirty="0" err="1"/>
              <a:t>u.first_name</a:t>
            </a:r>
            <a:r>
              <a:rPr lang="en-US" sz="3300" dirty="0"/>
              <a:t>, </a:t>
            </a:r>
            <a:r>
              <a:rPr lang="en-US" sz="3300" dirty="0" err="1"/>
              <a:t>u.last_name</a:t>
            </a:r>
            <a:r>
              <a:rPr lang="en-US" sz="3300" dirty="0"/>
              <a:t>,</a:t>
            </a:r>
          </a:p>
          <a:p>
            <a:pPr marL="114300" indent="0">
              <a:buNone/>
            </a:pPr>
            <a:r>
              <a:rPr lang="en-US" sz="3300" dirty="0"/>
              <a:t>       COUNT(</a:t>
            </a:r>
            <a:r>
              <a:rPr lang="en-US" sz="3300" dirty="0" err="1"/>
              <a:t>pay.payment_id</a:t>
            </a:r>
            <a:r>
              <a:rPr lang="en-US" sz="3300" dirty="0"/>
              <a:t>)   AS </a:t>
            </a:r>
            <a:r>
              <a:rPr lang="en-US" sz="3300" dirty="0" err="1"/>
              <a:t>total_payments</a:t>
            </a:r>
            <a:r>
              <a:rPr lang="en-US" sz="3300" dirty="0"/>
              <a:t>,</a:t>
            </a:r>
          </a:p>
          <a:p>
            <a:pPr marL="114300" indent="0">
              <a:buNone/>
            </a:pPr>
            <a:r>
              <a:rPr lang="en-US" sz="3300" dirty="0"/>
              <a:t>       SUM(</a:t>
            </a:r>
            <a:r>
              <a:rPr lang="en-US" sz="3300" dirty="0" err="1"/>
              <a:t>pay.seller_earning</a:t>
            </a:r>
            <a:r>
              <a:rPr lang="en-US" sz="3300" dirty="0"/>
              <a:t>) AS </a:t>
            </a:r>
            <a:r>
              <a:rPr lang="en-US" sz="3300" dirty="0" err="1"/>
              <a:t>total_earned</a:t>
            </a:r>
            <a:endParaRPr lang="en-US" sz="3300" dirty="0"/>
          </a:p>
          <a:p>
            <a:pPr marL="114300" indent="0">
              <a:buNone/>
            </a:pPr>
            <a:r>
              <a:rPr lang="en-US" sz="3300" dirty="0"/>
              <a:t>FROM Users u</a:t>
            </a:r>
          </a:p>
          <a:p>
            <a:pPr marL="114300" indent="0">
              <a:buNone/>
            </a:pPr>
            <a:r>
              <a:rPr lang="en-US" sz="3300" dirty="0"/>
              <a:t>JOIN Products p ON </a:t>
            </a:r>
            <a:r>
              <a:rPr lang="en-US" sz="3300" dirty="0" err="1"/>
              <a:t>u.user_id</a:t>
            </a:r>
            <a:r>
              <a:rPr lang="en-US" sz="3300" dirty="0"/>
              <a:t> = </a:t>
            </a:r>
            <a:r>
              <a:rPr lang="en-US" sz="3300" dirty="0" err="1"/>
              <a:t>p.seller_id</a:t>
            </a:r>
            <a:endParaRPr lang="en-US" sz="3300" dirty="0"/>
          </a:p>
          <a:p>
            <a:pPr marL="114300" indent="0">
              <a:buNone/>
            </a:pPr>
            <a:r>
              <a:rPr lang="en-US" sz="3300" dirty="0"/>
              <a:t>JOIN Subscriptions s ON </a:t>
            </a:r>
            <a:r>
              <a:rPr lang="en-US" sz="3300" dirty="0" err="1"/>
              <a:t>p.product_id</a:t>
            </a:r>
            <a:r>
              <a:rPr lang="en-US" sz="3300" dirty="0"/>
              <a:t> = </a:t>
            </a:r>
            <a:r>
              <a:rPr lang="en-US" sz="3300" dirty="0" err="1"/>
              <a:t>s.product_id</a:t>
            </a:r>
            <a:endParaRPr lang="en-US" sz="3300" dirty="0"/>
          </a:p>
          <a:p>
            <a:pPr marL="114300" indent="0">
              <a:buNone/>
            </a:pPr>
            <a:r>
              <a:rPr lang="en-US" sz="3300" dirty="0"/>
              <a:t>JOIN Payments pay ON </a:t>
            </a:r>
            <a:r>
              <a:rPr lang="en-US" sz="3300" dirty="0" err="1"/>
              <a:t>s.subscription_id</a:t>
            </a:r>
            <a:r>
              <a:rPr lang="en-US" sz="3300" dirty="0"/>
              <a:t> = </a:t>
            </a:r>
            <a:r>
              <a:rPr lang="en-US" sz="3300" dirty="0" err="1"/>
              <a:t>pay.subscription_id</a:t>
            </a:r>
            <a:endParaRPr lang="en-US" sz="3300" dirty="0"/>
          </a:p>
          <a:p>
            <a:pPr marL="114300" indent="0">
              <a:buNone/>
            </a:pPr>
            <a:r>
              <a:rPr lang="en-US" sz="3300" dirty="0"/>
              <a:t>WHERE </a:t>
            </a:r>
            <a:r>
              <a:rPr lang="en-US" sz="3300" dirty="0" err="1"/>
              <a:t>u.role</a:t>
            </a:r>
            <a:r>
              <a:rPr lang="en-US" sz="3300" dirty="0"/>
              <a:t> = 'seller'</a:t>
            </a:r>
          </a:p>
          <a:p>
            <a:pPr marL="114300" indent="0">
              <a:buNone/>
            </a:pPr>
            <a:r>
              <a:rPr lang="en-US" sz="3300" dirty="0"/>
              <a:t>GROUP BY </a:t>
            </a:r>
            <a:r>
              <a:rPr lang="en-US" sz="3300" dirty="0" err="1"/>
              <a:t>u.user_id</a:t>
            </a:r>
            <a:r>
              <a:rPr lang="en-US" sz="3300" dirty="0"/>
              <a:t>, </a:t>
            </a:r>
            <a:r>
              <a:rPr lang="en-US" sz="3300" dirty="0" err="1"/>
              <a:t>u.first_name</a:t>
            </a:r>
            <a:r>
              <a:rPr lang="en-US" sz="3300" dirty="0"/>
              <a:t>, </a:t>
            </a:r>
            <a:r>
              <a:rPr lang="en-US" sz="3300" dirty="0" err="1"/>
              <a:t>u.last_name</a:t>
            </a:r>
            <a:endParaRPr lang="en-US" sz="3300" dirty="0"/>
          </a:p>
          <a:p>
            <a:pPr marL="114300" indent="0">
              <a:buNone/>
            </a:pPr>
            <a:r>
              <a:rPr lang="en-US" sz="3300" dirty="0"/>
              <a:t>HAVING SUM(</a:t>
            </a:r>
            <a:r>
              <a:rPr lang="en-US" sz="3300" dirty="0" err="1"/>
              <a:t>pay.seller_earning</a:t>
            </a:r>
            <a:r>
              <a:rPr lang="en-US" sz="3300" dirty="0"/>
              <a:t>) &gt; 50.00;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E2E8DD-69F5-EEEB-D4FB-C5A6C04368E0}"/>
              </a:ext>
            </a:extLst>
          </p:cNvPr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DBD9E1-DE74-B8DC-90A8-7D4F6514218E}"/>
              </a:ext>
            </a:extLst>
          </p:cNvPr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21E8A4-B8B9-461F-280F-81C6C5B69F3D}"/>
              </a:ext>
            </a:extLst>
          </p:cNvPr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Calculates total earnings and payment count per seller to identify high-performing sellers who have collectively earned more than $50 in seller earnings, helping the platform prioritize support and promotional resources.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3780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DC02F-C685-1758-A8E6-729C6CF38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FD7D0-2BB3-9243-92DF-72D429020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2400" dirty="0"/>
              <a:t>QM10.2: AGGREGATION-JOIN-QUERY WITH SUB-QUERY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094D1-D2FB-78E5-B9FE-6F58EBAA1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1" y="2334986"/>
            <a:ext cx="4631873" cy="4310744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40000" lnSpcReduction="20000"/>
          </a:bodyPr>
          <a:lstStyle/>
          <a:p>
            <a:r>
              <a:rPr lang="en-US" dirty="0"/>
              <a:t>SQL Query:</a:t>
            </a:r>
          </a:p>
          <a:p>
            <a:pPr marL="114300" indent="0">
              <a:buNone/>
            </a:pPr>
            <a:r>
              <a:rPr lang="en-US" sz="3100" dirty="0"/>
              <a:t>SELECT </a:t>
            </a:r>
            <a:r>
              <a:rPr lang="en-US" sz="3100" dirty="0" err="1"/>
              <a:t>p.product_id</a:t>
            </a:r>
            <a:r>
              <a:rPr lang="en-US" sz="3100" dirty="0"/>
              <a:t>, </a:t>
            </a:r>
            <a:r>
              <a:rPr lang="en-US" sz="3100" dirty="0" err="1"/>
              <a:t>p.product_name</a:t>
            </a:r>
            <a:r>
              <a:rPr lang="en-US" sz="3100" dirty="0"/>
              <a:t>, </a:t>
            </a:r>
            <a:r>
              <a:rPr lang="en-US" sz="3100" dirty="0" err="1"/>
              <a:t>p.price</a:t>
            </a:r>
            <a:r>
              <a:rPr lang="en-US" sz="3100" dirty="0"/>
              <a:t>,</a:t>
            </a:r>
          </a:p>
          <a:p>
            <a:pPr marL="114300" indent="0">
              <a:buNone/>
            </a:pPr>
            <a:r>
              <a:rPr lang="en-US" sz="3100" dirty="0"/>
              <a:t>       </a:t>
            </a:r>
            <a:r>
              <a:rPr lang="en-US" sz="3100" dirty="0" err="1"/>
              <a:t>product_avg.avg_rating</a:t>
            </a:r>
            <a:r>
              <a:rPr lang="en-US" sz="3100" dirty="0"/>
              <a:t>,</a:t>
            </a:r>
          </a:p>
          <a:p>
            <a:pPr marL="114300" indent="0">
              <a:buNone/>
            </a:pPr>
            <a:r>
              <a:rPr lang="en-US" sz="3100" dirty="0"/>
              <a:t>       </a:t>
            </a:r>
            <a:r>
              <a:rPr lang="en-US" sz="3100" dirty="0" err="1"/>
              <a:t>product_avg.review_count</a:t>
            </a:r>
            <a:endParaRPr lang="en-US" sz="3100" dirty="0"/>
          </a:p>
          <a:p>
            <a:pPr marL="114300" indent="0">
              <a:buNone/>
            </a:pPr>
            <a:r>
              <a:rPr lang="en-US" sz="3100" dirty="0"/>
              <a:t>FROM Products p</a:t>
            </a:r>
          </a:p>
          <a:p>
            <a:pPr marL="114300" indent="0">
              <a:buNone/>
            </a:pPr>
            <a:r>
              <a:rPr lang="en-US" sz="3100" dirty="0"/>
              <a:t>JOIN (</a:t>
            </a:r>
          </a:p>
          <a:p>
            <a:pPr marL="114300" indent="0">
              <a:buNone/>
            </a:pPr>
            <a:r>
              <a:rPr lang="en-US" sz="3100" dirty="0"/>
              <a:t>    SELECT </a:t>
            </a:r>
            <a:r>
              <a:rPr lang="en-US" sz="3100" dirty="0" err="1"/>
              <a:t>product_id</a:t>
            </a:r>
            <a:r>
              <a:rPr lang="en-US" sz="3100" dirty="0"/>
              <a:t>,</a:t>
            </a:r>
          </a:p>
          <a:p>
            <a:pPr marL="114300" indent="0">
              <a:buNone/>
            </a:pPr>
            <a:r>
              <a:rPr lang="en-US" sz="3100" dirty="0"/>
              <a:t>           ROUND(AVG(CAST(rating AS DECIMAL(5,2))), 2) AS </a:t>
            </a:r>
            <a:r>
              <a:rPr lang="en-US" sz="3100" dirty="0" err="1"/>
              <a:t>avg_rating</a:t>
            </a:r>
            <a:r>
              <a:rPr lang="en-US" sz="3100" dirty="0"/>
              <a:t>,</a:t>
            </a:r>
          </a:p>
          <a:p>
            <a:pPr marL="114300" indent="0">
              <a:buNone/>
            </a:pPr>
            <a:r>
              <a:rPr lang="en-US" sz="3100" dirty="0"/>
              <a:t>           COUNT(*) AS </a:t>
            </a:r>
            <a:r>
              <a:rPr lang="en-US" sz="3100" dirty="0" err="1"/>
              <a:t>review_count</a:t>
            </a:r>
            <a:endParaRPr lang="en-US" sz="3100" dirty="0"/>
          </a:p>
          <a:p>
            <a:pPr marL="114300" indent="0">
              <a:buNone/>
            </a:pPr>
            <a:r>
              <a:rPr lang="en-US" sz="3100" dirty="0"/>
              <a:t>    FROM Reviews</a:t>
            </a:r>
          </a:p>
          <a:p>
            <a:pPr marL="114300" indent="0">
              <a:buNone/>
            </a:pPr>
            <a:r>
              <a:rPr lang="en-US" sz="3100" dirty="0"/>
              <a:t>    GROUP BY </a:t>
            </a:r>
            <a:r>
              <a:rPr lang="en-US" sz="3100" dirty="0" err="1"/>
              <a:t>product_id</a:t>
            </a:r>
            <a:endParaRPr lang="en-US" sz="3100" dirty="0"/>
          </a:p>
          <a:p>
            <a:pPr marL="114300" indent="0">
              <a:buNone/>
            </a:pPr>
            <a:r>
              <a:rPr lang="en-US" sz="3100" dirty="0"/>
              <a:t>) AS </a:t>
            </a:r>
            <a:r>
              <a:rPr lang="en-US" sz="3100" dirty="0" err="1"/>
              <a:t>product_avg</a:t>
            </a:r>
            <a:r>
              <a:rPr lang="en-US" sz="3100" dirty="0"/>
              <a:t> ON </a:t>
            </a:r>
            <a:r>
              <a:rPr lang="en-US" sz="3100" dirty="0" err="1"/>
              <a:t>p.product_id</a:t>
            </a:r>
            <a:r>
              <a:rPr lang="en-US" sz="3100" dirty="0"/>
              <a:t> = </a:t>
            </a:r>
            <a:r>
              <a:rPr lang="en-US" sz="3100" dirty="0" err="1"/>
              <a:t>product_avg.product_id</a:t>
            </a:r>
            <a:endParaRPr lang="en-US" sz="3100" dirty="0"/>
          </a:p>
          <a:p>
            <a:pPr marL="114300" indent="0">
              <a:buNone/>
            </a:pPr>
            <a:r>
              <a:rPr lang="en-US" sz="3100" dirty="0"/>
              <a:t>WHERE </a:t>
            </a:r>
            <a:r>
              <a:rPr lang="en-US" sz="3100" dirty="0" err="1"/>
              <a:t>product_avg.avg_rating</a:t>
            </a:r>
            <a:r>
              <a:rPr lang="en-US" sz="3100" dirty="0"/>
              <a:t> &gt; (</a:t>
            </a:r>
          </a:p>
          <a:p>
            <a:pPr marL="114300" indent="0">
              <a:buNone/>
            </a:pPr>
            <a:r>
              <a:rPr lang="en-US" sz="3100" dirty="0"/>
              <a:t>    SELECT AVG(CAST(rating AS DECIMAL(5,2)))</a:t>
            </a:r>
          </a:p>
          <a:p>
            <a:pPr marL="114300" indent="0">
              <a:buNone/>
            </a:pPr>
            <a:r>
              <a:rPr lang="en-US" sz="3100" dirty="0"/>
              <a:t>    FROM Reviews</a:t>
            </a:r>
          </a:p>
          <a:p>
            <a:pPr marL="114300" indent="0">
              <a:buNone/>
            </a:pPr>
            <a:r>
              <a:rPr lang="en-US" sz="3100" dirty="0"/>
              <a:t>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BF453D-F21B-FD87-1258-1B3B522319F5}"/>
              </a:ext>
            </a:extLst>
          </p:cNvPr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42617F-4E6F-5917-19F6-1BBD9E9EFD15}"/>
              </a:ext>
            </a:extLst>
          </p:cNvPr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BE6AD2-F547-45DC-24CE-3A6F77781CE3}"/>
              </a:ext>
            </a:extLst>
          </p:cNvPr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Surfaces products whose average customer rating exceeds the platform-wide average rating, giving the marketplace's featured-products algorithm a list of objectively above-average AI tools.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7936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6DB1A-0B75-DA25-696D-7DE22479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38668-E4AC-C493-CBAB-B36F8CC83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93" y="152854"/>
            <a:ext cx="4313464" cy="443139"/>
          </a:xfrm>
        </p:spPr>
        <p:txBody>
          <a:bodyPr>
            <a:noAutofit/>
          </a:bodyPr>
          <a:lstStyle/>
          <a:p>
            <a:r>
              <a:rPr lang="en-US" sz="3600" dirty="0"/>
              <a:t>QM11: WITH-QUERY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4426B-E123-8617-C6CE-93F73B95D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1" y="2334985"/>
            <a:ext cx="4631873" cy="4318907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/>
          </a:bodyPr>
          <a:lstStyle/>
          <a:p>
            <a:r>
              <a:rPr lang="en-US" sz="1200" dirty="0"/>
              <a:t>SQL Query:</a:t>
            </a:r>
          </a:p>
          <a:p>
            <a:pPr marL="114300" indent="0">
              <a:buNone/>
            </a:pPr>
            <a:r>
              <a:rPr lang="en-US" sz="1200" dirty="0"/>
              <a:t>WITH </a:t>
            </a:r>
            <a:r>
              <a:rPr lang="en-US" sz="1200" dirty="0" err="1"/>
              <a:t>SellerRevenue</a:t>
            </a:r>
            <a:r>
              <a:rPr lang="en-US" sz="1200" dirty="0"/>
              <a:t> AS (</a:t>
            </a:r>
          </a:p>
          <a:p>
            <a:pPr marL="114300" indent="0">
              <a:buNone/>
            </a:pPr>
            <a:r>
              <a:rPr lang="en-US" sz="1200" dirty="0"/>
              <a:t>    SELECT </a:t>
            </a:r>
            <a:r>
              <a:rPr lang="en-US" sz="1200" dirty="0" err="1"/>
              <a:t>u.user_id</a:t>
            </a:r>
            <a:r>
              <a:rPr lang="en-US" sz="1200" dirty="0"/>
              <a:t>, </a:t>
            </a:r>
            <a:r>
              <a:rPr lang="en-US" sz="1200" dirty="0" err="1"/>
              <a:t>u.first_name</a:t>
            </a:r>
            <a:r>
              <a:rPr lang="en-US" sz="1200" dirty="0"/>
              <a:t>, </a:t>
            </a:r>
            <a:r>
              <a:rPr lang="en-US" sz="1200" dirty="0" err="1"/>
              <a:t>u.last_name</a:t>
            </a:r>
            <a:r>
              <a:rPr lang="en-US" sz="1200" dirty="0"/>
              <a:t>,</a:t>
            </a:r>
          </a:p>
          <a:p>
            <a:pPr marL="114300" indent="0">
              <a:buNone/>
            </a:pPr>
            <a:r>
              <a:rPr lang="en-US" sz="1200" dirty="0"/>
              <a:t>           SUM(</a:t>
            </a:r>
            <a:r>
              <a:rPr lang="en-US" sz="1200" dirty="0" err="1"/>
              <a:t>pay.seller_earning</a:t>
            </a:r>
            <a:r>
              <a:rPr lang="en-US" sz="1200" dirty="0"/>
              <a:t>) AS </a:t>
            </a:r>
            <a:r>
              <a:rPr lang="en-US" sz="1200" dirty="0" err="1"/>
              <a:t>total_seller_earning</a:t>
            </a:r>
            <a:endParaRPr lang="en-US" sz="1200" dirty="0"/>
          </a:p>
          <a:p>
            <a:pPr marL="114300" indent="0">
              <a:buNone/>
            </a:pPr>
            <a:r>
              <a:rPr lang="en-US" sz="1200" dirty="0"/>
              <a:t>    FROM Users u</a:t>
            </a:r>
          </a:p>
          <a:p>
            <a:pPr marL="114300" indent="0">
              <a:buNone/>
            </a:pPr>
            <a:r>
              <a:rPr lang="en-US" sz="1200" dirty="0"/>
              <a:t>    JOIN Products p      ON </a:t>
            </a:r>
            <a:r>
              <a:rPr lang="en-US" sz="1200" dirty="0" err="1"/>
              <a:t>u.user_id</a:t>
            </a:r>
            <a:r>
              <a:rPr lang="en-US" sz="1200" dirty="0"/>
              <a:t>         = </a:t>
            </a:r>
            <a:r>
              <a:rPr lang="en-US" sz="1200" dirty="0" err="1"/>
              <a:t>p.seller_id</a:t>
            </a:r>
            <a:endParaRPr lang="en-US" sz="1200" dirty="0"/>
          </a:p>
          <a:p>
            <a:pPr marL="114300" indent="0">
              <a:buNone/>
            </a:pPr>
            <a:r>
              <a:rPr lang="en-US" sz="1200" dirty="0"/>
              <a:t>    JOIN Subscriptions s ON </a:t>
            </a:r>
            <a:r>
              <a:rPr lang="en-US" sz="1200" dirty="0" err="1"/>
              <a:t>p.product_id</a:t>
            </a:r>
            <a:r>
              <a:rPr lang="en-US" sz="1200" dirty="0"/>
              <a:t>      = </a:t>
            </a:r>
            <a:r>
              <a:rPr lang="en-US" sz="1200" dirty="0" err="1"/>
              <a:t>s.product_id</a:t>
            </a:r>
            <a:endParaRPr lang="en-US" sz="1200" dirty="0"/>
          </a:p>
          <a:p>
            <a:pPr marL="114300" indent="0">
              <a:buNone/>
            </a:pPr>
            <a:r>
              <a:rPr lang="en-US" sz="1200" dirty="0"/>
              <a:t>    JOIN Payments pay    ON </a:t>
            </a:r>
            <a:r>
              <a:rPr lang="en-US" sz="1200" dirty="0" err="1"/>
              <a:t>s.subscription_id</a:t>
            </a:r>
            <a:r>
              <a:rPr lang="en-US" sz="1200" dirty="0"/>
              <a:t> = </a:t>
            </a:r>
            <a:r>
              <a:rPr lang="en-US" sz="1200" dirty="0" err="1"/>
              <a:t>pay.subscription_id</a:t>
            </a:r>
            <a:endParaRPr lang="en-US" sz="1200" dirty="0"/>
          </a:p>
          <a:p>
            <a:pPr marL="114300" indent="0">
              <a:buNone/>
            </a:pPr>
            <a:r>
              <a:rPr lang="en-US" sz="1200" dirty="0"/>
              <a:t>    WHERE </a:t>
            </a:r>
            <a:r>
              <a:rPr lang="en-US" sz="1200" dirty="0" err="1"/>
              <a:t>u.role</a:t>
            </a:r>
            <a:r>
              <a:rPr lang="en-US" sz="1200" dirty="0"/>
              <a:t> = 'seller'</a:t>
            </a:r>
          </a:p>
          <a:p>
            <a:pPr marL="114300" indent="0">
              <a:buNone/>
            </a:pPr>
            <a:r>
              <a:rPr lang="en-US" sz="1200" dirty="0"/>
              <a:t>    GROUP BY </a:t>
            </a:r>
            <a:r>
              <a:rPr lang="en-US" sz="1200" dirty="0" err="1"/>
              <a:t>u.user_id</a:t>
            </a:r>
            <a:r>
              <a:rPr lang="en-US" sz="1200" dirty="0"/>
              <a:t>, </a:t>
            </a:r>
            <a:r>
              <a:rPr lang="en-US" sz="1200" dirty="0" err="1"/>
              <a:t>u.first_name</a:t>
            </a:r>
            <a:r>
              <a:rPr lang="en-US" sz="1200" dirty="0"/>
              <a:t>, </a:t>
            </a:r>
            <a:r>
              <a:rPr lang="en-US" sz="1200" dirty="0" err="1"/>
              <a:t>u.last_name</a:t>
            </a:r>
            <a:endParaRPr lang="en-US" sz="1200" dirty="0"/>
          </a:p>
          <a:p>
            <a:pPr marL="114300" indent="0">
              <a:buNone/>
            </a:pPr>
            <a:r>
              <a:rPr lang="en-US" sz="1200" dirty="0"/>
              <a:t>)</a:t>
            </a:r>
          </a:p>
          <a:p>
            <a:pPr marL="114300" indent="0">
              <a:buNone/>
            </a:pPr>
            <a:r>
              <a:rPr lang="en-US" sz="1200" dirty="0"/>
              <a:t>SELECT </a:t>
            </a:r>
            <a:r>
              <a:rPr lang="en-US" sz="1200" dirty="0" err="1"/>
              <a:t>user_id</a:t>
            </a:r>
            <a:r>
              <a:rPr lang="en-US" sz="1200" dirty="0"/>
              <a:t>, </a:t>
            </a:r>
            <a:r>
              <a:rPr lang="en-US" sz="1200" dirty="0" err="1"/>
              <a:t>first_name</a:t>
            </a:r>
            <a:r>
              <a:rPr lang="en-US" sz="1200" dirty="0"/>
              <a:t>, </a:t>
            </a:r>
            <a:r>
              <a:rPr lang="en-US" sz="1200" dirty="0" err="1"/>
              <a:t>last_name</a:t>
            </a:r>
            <a:r>
              <a:rPr lang="en-US" sz="1200" dirty="0"/>
              <a:t>,</a:t>
            </a:r>
          </a:p>
          <a:p>
            <a:pPr marL="114300" indent="0">
              <a:buNone/>
            </a:pPr>
            <a:r>
              <a:rPr lang="en-US" sz="1200" dirty="0"/>
              <a:t>       </a:t>
            </a:r>
            <a:r>
              <a:rPr lang="en-US" sz="1200" dirty="0" err="1"/>
              <a:t>total_seller_earning</a:t>
            </a:r>
            <a:r>
              <a:rPr lang="en-US" sz="1200" dirty="0"/>
              <a:t>,</a:t>
            </a:r>
          </a:p>
          <a:p>
            <a:pPr marL="114300" indent="0">
              <a:buNone/>
            </a:pPr>
            <a:r>
              <a:rPr lang="en-US" sz="1200" dirty="0"/>
              <a:t>       RANK() OVER (ORDER BY </a:t>
            </a:r>
            <a:r>
              <a:rPr lang="en-US" sz="1200" dirty="0" err="1"/>
              <a:t>total_seller_earning</a:t>
            </a:r>
            <a:r>
              <a:rPr lang="en-US" sz="1200" dirty="0"/>
              <a:t> DESC) AS </a:t>
            </a:r>
            <a:r>
              <a:rPr lang="en-US" sz="1200" dirty="0" err="1"/>
              <a:t>earning_rank</a:t>
            </a:r>
            <a:endParaRPr lang="en-US" sz="1200" dirty="0"/>
          </a:p>
          <a:p>
            <a:pPr marL="114300" indent="0">
              <a:buNone/>
            </a:pPr>
            <a:r>
              <a:rPr lang="en-US" sz="1200" dirty="0"/>
              <a:t>FROM </a:t>
            </a:r>
            <a:r>
              <a:rPr lang="en-US" sz="1200" dirty="0" err="1"/>
              <a:t>SellerRevenue</a:t>
            </a:r>
            <a:r>
              <a:rPr lang="en-US" sz="1200" dirty="0"/>
              <a:t>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4179-0FB2-1D1B-65C1-AE81CC4F5E16}"/>
              </a:ext>
            </a:extLst>
          </p:cNvPr>
          <p:cNvSpPr/>
          <p:nvPr/>
        </p:nvSpPr>
        <p:spPr>
          <a:xfrm>
            <a:off x="4955721" y="536285"/>
            <a:ext cx="7004958" cy="610944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52EDDE-9D16-2267-50D3-BDBDF8E7F6B3}"/>
              </a:ext>
            </a:extLst>
          </p:cNvPr>
          <p:cNvSpPr/>
          <p:nvPr/>
        </p:nvSpPr>
        <p:spPr>
          <a:xfrm>
            <a:off x="4955721" y="166953"/>
            <a:ext cx="3020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Snapshot of the query output: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1A069-F508-48B4-AFFF-7BD00404ABBA}"/>
              </a:ext>
            </a:extLst>
          </p:cNvPr>
          <p:cNvSpPr txBox="1"/>
          <p:nvPr/>
        </p:nvSpPr>
        <p:spPr>
          <a:xfrm>
            <a:off x="119741" y="759278"/>
            <a:ext cx="4631873" cy="14924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dirty="0"/>
              <a:t>Description:</a:t>
            </a:r>
          </a:p>
          <a:p>
            <a:r>
              <a:rPr lang="en-US" dirty="0"/>
              <a:t>Uses a CTE to rank sellers by total earnings so the platform can identify top contributors for tiered incentive payouts.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72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Credits and References</a:t>
            </a:r>
            <a:endParaRPr/>
          </a:p>
        </p:txBody>
      </p:sp>
      <p:sp>
        <p:nvSpPr>
          <p:cNvPr id="194" name="Google Shape;194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/>
              <a:t>- SQL Server 2022 Documentation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https://learn.microsoft.com/en-us/sql/sql-server/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2855</Words>
  <Application>Microsoft Macintosh PowerPoint</Application>
  <PresentationFormat>Widescreen</PresentationFormat>
  <Paragraphs>340</Paragraphs>
  <Slides>30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Project Assignment 2</vt:lpstr>
      <vt:lpstr>DDL QUERIES</vt:lpstr>
      <vt:lpstr>QD1: CREATE TABLE</vt:lpstr>
      <vt:lpstr>QD1: CREATE TABLE</vt:lpstr>
      <vt:lpstr>QD2: ALTER TABLE</vt:lpstr>
      <vt:lpstr>QD3: ADD "CHECK" CONSTRAINT</vt:lpstr>
      <vt:lpstr>QD4: ADD FK CONSTRAINT(S) TO THE TABLE</vt:lpstr>
      <vt:lpstr>QD5: Create TRIGGER</vt:lpstr>
      <vt:lpstr>DML QUERIES</vt:lpstr>
      <vt:lpstr>QM1.1: A TEST QUERY FOR THE TRIGGER CREATED in QD5</vt:lpstr>
      <vt:lpstr>QM1.2: A TEST QUERY FOR THE "CHECK" CONSTRAINT DEFINED in QD3</vt:lpstr>
      <vt:lpstr>QM1.3: A TEST QUERY FOR THE FK CONSTRAINT DEFINED in QD4</vt:lpstr>
      <vt:lpstr>QM2: INSERT DATA</vt:lpstr>
      <vt:lpstr>QM3: UPDATE DATA</vt:lpstr>
      <vt:lpstr>QM4: DELETE DATA</vt:lpstr>
      <vt:lpstr>QM5: QUERY DATA WITH WHERE CLAUSE</vt:lpstr>
      <vt:lpstr>QM6.1: QUERY DATA WITH 'SUB-QUERY IN WHERE CLAUSE'</vt:lpstr>
      <vt:lpstr>QM6.2: QUERY DATA WITH SUB-QUERY IN FROM CLAUSE</vt:lpstr>
      <vt:lpstr>QM6.3: QUERY DATA WITH 'SUB-QUERY IN SELECT CLAUSE'</vt:lpstr>
      <vt:lpstr>QM7: QUERY DATA WITH EXCEPT</vt:lpstr>
      <vt:lpstr>QM8.1: QUERY DATA WITH ANY/SOME</vt:lpstr>
      <vt:lpstr>QM8.2: QUERY DATA WITH ALL in front of a sub-query</vt:lpstr>
      <vt:lpstr>QM9.1: INNER-JOIN-QUERY WITH WHERE CLAUSE</vt:lpstr>
      <vt:lpstr>QM9.2: LEFT-OUTER-JOIN-QUERY WITH WHERE CLAUSE</vt:lpstr>
      <vt:lpstr>QM9.3: RIGHT-OUTER-JOIN-QUERY WITH WHERE CLAUSE</vt:lpstr>
      <vt:lpstr>QM9.4: FULL-OUTER-JOIN-QUERY WITH WHERE CLAUSE</vt:lpstr>
      <vt:lpstr>QM10.1: AGGREGATION-JOIN-QUERY WITH GROUP BY &amp; HAVING</vt:lpstr>
      <vt:lpstr>QM10.2: AGGREGATION-JOIN-QUERY WITH SUB-QUERY</vt:lpstr>
      <vt:lpstr>QM11: WITH-QUERY</vt:lpstr>
      <vt:lpstr>Credits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Omer</dc:creator>
  <cp:lastModifiedBy>Adam Rodi</cp:lastModifiedBy>
  <cp:revision>13</cp:revision>
  <dcterms:created xsi:type="dcterms:W3CDTF">2018-04-19T19:36:03Z</dcterms:created>
  <dcterms:modified xsi:type="dcterms:W3CDTF">2026-04-25T19:19:32Z</dcterms:modified>
</cp:coreProperties>
</file>