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68" r:id="rId24"/>
  </p:sldIdLst>
  <p:sldSz cx="12192000" cy="6858000"/>
  <p:notesSz cx="9309100" cy="70532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83n313+4sKTzKdoD5rtEtzXbB2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46"/>
    <p:restoredTop sz="94699"/>
  </p:normalViewPr>
  <p:slideViewPr>
    <p:cSldViewPr snapToGrid="0">
      <p:cViewPr varScale="1">
        <p:scale>
          <a:sx n="69" d="100"/>
          <a:sy n="69" d="100"/>
        </p:scale>
        <p:origin x="216" y="19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551825" y="528975"/>
            <a:ext cx="6206375" cy="2644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1825" y="528975"/>
            <a:ext cx="6206375" cy="2644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1825" y="528975"/>
            <a:ext cx="6206375" cy="2644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356e2efa7_0_11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g3d356e2efa7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356e2efa7_0_33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d356e2efa7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d356e2efa7_0_49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g3d356e2efa7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d356e2efa7_0_59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3d356e2efa7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356e2efa7_0_77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d356e2efa7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1825" y="528975"/>
            <a:ext cx="6206375" cy="2644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356e2efa7_0_103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g3d356e2efa7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d356e2efa7_0_117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00" cy="31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g3d356e2efa7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305050" y="528638"/>
            <a:ext cx="4700588" cy="26447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:notes"/>
          <p:cNvSpPr txBox="1">
            <a:spLocks noGrp="1"/>
          </p:cNvSpPr>
          <p:nvPr>
            <p:ph type="body" idx="1"/>
          </p:nvPr>
        </p:nvSpPr>
        <p:spPr>
          <a:xfrm>
            <a:off x="930900" y="3350275"/>
            <a:ext cx="7447275" cy="3173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551825" y="528975"/>
            <a:ext cx="6206375" cy="26449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Project Assignment 2</a:t>
            </a:r>
            <a:endParaRPr/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TEAM MANGO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Adam Rodi, Samiksha Gnawali, Suyog Karki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306784" y="452281"/>
            <a:ext cx="41603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must </a:t>
            </a:r>
            <a:r>
              <a:rPr lang="en-US" sz="18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exactly follow </a:t>
            </a:r>
            <a:r>
              <a:rPr lang="en-US" sz="1800" b="1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template.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not change the order and the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background coloring or formatting.</a:t>
            </a:r>
            <a:endParaRPr sz="18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b="1"/>
              <a:t>DDL QUERIES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b="1"/>
              <a:t>Instructions: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i="1"/>
              <a:t>- must include </a:t>
            </a:r>
            <a:r>
              <a:rPr lang="en-US" b="1" i="1">
                <a:solidFill>
                  <a:srgbClr val="FF0000"/>
                </a:solidFill>
              </a:rPr>
              <a:t>ALL</a:t>
            </a:r>
            <a:r>
              <a:rPr lang="en-US" i="1"/>
              <a:t> queries listed in Queries.sql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i="1"/>
              <a:t>- must follow the </a:t>
            </a:r>
            <a:r>
              <a:rPr lang="en-US" b="1" i="1"/>
              <a:t>exact</a:t>
            </a:r>
            <a:r>
              <a:rPr lang="en-US" i="1"/>
              <a:t> format provided in the template slide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QD1</a:t>
            </a:r>
            <a:endParaRPr dirty="0"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1873" cy="43189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DATABASE AIMarketplace;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AIMarketplace;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01" name="Google Shape;101;p3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and select the database</a:t>
            </a:r>
            <a:endParaRPr/>
          </a:p>
        </p:txBody>
      </p:sp>
      <p:pic>
        <p:nvPicPr>
          <p:cNvPr id="102" name="Google Shape;10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626" y="912550"/>
            <a:ext cx="7307699" cy="50328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356e2efa7_0_11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QD1</a:t>
            </a:r>
            <a:endParaRPr dirty="0"/>
          </a:p>
        </p:txBody>
      </p:sp>
      <p:sp>
        <p:nvSpPr>
          <p:cNvPr id="108" name="Google Shape;108;g3d356e2efa7_0_11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228600" lvl="0" indent="-3886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1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 sz="1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CREATE TABLE Users (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user_id            INT           PRIMARY KEY,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first_name     VARCHAR(50)   NOT NULL,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last_name      VARCHAR(50)   NOT NULL,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email               VARCHAR(100)  NOT NULL UNIQUE,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password_hash  VARCHAR(255)  NOT NULL,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role                   VARCHAR(10)   NOT NULL,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created_at       DATETIME      DEFAULT GETDATE(),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    account_status VARCHAR(20)   DEFAULT 'active'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);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1428"/>
              <a:buFont typeface="Arial"/>
              <a:buNone/>
            </a:pPr>
            <a:r>
              <a:rPr lang="en-US" sz="3500"/>
              <a:t>GO</a:t>
            </a:r>
            <a:endParaRPr sz="35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d356e2efa7_0_11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g3d356e2efa7_0_11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11" name="Google Shape;111;g3d356e2efa7_0_11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User  for the AI Marketplace Platform.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12" name="Google Shape;112;g3d356e2efa7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625" y="958050"/>
            <a:ext cx="7459499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356e2efa7_0_33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QD2</a:t>
            </a:r>
            <a:endParaRPr dirty="0"/>
          </a:p>
        </p:txBody>
      </p:sp>
      <p:sp>
        <p:nvSpPr>
          <p:cNvPr id="118" name="Google Shape;118;g3d356e2efa7_0_33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ALTER TABLE Users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ADD phone_number VARCHAR(20) DEFAULT 'N/A';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GO</a:t>
            </a:r>
            <a:endParaRPr sz="22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19" name="Google Shape;119;g3d356e2efa7_0_33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d356e2efa7_0_33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21" name="Google Shape;121;g3d356e2efa7_0_33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User table by Adding a phone_number column to store seller contact information on the platform.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/>
          </a:p>
        </p:txBody>
      </p:sp>
      <p:pic>
        <p:nvPicPr>
          <p:cNvPr id="122" name="Google Shape;122;g3d356e2efa7_0_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7900" y="912550"/>
            <a:ext cx="7307699" cy="49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356e2efa7_0_49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QD3</a:t>
            </a:r>
            <a:endParaRPr dirty="0"/>
          </a:p>
        </p:txBody>
      </p:sp>
      <p:sp>
        <p:nvSpPr>
          <p:cNvPr id="128" name="Google Shape;128;g3d356e2efa7_0_49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ALTER TABLE Users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ADD CONSTRAINT chk_user_role 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CHECK (role IN ('buyer', 'seller'));</a:t>
            </a:r>
            <a:endParaRPr sz="26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GO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3d356e2efa7_0_49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d356e2efa7_0_49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31" name="Google Shape;131;g3d356e2efa7_0_49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constraint by ensuring that a user's role can only be assigned as either 'buyer' or 'seller'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g3d356e2efa7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5775" y="759275"/>
            <a:ext cx="7307699" cy="5124775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56e2efa7_0_59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QD4</a:t>
            </a:r>
            <a:endParaRPr dirty="0"/>
          </a:p>
        </p:txBody>
      </p:sp>
      <p:sp>
        <p:nvSpPr>
          <p:cNvPr id="138" name="Google Shape;138;g3d356e2efa7_0_59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ALTER TABLE Products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CONSTRAINT fk_products_seller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FOREIGN KEY (seller_id) 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REFERENCES Users(user_id)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ON DELETE CASCADE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ON UPDATE CASCADE;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g3d356e2efa7_0_59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d356e2efa7_0_59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41" name="Google Shape;141;g3d356e2efa7_0_59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Adds a foreign key constraint linking each product to a valid seller in the Users table</a:t>
            </a:r>
            <a:endParaRPr/>
          </a:p>
        </p:txBody>
      </p:sp>
      <p:pic>
        <p:nvPicPr>
          <p:cNvPr id="142" name="Google Shape;142;g3d356e2efa7_0_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6075" y="859275"/>
            <a:ext cx="7183250" cy="506855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356e2efa7_0_77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QD5</a:t>
            </a:r>
            <a:endParaRPr dirty="0"/>
          </a:p>
        </p:txBody>
      </p:sp>
      <p:sp>
        <p:nvSpPr>
          <p:cNvPr id="148" name="Google Shape;148;g3d356e2efa7_0_77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18859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27272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CREATE TRIGGER trg_calculate_commission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ON Payments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AFTER INSERT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AS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BEGIN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UPDATE Payments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SET 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platform_commission = ROUND(i.amount * 0.20, 2),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seller_earning      = ROUND(i.amount * 0.80, 2)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FROM Payments p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INNER JOIN inserted i ON p.payment_id = i.payment_id;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END;</a:t>
            </a:r>
            <a:endParaRPr sz="22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GO</a:t>
            </a:r>
            <a:endParaRPr sz="22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g3d356e2efa7_0_77"/>
          <p:cNvSpPr/>
          <p:nvPr/>
        </p:nvSpPr>
        <p:spPr>
          <a:xfrm>
            <a:off x="4751625" y="912550"/>
            <a:ext cx="7307700" cy="4962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d356e2efa7_0_77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51" name="Google Shape;151;g3d356e2efa7_0_77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Create trigger to calculate the platform commission (20%) and seller earning (80%) whenever a new payment is inserted into the Payments table.</a:t>
            </a:r>
            <a:endParaRPr/>
          </a:p>
        </p:txBody>
      </p:sp>
      <p:pic>
        <p:nvPicPr>
          <p:cNvPr id="152" name="Google Shape;152;g3d356e2efa7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51756" y="912550"/>
            <a:ext cx="7393392" cy="496199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DML QUERIES</a:t>
            </a:r>
            <a:endParaRPr/>
          </a:p>
        </p:txBody>
      </p:sp>
      <p:sp>
        <p:nvSpPr>
          <p:cNvPr id="158" name="Google Shape;158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b="1"/>
              <a:t>Instructions: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i="1"/>
              <a:t>- must include </a:t>
            </a:r>
            <a:r>
              <a:rPr lang="en-US" b="1" i="1">
                <a:solidFill>
                  <a:srgbClr val="FF0000"/>
                </a:solidFill>
              </a:rPr>
              <a:t>ALL</a:t>
            </a:r>
            <a:r>
              <a:rPr lang="en-US" i="1"/>
              <a:t> queries listed in Queries.sql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 i="1"/>
              <a:t>- must follow the </a:t>
            </a:r>
            <a:r>
              <a:rPr lang="en-US" b="1" i="1"/>
              <a:t>exact</a:t>
            </a:r>
            <a:r>
              <a:rPr lang="en-US" i="1"/>
              <a:t> format provided in the template slide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QM1.1</a:t>
            </a:r>
            <a:endParaRPr dirty="0"/>
          </a:p>
        </p:txBody>
      </p:sp>
      <p:sp>
        <p:nvSpPr>
          <p:cNvPr id="164" name="Google Shape;164;p5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1873" cy="4318907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SELECT payment_id, amount, platform_commission, seller_earning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FROM Payments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/>
              <a:t>WHERE payment_id = 1;</a:t>
            </a: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65" name="Google Shape;165;p5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67" name="Google Shape;167;p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trigger for calculating commission and earnings.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000" y="1168788"/>
            <a:ext cx="7005000" cy="50262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356e2efa7_0_103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QM1.2</a:t>
            </a:r>
            <a:endParaRPr dirty="0"/>
          </a:p>
        </p:txBody>
      </p:sp>
      <p:sp>
        <p:nvSpPr>
          <p:cNvPr id="174" name="Google Shape;174;g3d356e2efa7_0_103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INSERT INTO Users (user_id, first_name, last_name, email, password_hash, role)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VALUES (3, 'Test', 'Admin', 'admin@test.com', 'hashedpw789', 'admin');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75" name="Google Shape;175;g3d356e2efa7_0_103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3d356e2efa7_0_103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77" name="Google Shape;177;g3d356e2efa7_0_103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constraint by attempting to insert a user with an invalid role, which should be </a:t>
            </a:r>
            <a:r>
              <a:rPr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g3d356e2efa7_0_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0000" y="1162125"/>
            <a:ext cx="7162999" cy="48929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356e2efa7_0_117"/>
          <p:cNvSpPr txBox="1">
            <a:spLocks noGrp="1"/>
          </p:cNvSpPr>
          <p:nvPr>
            <p:ph type="title"/>
          </p:nvPr>
        </p:nvSpPr>
        <p:spPr>
          <a:xfrm>
            <a:off x="176893" y="152854"/>
            <a:ext cx="4313400" cy="4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dirty="0"/>
              <a:t>Q#: QM1.3</a:t>
            </a:r>
            <a:endParaRPr dirty="0"/>
          </a:p>
        </p:txBody>
      </p:sp>
      <p:sp>
        <p:nvSpPr>
          <p:cNvPr id="184" name="Google Shape;184;g3d356e2efa7_0_117"/>
          <p:cNvSpPr txBox="1">
            <a:spLocks noGrp="1"/>
          </p:cNvSpPr>
          <p:nvPr>
            <p:ph type="body" idx="1"/>
          </p:nvPr>
        </p:nvSpPr>
        <p:spPr>
          <a:xfrm>
            <a:off x="119741" y="2334985"/>
            <a:ext cx="4632000" cy="43188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SQL Query: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INSERT INTO Products (product_id, product_name, product_type, price, seller_id, category_id)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VALUES (99, 'Fake Product', 'web_app', 50.00, 9999, 1);</a:t>
            </a: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/>
          </a:p>
        </p:txBody>
      </p:sp>
      <p:sp>
        <p:nvSpPr>
          <p:cNvPr id="185" name="Google Shape;185;g3d356e2efa7_0_117"/>
          <p:cNvSpPr/>
          <p:nvPr/>
        </p:nvSpPr>
        <p:spPr>
          <a:xfrm>
            <a:off x="5029000" y="1308777"/>
            <a:ext cx="7005000" cy="47463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accent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d356e2efa7_0_117"/>
          <p:cNvSpPr/>
          <p:nvPr/>
        </p:nvSpPr>
        <p:spPr>
          <a:xfrm>
            <a:off x="4955721" y="166953"/>
            <a:ext cx="3020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Snapshot of the query output:</a:t>
            </a:r>
            <a:endParaRPr/>
          </a:p>
        </p:txBody>
      </p:sp>
      <p:sp>
        <p:nvSpPr>
          <p:cNvPr id="187" name="Google Shape;187;g3d356e2efa7_0_117"/>
          <p:cNvSpPr txBox="1"/>
          <p:nvPr/>
        </p:nvSpPr>
        <p:spPr>
          <a:xfrm>
            <a:off x="119741" y="759278"/>
            <a:ext cx="4632000" cy="14925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CC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Description: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Tests constraint by attempting to insert a product with a non-existent seller, which should be  </a:t>
            </a:r>
            <a:r>
              <a:rPr lang="en-US" sz="1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g3d356e2efa7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000" y="1308775"/>
            <a:ext cx="7004999" cy="474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INSERT INTO Users (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email, </a:t>
            </a:r>
            <a:r>
              <a:rPr lang="en-US" dirty="0" err="1"/>
              <a:t>password_hash</a:t>
            </a:r>
            <a:r>
              <a:rPr lang="en-US" dirty="0"/>
              <a:t>, role)</a:t>
            </a:r>
          </a:p>
          <a:p>
            <a:pPr marL="114300" indent="0">
              <a:buNone/>
            </a:pPr>
            <a:r>
              <a:rPr lang="en-US" dirty="0"/>
              <a:t>VALUES</a:t>
            </a:r>
          </a:p>
          <a:p>
            <a:pPr marL="114300" indent="0">
              <a:buNone/>
            </a:pPr>
            <a:r>
              <a:rPr lang="en-US" dirty="0"/>
              <a:t>    (3, 'Alice', 'Chen',  '</a:t>
            </a:r>
            <a:r>
              <a:rPr lang="en-US" dirty="0" err="1"/>
              <a:t>alice@aimarket.com</a:t>
            </a:r>
            <a:r>
              <a:rPr lang="en-US" dirty="0"/>
              <a:t>', '</a:t>
            </a:r>
            <a:r>
              <a:rPr lang="en-US" dirty="0" err="1"/>
              <a:t>hash_alice</a:t>
            </a:r>
            <a:r>
              <a:rPr lang="en-US" dirty="0"/>
              <a:t>', 'seller'),</a:t>
            </a:r>
          </a:p>
          <a:p>
            <a:pPr marL="114300" indent="0">
              <a:buNone/>
            </a:pPr>
            <a:r>
              <a:rPr lang="en-US" dirty="0"/>
              <a:t>    (4, 'Bob',   'Patel', '</a:t>
            </a:r>
            <a:r>
              <a:rPr lang="en-US" dirty="0" err="1"/>
              <a:t>bob@aimarket.com</a:t>
            </a:r>
            <a:r>
              <a:rPr lang="en-US" dirty="0"/>
              <a:t>',   '</a:t>
            </a:r>
            <a:r>
              <a:rPr lang="en-US" dirty="0" err="1"/>
              <a:t>hash_bob</a:t>
            </a:r>
            <a:r>
              <a:rPr lang="en-US" dirty="0"/>
              <a:t>',   'seller'),</a:t>
            </a:r>
          </a:p>
          <a:p>
            <a:pPr marL="114300" indent="0">
              <a:buNone/>
            </a:pPr>
            <a:r>
              <a:rPr lang="en-US" dirty="0"/>
              <a:t>    (5, 'Carol', 'Smith', '</a:t>
            </a:r>
            <a:r>
              <a:rPr lang="en-US" dirty="0" err="1"/>
              <a:t>carol@aimarket.com</a:t>
            </a:r>
            <a:r>
              <a:rPr lang="en-US" dirty="0"/>
              <a:t>', '</a:t>
            </a:r>
            <a:r>
              <a:rPr lang="en-US" dirty="0" err="1"/>
              <a:t>hash_carol</a:t>
            </a:r>
            <a:r>
              <a:rPr lang="en-US" dirty="0"/>
              <a:t>', 'buyer'),</a:t>
            </a:r>
          </a:p>
          <a:p>
            <a:pPr marL="114300" indent="0">
              <a:buNone/>
            </a:pPr>
            <a:r>
              <a:rPr lang="en-US" dirty="0"/>
              <a:t>    (6, 'David', 'Lee',   '</a:t>
            </a:r>
            <a:r>
              <a:rPr lang="en-US" dirty="0" err="1"/>
              <a:t>david@aimarket.com</a:t>
            </a:r>
            <a:r>
              <a:rPr lang="en-US" dirty="0"/>
              <a:t>', '</a:t>
            </a:r>
            <a:r>
              <a:rPr lang="en-US" dirty="0" err="1"/>
              <a:t>hash_david</a:t>
            </a:r>
            <a:r>
              <a:rPr lang="en-US" dirty="0"/>
              <a:t>', 'buyer');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 </a:t>
            </a:r>
            <a:br>
              <a:rPr lang="en-US" dirty="0"/>
            </a:br>
            <a:r>
              <a:rPr lang="en-US" dirty="0"/>
              <a:t>Populates the marketplace with additional sellers, buyers, categories, AI products, subscriptions, payments, reviews, tags, and seller payouts to represent a realistic set of platform activity.</a:t>
            </a:r>
          </a:p>
        </p:txBody>
      </p:sp>
    </p:spTree>
    <p:extLst>
      <p:ext uri="{BB962C8B-B14F-4D97-AF65-F5344CB8AC3E}">
        <p14:creationId xmlns:p14="http://schemas.microsoft.com/office/powerpoint/2010/main" val="1839517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UPDATE </a:t>
            </a:r>
            <a:r>
              <a:rPr lang="en-US" dirty="0" err="1"/>
              <a:t>Seller_Payouts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SET </a:t>
            </a:r>
            <a:r>
              <a:rPr lang="en-US" dirty="0" err="1"/>
              <a:t>payout_status</a:t>
            </a:r>
            <a:r>
              <a:rPr lang="en-US" dirty="0"/>
              <a:t> = 'completed'</a:t>
            </a:r>
          </a:p>
          <a:p>
            <a:pPr marL="114300" indent="0">
              <a:buNone/>
            </a:pPr>
            <a:r>
              <a:rPr lang="en-US" dirty="0"/>
              <a:t>WHERE </a:t>
            </a:r>
            <a:r>
              <a:rPr lang="en-US" dirty="0" err="1"/>
              <a:t>payout_status</a:t>
            </a:r>
            <a:r>
              <a:rPr lang="en-US" dirty="0"/>
              <a:t> = 'pending'</a:t>
            </a:r>
          </a:p>
          <a:p>
            <a:pPr marL="114300" indent="0">
              <a:buNone/>
            </a:pPr>
            <a:r>
              <a:rPr lang="en-US" dirty="0"/>
              <a:t>  AND </a:t>
            </a:r>
            <a:r>
              <a:rPr lang="en-US" dirty="0" err="1"/>
              <a:t>payout_date</a:t>
            </a:r>
            <a:r>
              <a:rPr lang="en-US" dirty="0"/>
              <a:t> &lt;= DATEADD(DAY, -30, GETDATE());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 </a:t>
            </a:r>
          </a:p>
          <a:p>
            <a:r>
              <a:rPr lang="en-US" dirty="0"/>
              <a:t>Marks all pending seller payouts older than 30 days as completed to reflect disbursements that have been successfully processed by the platform.</a:t>
            </a:r>
          </a:p>
        </p:txBody>
      </p:sp>
    </p:spTree>
    <p:extLst>
      <p:ext uri="{BB962C8B-B14F-4D97-AF65-F5344CB8AC3E}">
        <p14:creationId xmlns:p14="http://schemas.microsoft.com/office/powerpoint/2010/main" val="31285033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DELETE FROM Reviews</a:t>
            </a:r>
          </a:p>
          <a:p>
            <a:pPr marL="114300" indent="0">
              <a:buNone/>
            </a:pPr>
            <a:r>
              <a:rPr lang="en-US" dirty="0"/>
              <a:t>WHERE </a:t>
            </a:r>
            <a:r>
              <a:rPr lang="en-US" dirty="0" err="1"/>
              <a:t>review_id</a:t>
            </a:r>
            <a:r>
              <a:rPr lang="en-US" dirty="0"/>
              <a:t> = 4;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Removes a buyer's review that was submitted in error for a product they did not use long enough to evaluate, maintaining rating accuracy on the platform.</a:t>
            </a:r>
          </a:p>
        </p:txBody>
      </p:sp>
    </p:spTree>
    <p:extLst>
      <p:ext uri="{BB962C8B-B14F-4D97-AF65-F5344CB8AC3E}">
        <p14:creationId xmlns:p14="http://schemas.microsoft.com/office/powerpoint/2010/main" val="39915914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price, </a:t>
            </a:r>
            <a:r>
              <a:rPr lang="en-US" dirty="0" err="1"/>
              <a:t>product_type</a:t>
            </a:r>
            <a:r>
              <a:rPr lang="en-US" dirty="0"/>
              <a:t>, </a:t>
            </a:r>
            <a:r>
              <a:rPr lang="en-US" dirty="0" err="1"/>
              <a:t>seller_id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Products</a:t>
            </a:r>
          </a:p>
          <a:p>
            <a:pPr marL="114300" indent="0">
              <a:buNone/>
            </a:pPr>
            <a:r>
              <a:rPr lang="en-US" dirty="0"/>
              <a:t>WHERE price &gt; 75.00</a:t>
            </a:r>
          </a:p>
          <a:p>
            <a:pPr marL="114300" indent="0">
              <a:buNone/>
            </a:pPr>
            <a:r>
              <a:rPr lang="en-US" dirty="0"/>
              <a:t>  AND status = 'active';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Retrieves all active products priced above $75 to help buyers browse the platform's premium AI tool offerings.</a:t>
            </a:r>
          </a:p>
        </p:txBody>
      </p:sp>
    </p:spTree>
    <p:extLst>
      <p:ext uri="{BB962C8B-B14F-4D97-AF65-F5344CB8AC3E}">
        <p14:creationId xmlns:p14="http://schemas.microsoft.com/office/powerpoint/2010/main" val="967625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QM6.1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550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user_id</a:t>
            </a:r>
            <a:r>
              <a:rPr lang="en-US" dirty="0"/>
              <a:t>, </a:t>
            </a:r>
            <a:r>
              <a:rPr lang="en-US" dirty="0" err="1"/>
              <a:t>first_name</a:t>
            </a:r>
            <a:r>
              <a:rPr lang="en-US" dirty="0"/>
              <a:t>, </a:t>
            </a:r>
            <a:r>
              <a:rPr lang="en-US" dirty="0" err="1"/>
              <a:t>last_name</a:t>
            </a:r>
            <a:r>
              <a:rPr lang="en-US" dirty="0"/>
              <a:t>, email</a:t>
            </a:r>
          </a:p>
          <a:p>
            <a:pPr marL="114300" indent="0">
              <a:buNone/>
            </a:pPr>
            <a:r>
              <a:rPr lang="en-US" dirty="0"/>
              <a:t>FROM Users</a:t>
            </a:r>
          </a:p>
          <a:p>
            <a:pPr marL="114300" indent="0">
              <a:buNone/>
            </a:pPr>
            <a:r>
              <a:rPr lang="en-US" dirty="0"/>
              <a:t>WHERE role = 'buyer'</a:t>
            </a:r>
          </a:p>
          <a:p>
            <a:pPr marL="114300" indent="0">
              <a:buNone/>
            </a:pPr>
            <a:r>
              <a:rPr lang="en-US" dirty="0"/>
              <a:t>  AND </a:t>
            </a:r>
            <a:r>
              <a:rPr lang="en-US" dirty="0" err="1"/>
              <a:t>user_id</a:t>
            </a:r>
            <a:r>
              <a:rPr lang="en-US" dirty="0"/>
              <a:t> IN (</a:t>
            </a:r>
          </a:p>
          <a:p>
            <a:pPr marL="114300" indent="0">
              <a:buNone/>
            </a:pPr>
            <a:r>
              <a:rPr lang="en-US" dirty="0"/>
              <a:t>      SELECT </a:t>
            </a:r>
            <a:r>
              <a:rPr lang="en-US" dirty="0" err="1"/>
              <a:t>s.buyer_id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  FROM Subscriptions s</a:t>
            </a:r>
          </a:p>
          <a:p>
            <a:pPr marL="114300" indent="0">
              <a:buNone/>
            </a:pPr>
            <a:r>
              <a:rPr lang="en-US" dirty="0"/>
              <a:t>      JOIN Products   p ON </a:t>
            </a:r>
            <a:r>
              <a:rPr lang="en-US" dirty="0" err="1"/>
              <a:t>s.product_id</a:t>
            </a:r>
            <a:r>
              <a:rPr lang="en-US" dirty="0"/>
              <a:t>  = </a:t>
            </a:r>
            <a:r>
              <a:rPr lang="en-US" dirty="0" err="1"/>
              <a:t>p.product_id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  JOIN Categories c ON </a:t>
            </a:r>
            <a:r>
              <a:rPr lang="en-US" dirty="0" err="1"/>
              <a:t>p.category_id</a:t>
            </a:r>
            <a:r>
              <a:rPr lang="en-US" dirty="0"/>
              <a:t> = </a:t>
            </a:r>
            <a:r>
              <a:rPr lang="en-US" dirty="0" err="1"/>
              <a:t>c.category_id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  WHERE </a:t>
            </a:r>
            <a:r>
              <a:rPr lang="en-US" dirty="0" err="1"/>
              <a:t>c.category_name</a:t>
            </a:r>
            <a:r>
              <a:rPr lang="en-US" dirty="0"/>
              <a:t> = 'Code Assistant'</a:t>
            </a:r>
          </a:p>
          <a:p>
            <a:pPr marL="114300" indent="0">
              <a:buNone/>
            </a:pPr>
            <a:r>
              <a:rPr lang="en-US" dirty="0"/>
              <a:t>        AND </a:t>
            </a:r>
            <a:r>
              <a:rPr lang="en-US" dirty="0" err="1"/>
              <a:t>s.status</a:t>
            </a:r>
            <a:r>
              <a:rPr lang="en-US" dirty="0"/>
              <a:t> = 'active'</a:t>
            </a:r>
          </a:p>
          <a:p>
            <a:pPr marL="114300" indent="0">
              <a:buNone/>
            </a:pPr>
            <a:r>
              <a:rPr lang="en-US" dirty="0"/>
              <a:t>  );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Retrieves all buyers who hold an active subscription to at least one Code Assistant product to identify the platform's active developer user base.</a:t>
            </a:r>
          </a:p>
        </p:txBody>
      </p:sp>
    </p:spTree>
    <p:extLst>
      <p:ext uri="{BB962C8B-B14F-4D97-AF65-F5344CB8AC3E}">
        <p14:creationId xmlns:p14="http://schemas.microsoft.com/office/powerpoint/2010/main" val="2352320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QM6.2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p.product_id</a:t>
            </a:r>
            <a:r>
              <a:rPr lang="en-US" dirty="0"/>
              <a:t>, </a:t>
            </a:r>
            <a:r>
              <a:rPr lang="en-US" dirty="0" err="1"/>
              <a:t>p.product_name</a:t>
            </a:r>
            <a:r>
              <a:rPr lang="en-US" dirty="0"/>
              <a:t>, </a:t>
            </a:r>
            <a:r>
              <a:rPr lang="en-US" dirty="0" err="1"/>
              <a:t>p.price</a:t>
            </a:r>
            <a:r>
              <a:rPr lang="en-US" dirty="0"/>
              <a:t>, </a:t>
            </a:r>
            <a:r>
              <a:rPr lang="en-US" dirty="0" err="1"/>
              <a:t>avg_r.avg_rating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Products p</a:t>
            </a:r>
          </a:p>
          <a:p>
            <a:pPr marL="114300" indent="0">
              <a:buNone/>
            </a:pPr>
            <a:r>
              <a:rPr lang="en-US" dirty="0"/>
              <a:t>JOIN (</a:t>
            </a:r>
          </a:p>
          <a:p>
            <a:pPr marL="114300" indent="0">
              <a:buNone/>
            </a:pPr>
            <a:r>
              <a:rPr lang="en-US" dirty="0"/>
              <a:t>    SELECT </a:t>
            </a:r>
            <a:r>
              <a:rPr lang="en-US" dirty="0" err="1"/>
              <a:t>product_id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/>
              <a:t>           ROUND(AVG(CAST(rating AS DECIMAL(5,2))), 2) AS </a:t>
            </a:r>
            <a:r>
              <a:rPr lang="en-US" dirty="0" err="1"/>
              <a:t>avg_rating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Reviews</a:t>
            </a:r>
          </a:p>
          <a:p>
            <a:pPr marL="114300" indent="0">
              <a:buNone/>
            </a:pPr>
            <a:r>
              <a:rPr lang="en-US" dirty="0"/>
              <a:t>    GROUP BY </a:t>
            </a:r>
            <a:r>
              <a:rPr lang="en-US" dirty="0" err="1"/>
              <a:t>product_id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) AS </a:t>
            </a:r>
            <a:r>
              <a:rPr lang="en-US" dirty="0" err="1"/>
              <a:t>avg_r</a:t>
            </a:r>
            <a:r>
              <a:rPr lang="en-US" dirty="0"/>
              <a:t> ON </a:t>
            </a:r>
            <a:r>
              <a:rPr lang="en-US" dirty="0" err="1"/>
              <a:t>p.product_id</a:t>
            </a:r>
            <a:r>
              <a:rPr lang="en-US" dirty="0"/>
              <a:t> = </a:t>
            </a:r>
            <a:r>
              <a:rPr lang="en-US" dirty="0" err="1"/>
              <a:t>avg_r.product_id</a:t>
            </a:r>
            <a:r>
              <a:rPr lang="en-US" dirty="0"/>
              <a:t>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Displays each listed product alongside its average customer rating to help the platform surface high-performing AI tools for its featured section.</a:t>
            </a:r>
          </a:p>
        </p:txBody>
      </p:sp>
    </p:spTree>
    <p:extLst>
      <p:ext uri="{BB962C8B-B14F-4D97-AF65-F5344CB8AC3E}">
        <p14:creationId xmlns:p14="http://schemas.microsoft.com/office/powerpoint/2010/main" val="3417142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QM6.3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850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</a:t>
            </a:r>
          </a:p>
          <a:p>
            <a:pPr marL="114300" indent="0">
              <a:buNone/>
            </a:pPr>
            <a:r>
              <a:rPr lang="en-US" dirty="0"/>
              <a:t>    </a:t>
            </a:r>
            <a:r>
              <a:rPr lang="en-US" dirty="0" err="1"/>
              <a:t>u.user_id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/>
              <a:t>    </a:t>
            </a:r>
            <a:r>
              <a:rPr lang="en-US" dirty="0" err="1"/>
              <a:t>u.first_name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/>
              <a:t>    </a:t>
            </a:r>
            <a:r>
              <a:rPr lang="en-US" dirty="0" err="1"/>
              <a:t>u.last_name</a:t>
            </a:r>
            <a:r>
              <a:rPr lang="en-US" dirty="0"/>
              <a:t>,</a:t>
            </a:r>
          </a:p>
          <a:p>
            <a:pPr marL="114300" indent="0">
              <a:buNone/>
            </a:pPr>
            <a:r>
              <a:rPr lang="en-US" dirty="0"/>
              <a:t>    (SELECT COUNT(*)</a:t>
            </a:r>
          </a:p>
          <a:p>
            <a:pPr marL="114300" indent="0">
              <a:buNone/>
            </a:pPr>
            <a:r>
              <a:rPr lang="en-US" dirty="0"/>
              <a:t>     FROM Products p</a:t>
            </a:r>
          </a:p>
          <a:p>
            <a:pPr marL="114300" indent="0">
              <a:buNone/>
            </a:pPr>
            <a:r>
              <a:rPr lang="en-US" dirty="0"/>
              <a:t>     WHERE </a:t>
            </a:r>
            <a:r>
              <a:rPr lang="en-US" dirty="0" err="1"/>
              <a:t>p.seller_id</a:t>
            </a:r>
            <a:r>
              <a:rPr lang="en-US" dirty="0"/>
              <a:t> = </a:t>
            </a:r>
            <a:r>
              <a:rPr lang="en-US" dirty="0" err="1"/>
              <a:t>u.user_id</a:t>
            </a:r>
            <a:r>
              <a:rPr lang="en-US" dirty="0"/>
              <a:t>) AS </a:t>
            </a:r>
            <a:r>
              <a:rPr lang="en-US" dirty="0" err="1"/>
              <a:t>product_count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Users u</a:t>
            </a:r>
          </a:p>
          <a:p>
            <a:pPr marL="114300" indent="0">
              <a:buNone/>
            </a:pPr>
            <a:r>
              <a:rPr lang="en-US" dirty="0"/>
              <a:t>WHERE </a:t>
            </a:r>
            <a:r>
              <a:rPr lang="en-US" dirty="0" err="1"/>
              <a:t>u.role</a:t>
            </a:r>
            <a:r>
              <a:rPr lang="en-US" dirty="0"/>
              <a:t> = 'seller';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Lists every seller account alongside the number of AI products they have published, giving the platform a quick view of individual seller activity levels.</a:t>
            </a:r>
          </a:p>
        </p:txBody>
      </p:sp>
    </p:spTree>
    <p:extLst>
      <p:ext uri="{BB962C8B-B14F-4D97-AF65-F5344CB8AC3E}">
        <p14:creationId xmlns:p14="http://schemas.microsoft.com/office/powerpoint/2010/main" val="1628932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u.user_id</a:t>
            </a:r>
            <a:r>
              <a:rPr lang="en-US" dirty="0"/>
              <a:t>, </a:t>
            </a:r>
            <a:r>
              <a:rPr lang="en-US" dirty="0" err="1"/>
              <a:t>u.first_name</a:t>
            </a:r>
            <a:r>
              <a:rPr lang="en-US" dirty="0"/>
              <a:t>, </a:t>
            </a:r>
            <a:r>
              <a:rPr lang="en-US" dirty="0" err="1"/>
              <a:t>u.last_name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Users u</a:t>
            </a:r>
          </a:p>
          <a:p>
            <a:pPr marL="114300" indent="0">
              <a:buNone/>
            </a:pPr>
            <a:r>
              <a:rPr lang="en-US" dirty="0"/>
              <a:t>WHERE </a:t>
            </a:r>
            <a:r>
              <a:rPr lang="en-US" dirty="0" err="1"/>
              <a:t>u.role</a:t>
            </a:r>
            <a:r>
              <a:rPr lang="en-US" dirty="0"/>
              <a:t> = 'seller'</a:t>
            </a:r>
          </a:p>
          <a:p>
            <a:pPr marL="114300" indent="0">
              <a:buNone/>
            </a:pPr>
            <a:r>
              <a:rPr lang="en-US" dirty="0"/>
              <a:t>EXCEPT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u.user_id</a:t>
            </a:r>
            <a:r>
              <a:rPr lang="en-US" dirty="0"/>
              <a:t>, </a:t>
            </a:r>
            <a:r>
              <a:rPr lang="en-US" dirty="0" err="1"/>
              <a:t>u.first_name</a:t>
            </a:r>
            <a:r>
              <a:rPr lang="en-US" dirty="0"/>
              <a:t>, </a:t>
            </a:r>
            <a:r>
              <a:rPr lang="en-US" dirty="0" err="1"/>
              <a:t>u.last_name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Users u</a:t>
            </a:r>
          </a:p>
          <a:p>
            <a:pPr marL="114300" indent="0">
              <a:buNone/>
            </a:pPr>
            <a:r>
              <a:rPr lang="en-US" dirty="0"/>
              <a:t>JOIN </a:t>
            </a:r>
            <a:r>
              <a:rPr lang="en-US" dirty="0" err="1"/>
              <a:t>Seller_Payouts</a:t>
            </a:r>
            <a:r>
              <a:rPr lang="en-US" dirty="0"/>
              <a:t> </a:t>
            </a:r>
            <a:r>
              <a:rPr lang="en-US" dirty="0" err="1"/>
              <a:t>sp</a:t>
            </a:r>
            <a:r>
              <a:rPr lang="en-US" dirty="0"/>
              <a:t> ON </a:t>
            </a:r>
            <a:r>
              <a:rPr lang="en-US" dirty="0" err="1"/>
              <a:t>u.user_id</a:t>
            </a:r>
            <a:r>
              <a:rPr lang="en-US" dirty="0"/>
              <a:t> = </a:t>
            </a:r>
            <a:r>
              <a:rPr lang="en-US" dirty="0" err="1"/>
              <a:t>sp.seller_id</a:t>
            </a:r>
            <a:r>
              <a:rPr lang="en-US" dirty="0"/>
              <a:t>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Identifies sellers who have published products but have never received a payout, flagging accounts that may be owed earnings by the platform.</a:t>
            </a:r>
          </a:p>
        </p:txBody>
      </p:sp>
    </p:spTree>
    <p:extLst>
      <p:ext uri="{BB962C8B-B14F-4D97-AF65-F5344CB8AC3E}">
        <p14:creationId xmlns:p14="http://schemas.microsoft.com/office/powerpoint/2010/main" val="21371492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QM8.1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price, </a:t>
            </a:r>
            <a:r>
              <a:rPr lang="en-US" dirty="0" err="1"/>
              <a:t>product_type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Products</a:t>
            </a:r>
          </a:p>
          <a:p>
            <a:pPr marL="114300" indent="0">
              <a:buNone/>
            </a:pPr>
            <a:r>
              <a:rPr lang="en-US" dirty="0"/>
              <a:t>WHERE price &gt; ANY (</a:t>
            </a:r>
          </a:p>
          <a:p>
            <a:pPr marL="114300" indent="0">
              <a:buNone/>
            </a:pPr>
            <a:r>
              <a:rPr lang="en-US" dirty="0"/>
              <a:t>    SELECT </a:t>
            </a:r>
            <a:r>
              <a:rPr lang="en-US" dirty="0" err="1"/>
              <a:t>p.price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Products   p</a:t>
            </a:r>
          </a:p>
          <a:p>
            <a:pPr marL="114300" indent="0">
              <a:buNone/>
            </a:pPr>
            <a:r>
              <a:rPr lang="en-US" dirty="0"/>
              <a:t>    JOIN Categories c ON </a:t>
            </a:r>
            <a:r>
              <a:rPr lang="en-US" dirty="0" err="1"/>
              <a:t>p.category_id</a:t>
            </a:r>
            <a:r>
              <a:rPr lang="en-US" dirty="0"/>
              <a:t> = </a:t>
            </a:r>
            <a:r>
              <a:rPr lang="en-US" dirty="0" err="1"/>
              <a:t>c.category_id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WHERE </a:t>
            </a:r>
            <a:r>
              <a:rPr lang="en-US" dirty="0" err="1"/>
              <a:t>c.category_name</a:t>
            </a:r>
            <a:r>
              <a:rPr lang="en-US" dirty="0"/>
              <a:t> = 'Text Generation'</a:t>
            </a:r>
          </a:p>
          <a:p>
            <a:pPr marL="114300" indent="0">
              <a:buNone/>
            </a:pPr>
            <a:r>
              <a:rPr lang="en-US" dirty="0"/>
              <a:t>);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Finds all products priced higher than at least one Text Generation product, helping buyers compare costs against the platform's baseline AI text tools.</a:t>
            </a:r>
          </a:p>
        </p:txBody>
      </p:sp>
    </p:spTree>
    <p:extLst>
      <p:ext uri="{BB962C8B-B14F-4D97-AF65-F5344CB8AC3E}">
        <p14:creationId xmlns:p14="http://schemas.microsoft.com/office/powerpoint/2010/main" val="206484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893" y="152854"/>
            <a:ext cx="4313464" cy="443139"/>
          </a:xfrm>
        </p:spPr>
        <p:txBody>
          <a:bodyPr>
            <a:normAutofit fontScale="90000"/>
          </a:bodyPr>
          <a:lstStyle/>
          <a:p>
            <a:r>
              <a:rPr lang="en-US" dirty="0"/>
              <a:t>Q#: QM8.2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741" y="2334985"/>
            <a:ext cx="4631873" cy="4318907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r>
              <a:rPr lang="en-US" dirty="0"/>
              <a:t>SQL Query:</a:t>
            </a:r>
          </a:p>
          <a:p>
            <a:pPr marL="114300" indent="0">
              <a:buNone/>
            </a:pPr>
            <a:r>
              <a:rPr lang="en-US" dirty="0"/>
              <a:t>SELECT </a:t>
            </a:r>
            <a:r>
              <a:rPr lang="en-US" dirty="0" err="1"/>
              <a:t>product_id</a:t>
            </a:r>
            <a:r>
              <a:rPr lang="en-US" dirty="0"/>
              <a:t>, </a:t>
            </a:r>
            <a:r>
              <a:rPr lang="en-US" dirty="0" err="1"/>
              <a:t>product_name</a:t>
            </a:r>
            <a:r>
              <a:rPr lang="en-US" dirty="0"/>
              <a:t>, price, </a:t>
            </a:r>
            <a:r>
              <a:rPr lang="en-US" dirty="0" err="1"/>
              <a:t>product_type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FROM Products</a:t>
            </a:r>
          </a:p>
          <a:p>
            <a:pPr marL="114300" indent="0">
              <a:buNone/>
            </a:pPr>
            <a:r>
              <a:rPr lang="en-US" dirty="0"/>
              <a:t>WHERE price &gt; ALL (</a:t>
            </a:r>
          </a:p>
          <a:p>
            <a:pPr marL="114300" indent="0">
              <a:buNone/>
            </a:pPr>
            <a:r>
              <a:rPr lang="en-US" dirty="0"/>
              <a:t>    SELECT </a:t>
            </a:r>
            <a:r>
              <a:rPr lang="en-US" dirty="0" err="1"/>
              <a:t>p.price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FROM Products   p</a:t>
            </a:r>
          </a:p>
          <a:p>
            <a:pPr marL="114300" indent="0">
              <a:buNone/>
            </a:pPr>
            <a:r>
              <a:rPr lang="en-US" dirty="0"/>
              <a:t>    JOIN Categories c ON </a:t>
            </a:r>
            <a:r>
              <a:rPr lang="en-US" dirty="0" err="1"/>
              <a:t>p.category_id</a:t>
            </a:r>
            <a:r>
              <a:rPr lang="en-US" dirty="0"/>
              <a:t> = </a:t>
            </a:r>
            <a:r>
              <a:rPr lang="en-US" dirty="0" err="1"/>
              <a:t>c.category_id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    WHERE </a:t>
            </a:r>
            <a:r>
              <a:rPr lang="en-US" dirty="0" err="1"/>
              <a:t>c.category_name</a:t>
            </a:r>
            <a:r>
              <a:rPr lang="en-US" dirty="0"/>
              <a:t> = 'Text Generation'</a:t>
            </a:r>
          </a:p>
          <a:p>
            <a:pPr marL="114300" indent="0">
              <a:buNone/>
            </a:pPr>
            <a:r>
              <a:rPr lang="en-US" dirty="0"/>
              <a:t>);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955721" y="536285"/>
            <a:ext cx="7004958" cy="610944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955721" y="166953"/>
            <a:ext cx="3020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Snapshot of the query output: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9741" y="759278"/>
            <a:ext cx="4631873" cy="14924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r>
              <a:rPr lang="en-US" dirty="0"/>
              <a:t>Description:</a:t>
            </a:r>
          </a:p>
          <a:p>
            <a:r>
              <a:rPr lang="en-US" dirty="0"/>
              <a:t>Retrieves products whose price exceeds every Text Generation product on the platform, identifying the most premium AI tools relative to the text-generation tier.</a:t>
            </a:r>
          </a:p>
        </p:txBody>
      </p:sp>
    </p:spTree>
    <p:extLst>
      <p:ext uri="{BB962C8B-B14F-4D97-AF65-F5344CB8AC3E}">
        <p14:creationId xmlns:p14="http://schemas.microsoft.com/office/powerpoint/2010/main" val="4228839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Credits and References</a:t>
            </a:r>
            <a:endParaRPr/>
          </a:p>
        </p:txBody>
      </p:sp>
      <p:sp>
        <p:nvSpPr>
          <p:cNvPr id="194" name="Google Shape;194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/>
              <a:t>- SQL Server 2022 Documentation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https://learn.microsoft.com/en-us/sql/sql-server/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1722</Words>
  <Application>Microsoft Macintosh PowerPoint</Application>
  <PresentationFormat>Widescreen</PresentationFormat>
  <Paragraphs>242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Project Assignment 2</vt:lpstr>
      <vt:lpstr>DDL QUERIES</vt:lpstr>
      <vt:lpstr>Q#: QD1</vt:lpstr>
      <vt:lpstr>Q#: QD1</vt:lpstr>
      <vt:lpstr>Q#: QD2</vt:lpstr>
      <vt:lpstr>Q#: QD3</vt:lpstr>
      <vt:lpstr>Q#: QD4</vt:lpstr>
      <vt:lpstr>Q#: QD5</vt:lpstr>
      <vt:lpstr>DML QUERIES</vt:lpstr>
      <vt:lpstr>Q#: QM1.1</vt:lpstr>
      <vt:lpstr>Q#: QM1.2</vt:lpstr>
      <vt:lpstr>Q#: QM1.3</vt:lpstr>
      <vt:lpstr>Q#: QM2</vt:lpstr>
      <vt:lpstr>Q#: QM3</vt:lpstr>
      <vt:lpstr>Q#: QM4</vt:lpstr>
      <vt:lpstr>Q#: QM5</vt:lpstr>
      <vt:lpstr>Q#: QM6.1</vt:lpstr>
      <vt:lpstr>Q#: QM6.2</vt:lpstr>
      <vt:lpstr>Q#: QM6.3</vt:lpstr>
      <vt:lpstr>Q#: QM7</vt:lpstr>
      <vt:lpstr>Q#: QM8.1</vt:lpstr>
      <vt:lpstr>Q#: QM8.2</vt:lpstr>
      <vt:lpstr>Credits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Omer</dc:creator>
  <cp:lastModifiedBy>Adam Rodi</cp:lastModifiedBy>
  <cp:revision>2</cp:revision>
  <dcterms:created xsi:type="dcterms:W3CDTF">2018-04-19T19:36:03Z</dcterms:created>
  <dcterms:modified xsi:type="dcterms:W3CDTF">2026-04-13T20:27:19Z</dcterms:modified>
</cp:coreProperties>
</file>